
<file path=[Content_Types].xml><?xml version="1.0" encoding="utf-8"?>
<Types xmlns="http://schemas.openxmlformats.org/package/2006/content-types">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20"/>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2" d="100"/>
          <a:sy n="102" d="100"/>
        </p:scale>
        <p:origin x="368"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各位老师、同学大家好，我是项目负责人。今天我展示的项目是《全球旅游城市数据可视化系统》。</a:t>
            </a:r>
          </a:p>
          <a:p>
            <a:pPr indent="0" algn="l">
              <a:lnSpc>
                <a:spcPct val="100000"/>
              </a:lnSpc>
            </a:pPr>
            <a:r>
              <a:rPr lang="en-US" sz="1400" b="0" i="0" u="none" strike="noStrike">
                <a:solidFill>
                  <a:srgbClr val="000000"/>
                </a:solidFill>
              </a:rPr>
              <a:t>该项目是一个基于 Flask 框架和 Plotly 可视化库构建的智能旅游决策支持平台。我们通过收集全球主要旅游城市的多维数据，包括游客流量、消费指数、气候条件、热门景点等，利用数据挖掘和可视化技术，为用户提供直观、科学的旅游决策依据。</a:t>
            </a:r>
          </a:p>
          <a:p>
            <a:pPr indent="0" algn="l">
              <a:lnSpc>
                <a:spcPct val="100000"/>
              </a:lnSpc>
            </a:pPr>
            <a:r>
              <a:rPr lang="en-US" sz="1400" b="0" i="0" u="none" strike="noStrike">
                <a:solidFill>
                  <a:srgbClr val="000000"/>
                </a:solidFill>
              </a:rPr>
              <a:t>在接下来的演示中，我将详细介绍系统的架构设计、核心功能以及数据可视化的具体实现。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本页是演示文稿的目录页，主要对整个项目的内容结构进行了梳理，分为六个主要部分：</a:t>
            </a:r>
          </a:p>
          <a:p>
            <a:pPr indent="0" algn="l">
              <a:lnSpc>
                <a:spcPct val="100000"/>
              </a:lnSpc>
            </a:pPr>
            <a:r>
              <a:rPr lang="en-US" sz="1400" b="0" i="0" u="none" strike="noStrike">
                <a:solidFill>
                  <a:srgbClr val="000000"/>
                </a:solidFill>
              </a:rPr>
              <a:t>1. 首先介绍项目背景与研究意义，明确我们为什么做这个项目；</a:t>
            </a:r>
          </a:p>
          <a:p>
            <a:pPr indent="0" algn="l">
              <a:lnSpc>
                <a:spcPct val="100000"/>
              </a:lnSpc>
            </a:pPr>
            <a:r>
              <a:rPr lang="en-US" sz="1400" b="0" i="0" u="none" strike="noStrike">
                <a:solidFill>
                  <a:srgbClr val="000000"/>
                </a:solidFill>
              </a:rPr>
              <a:t>2. 接着阐述相关的理论基础与关键技术，为项目提供支撑；</a:t>
            </a:r>
          </a:p>
          <a:p>
            <a:pPr indent="0" algn="l">
              <a:lnSpc>
                <a:spcPct val="100000"/>
              </a:lnSpc>
            </a:pPr>
            <a:r>
              <a:rPr lang="en-US" sz="1400" b="0" i="0" u="none" strike="noStrike">
                <a:solidFill>
                  <a:srgbClr val="000000"/>
                </a:solidFill>
              </a:rPr>
              <a:t>3. 然后进行可行性与需求分析，论证项目的可行性并明确用户需求；</a:t>
            </a:r>
          </a:p>
          <a:p>
            <a:pPr indent="0" algn="l">
              <a:lnSpc>
                <a:spcPct val="100000"/>
              </a:lnSpc>
            </a:pPr>
            <a:r>
              <a:rPr lang="en-US" sz="1400" b="0" i="0" u="none" strike="noStrike">
                <a:solidFill>
                  <a:srgbClr val="000000"/>
                </a:solidFill>
              </a:rPr>
              <a:t>4. 之后是数据的获取与分析，这是系统的基石；</a:t>
            </a:r>
          </a:p>
          <a:p>
            <a:pPr indent="0" algn="l">
              <a:lnSpc>
                <a:spcPct val="100000"/>
              </a:lnSpc>
            </a:pPr>
            <a:r>
              <a:rPr lang="en-US" sz="1400" b="0" i="0" u="none" strike="noStrike">
                <a:solidFill>
                  <a:srgbClr val="000000"/>
                </a:solidFill>
              </a:rPr>
              <a:t>5. 重点介绍系统的设计与实现过程，展示核心功能；</a:t>
            </a:r>
          </a:p>
          <a:p>
            <a:pPr indent="0" algn="l">
              <a:lnSpc>
                <a:spcPct val="100000"/>
              </a:lnSpc>
            </a:pPr>
            <a:r>
              <a:rPr lang="en-US" sz="1400" b="0" i="0" u="none" strike="noStrike">
                <a:solidFill>
                  <a:srgbClr val="000000"/>
                </a:solidFill>
              </a:rPr>
              <a:t>6. 最后对项目进行总结与展望，分析成果并规划未来。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这一页主要阐述项目的背景与研究意义，分为左右两个维度。</a:t>
            </a:r>
          </a:p>
          <a:p>
            <a:pPr indent="0" algn="l">
              <a:lnSpc>
                <a:spcPct val="100000"/>
              </a:lnSpc>
            </a:pPr>
            <a:r>
              <a:rPr lang="en-US" sz="1400" b="0" i="0" u="none" strike="noStrike">
                <a:solidFill>
                  <a:srgbClr val="000000"/>
                </a:solidFill>
              </a:rPr>
              <a:t>在左侧，我们分析了当前的现实困境：一方面是旅游数据呈现爆炸式增长，但传统平台的展示形式单一、碎片化，用户很难从中发现规律；另一方面是用户需求的转变，从跟随大众攻略转向追求个性化、定制化的决策，这对现有的服务模式提出了挑战。</a:t>
            </a:r>
          </a:p>
          <a:p>
            <a:pPr indent="0" algn="l">
              <a:lnSpc>
                <a:spcPct val="100000"/>
              </a:lnSpc>
            </a:pPr>
            <a:r>
              <a:rPr lang="en-US" sz="1400" b="0" i="0" u="none" strike="noStrike">
                <a:solidFill>
                  <a:srgbClr val="000000"/>
                </a:solidFill>
              </a:rPr>
              <a:t>在右侧，我们提出了本项目的研究价值：首先是技术层面，通过构建集探索、对比、推荐、规划于一体的可视化系统，解决信息不对称的问题；其次是实践层面，不仅能提升用户的旅行决策效率，更能为智慧旅游的发展提供可落地的技术支撑和应用范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本页主要从商业平台应用和学术研究两个维度分析了国内外研究现状。</a:t>
            </a:r>
          </a:p>
          <a:p>
            <a:pPr indent="0" algn="l">
              <a:lnSpc>
                <a:spcPct val="100000"/>
              </a:lnSpc>
            </a:pPr>
            <a:r>
              <a:rPr lang="en-US" sz="1400" b="0" i="0" u="none" strike="noStrike">
                <a:solidFill>
                  <a:srgbClr val="000000"/>
                </a:solidFill>
              </a:rPr>
              <a:t>1. 国外平台：以TripAdvisor、Lonely Planet为代表，优势在于信息极其丰富，涵盖了全球各地的旅游评价和攻略。但主要痛点是可视化展示方式单一，多为静态列表，缺乏地理空间上的交互感。</a:t>
            </a:r>
          </a:p>
          <a:p>
            <a:pPr indent="0" algn="l">
              <a:lnSpc>
                <a:spcPct val="100000"/>
              </a:lnSpc>
            </a:pPr>
            <a:r>
              <a:rPr lang="en-US" sz="1400" b="0" i="0" u="none" strike="noStrike">
                <a:solidFill>
                  <a:srgbClr val="000000"/>
                </a:solidFill>
              </a:rPr>
              <a:t>2. 国内平台：马蜂窝、携程等功能非常完善，预订、筛选体系成熟。但推荐逻辑多依赖“热门”和“销量”，导致千人一面，缺乏对用户个人偏好的深度挖掘。</a:t>
            </a:r>
          </a:p>
          <a:p>
            <a:pPr indent="0" algn="l">
              <a:lnSpc>
                <a:spcPct val="100000"/>
              </a:lnSpc>
            </a:pPr>
            <a:r>
              <a:rPr lang="en-US" sz="1400" b="0" i="0" u="none" strike="noStrike">
                <a:solidFill>
                  <a:srgbClr val="000000"/>
                </a:solidFill>
              </a:rPr>
              <a:t>3. 学术领域：推荐算法方面，协同过滤是主流，但冷启动和稀疏性问题待解；路线规划方面，Dijkstra和A*算法应用广泛，但针对实际旅行中“大圆弧距离”（即球面距离）的约束研究还比较少。</a:t>
            </a:r>
          </a:p>
          <a:p>
            <a:pPr indent="0" algn="l">
              <a:lnSpc>
                <a:spcPct val="100000"/>
              </a:lnSpc>
            </a:pPr>
            <a:r>
              <a:rPr lang="en-US" sz="1400" b="0" i="0" u="none" strike="noStrike">
                <a:solidFill>
                  <a:srgbClr val="000000"/>
                </a:solidFill>
              </a:rPr>
              <a:t>基于此，我们项目的创新点在于将这三者结合：既注重地理空间的可视化交互体验，又利用改进的协同过滤实现精准推荐，同时在路线规划中引入大圆弧距离约束，让规划更符合实际地理环境。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本页重点介绍了项目的五大核心研究内容，涵盖了从底层数据处理到上层应用服务的完整闭环。</a:t>
            </a:r>
          </a:p>
          <a:p>
            <a:pPr indent="0" algn="l">
              <a:lnSpc>
                <a:spcPct val="100000"/>
              </a:lnSpc>
            </a:pPr>
            <a:r>
              <a:rPr lang="en-US" sz="1400" b="0" i="0" u="none" strike="noStrike">
                <a:solidFill>
                  <a:srgbClr val="000000"/>
                </a:solidFill>
              </a:rPr>
              <a:t>1. 数据获取与预处理：这是项目的基础，通过标准化的清洗和特征构造，确保数据质量。</a:t>
            </a:r>
          </a:p>
          <a:p>
            <a:pPr indent="0" algn="l">
              <a:lnSpc>
                <a:spcPct val="100000"/>
              </a:lnSpc>
            </a:pPr>
            <a:r>
              <a:rPr lang="en-US" sz="1400" b="0" i="0" u="none" strike="noStrike">
                <a:solidFill>
                  <a:srgbClr val="000000"/>
                </a:solidFill>
              </a:rPr>
              <a:t>2. 可视化大屏设计：通过3D地球仪和交互式图表，让数据“活”起来，提供直观的宏观视角。</a:t>
            </a:r>
          </a:p>
          <a:p>
            <a:pPr indent="0" algn="l">
              <a:lnSpc>
                <a:spcPct val="100000"/>
              </a:lnSpc>
            </a:pPr>
            <a:r>
              <a:rPr lang="en-US" sz="1400" b="0" i="0" u="none" strike="noStrike">
                <a:solidFill>
                  <a:srgbClr val="000000"/>
                </a:solidFill>
              </a:rPr>
              <a:t>3. 智能推荐模块：利用协同过滤和自定义权重算法，解决信息过载问题，实现个性化推荐。</a:t>
            </a:r>
          </a:p>
          <a:p>
            <a:pPr indent="0" algn="l">
              <a:lnSpc>
                <a:spcPct val="100000"/>
              </a:lnSpc>
            </a:pPr>
            <a:r>
              <a:rPr lang="en-US" sz="1400" b="0" i="0" u="none" strike="noStrike">
                <a:solidFill>
                  <a:srgbClr val="000000"/>
                </a:solidFill>
              </a:rPr>
              <a:t>4. 旅游路线规划：结合地理空间计算和约束条件，生成科学合理的游览路线。</a:t>
            </a:r>
          </a:p>
          <a:p>
            <a:pPr indent="0" algn="l">
              <a:lnSpc>
                <a:spcPct val="100000"/>
              </a:lnSpc>
            </a:pPr>
            <a:r>
              <a:rPr lang="en-US" sz="1400" b="0" i="0" u="none" strike="noStrike">
                <a:solidFill>
                  <a:srgbClr val="000000"/>
                </a:solidFill>
              </a:rPr>
              <a:t>5. 旅行规划器：直接面向用户，提供实用的日程安排和消费估算功能，提升用户体验。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本页详细介绍了项目所采用的六大核心理论与技术，涵盖了后端架构、数据存储、可视化、数据处理、算法模型以及空间计算等关键环节。</a:t>
            </a:r>
          </a:p>
          <a:p>
            <a:pPr indent="0" algn="l">
              <a:lnSpc>
                <a:spcPct val="100000"/>
              </a:lnSpc>
            </a:pPr>
            <a:r>
              <a:rPr lang="en-US" sz="1400" b="0" i="0" u="none" strike="noStrike">
                <a:solidFill>
                  <a:srgbClr val="000000"/>
                </a:solidFill>
              </a:rPr>
              <a:t>1. Flask Web框架：作为轻量级框架，保证了后端服务的灵活性和扩展性。</a:t>
            </a:r>
          </a:p>
          <a:p>
            <a:pPr indent="0" algn="l">
              <a:lnSpc>
                <a:spcPct val="100000"/>
              </a:lnSpc>
            </a:pPr>
            <a:r>
              <a:rPr lang="en-US" sz="1400" b="0" i="0" u="none" strike="noStrike">
                <a:solidFill>
                  <a:srgbClr val="000000"/>
                </a:solidFill>
              </a:rPr>
              <a:t>2. MySQL数据库：负责核心数据的存储与管理，确保数据的安全性和高效读写。</a:t>
            </a:r>
          </a:p>
          <a:p>
            <a:pPr indent="0" algn="l">
              <a:lnSpc>
                <a:spcPct val="100000"/>
              </a:lnSpc>
            </a:pPr>
            <a:r>
              <a:rPr lang="en-US" sz="1400" b="0" i="0" u="none" strike="noStrike">
                <a:solidFill>
                  <a:srgbClr val="000000"/>
                </a:solidFill>
              </a:rPr>
              <a:t>3. Plotly可视化库：实现了数据的交互式展示，提升了用户的视觉体验。</a:t>
            </a:r>
          </a:p>
          <a:p>
            <a:pPr indent="0" algn="l">
              <a:lnSpc>
                <a:spcPct val="100000"/>
              </a:lnSpc>
            </a:pPr>
            <a:r>
              <a:rPr lang="en-US" sz="1400" b="0" i="0" u="none" strike="noStrike">
                <a:solidFill>
                  <a:srgbClr val="000000"/>
                </a:solidFill>
              </a:rPr>
              <a:t>4. Pandas与NumPy：为数据清洗和计算提供了高性能支持。</a:t>
            </a:r>
          </a:p>
          <a:p>
            <a:pPr indent="0" algn="l">
              <a:lnSpc>
                <a:spcPct val="100000"/>
              </a:lnSpc>
            </a:pPr>
            <a:r>
              <a:rPr lang="en-US" sz="1400" b="0" i="0" u="none" strike="noStrike">
                <a:solidFill>
                  <a:srgbClr val="000000"/>
                </a:solidFill>
              </a:rPr>
              <a:t>5. 协同过滤推荐算法：通过余弦相似度实现了个性化推荐，增强了系统的智能性。</a:t>
            </a:r>
          </a:p>
          <a:p>
            <a:pPr indent="0" algn="l">
              <a:lnSpc>
                <a:spcPct val="100000"/>
              </a:lnSpc>
            </a:pPr>
            <a:r>
              <a:rPr lang="en-US" sz="1400" b="0" i="0" u="none" strike="noStrike">
                <a:solidFill>
                  <a:srgbClr val="000000"/>
                </a:solidFill>
              </a:rPr>
              <a:t>6. 球面几何路线规划：利用Haversine公式解决了地球球面距离计算的问题，为空间分析奠定了基础。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这一页主要从技术、经济、运行三个维度对项目进行了全面的可行性分析。</a:t>
            </a:r>
          </a:p>
          <a:p>
            <a:pPr indent="0" algn="l">
              <a:lnSpc>
                <a:spcPct val="100000"/>
              </a:lnSpc>
            </a:pPr>
            <a:r>
              <a:rPr lang="en-US" sz="1400" b="0" i="0" u="none" strike="noStrike">
                <a:solidFill>
                  <a:srgbClr val="000000"/>
                </a:solidFill>
              </a:rPr>
              <a:t>首先是技术可行性，我们选用了Python、Flask、MySQL等非常成熟的开源技术栈，这些技术社区活跃，文档完善，能够保证系统的稳定性和可扩展性，同时计算逻辑经过优化，能够满足实时响应的需求。</a:t>
            </a:r>
          </a:p>
          <a:p>
            <a:pPr indent="0" algn="l">
              <a:lnSpc>
                <a:spcPct val="100000"/>
              </a:lnSpc>
            </a:pPr>
            <a:r>
              <a:rPr lang="en-US" sz="1400" b="0" i="0" u="none" strike="noStrike">
                <a:solidFill>
                  <a:srgbClr val="000000"/>
                </a:solidFill>
              </a:rPr>
              <a:t>其次是经济可行性，整个系统不使用任何商业软件，完全基于开源技术构建，对硬件的要求也极低，普通的办公电脑就能作为服务器运行，极大地节省了开发和部署成本。</a:t>
            </a:r>
          </a:p>
          <a:p>
            <a:pPr indent="0" algn="l">
              <a:lnSpc>
                <a:spcPct val="100000"/>
              </a:lnSpc>
            </a:pPr>
            <a:r>
              <a:rPr lang="en-US" sz="1400" b="0" i="0" u="none" strike="noStrike">
                <a:solidFill>
                  <a:srgbClr val="000000"/>
                </a:solidFill>
              </a:rPr>
              <a:t>最后是运行可行性，我们采用B/S架构，用户只要有浏览器就能使用，不需要安装客户端，降低了用户的使用门槛。同时部署方式简单，支持容器化部署，方便后续的维护和升级。</a:t>
            </a:r>
          </a:p>
          <a:p>
            <a:pPr indent="0" algn="l">
              <a:lnSpc>
                <a:spcPct val="100000"/>
              </a:lnSpc>
            </a:pPr>
            <a:r>
              <a:rPr lang="en-US" sz="1400" b="0" i="0" u="none" strike="noStrike">
                <a:solidFill>
                  <a:srgbClr val="000000"/>
                </a:solidFill>
              </a:rPr>
              <a:t>综上所述，本项目在技术、经济和运行层面都具备充分的可行性。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本页详细展示了系统的六大核心功能模块，覆盖了用户端的核心交互流程与管理端的数据展示需求。</a:t>
            </a:r>
          </a:p>
          <a:p>
            <a:pPr indent="0" algn="l">
              <a:lnSpc>
                <a:spcPct val="100000"/>
              </a:lnSpc>
            </a:pPr>
            <a:r>
              <a:rPr lang="en-US" sz="1400" b="0" i="0" u="none" strike="noStrike">
                <a:solidFill>
                  <a:srgbClr val="000000"/>
                </a:solidFill>
              </a:rPr>
              <a:t>1. **城市探索**：解决用户信息检索问题，提供多维度筛选与视图切换，确保信息获取的高效性。</a:t>
            </a:r>
          </a:p>
          <a:p>
            <a:pPr indent="0" algn="l">
              <a:lnSpc>
                <a:spcPct val="100000"/>
              </a:lnSpc>
            </a:pPr>
            <a:r>
              <a:rPr lang="en-US" sz="1400" b="0" i="0" u="none" strike="noStrike">
                <a:solidFill>
                  <a:srgbClr val="000000"/>
                </a:solidFill>
              </a:rPr>
              <a:t>2. **城市对比**：通过可视化的雷达图对比核心指标，帮助用户在多个候选城市中快速决策。</a:t>
            </a:r>
          </a:p>
          <a:p>
            <a:pPr indent="0" algn="l">
              <a:lnSpc>
                <a:spcPct val="100000"/>
              </a:lnSpc>
            </a:pPr>
            <a:r>
              <a:rPr lang="en-US" sz="1400" b="0" i="0" u="none" strike="noStrike">
                <a:solidFill>
                  <a:srgbClr val="000000"/>
                </a:solidFill>
              </a:rPr>
              <a:t>3. **智能推荐**：利用算法实现个性化分发，提升用户发现心仪目的地的概率。</a:t>
            </a:r>
          </a:p>
          <a:p>
            <a:pPr indent="0" algn="l">
              <a:lnSpc>
                <a:spcPct val="100000"/>
              </a:lnSpc>
            </a:pPr>
            <a:r>
              <a:rPr lang="en-US" sz="1400" b="0" i="0" u="none" strike="noStrike">
                <a:solidFill>
                  <a:srgbClr val="000000"/>
                </a:solidFill>
              </a:rPr>
              <a:t>4. **路线规划**：提供科学的路线计算与备选方案，优化用户的交通决策。</a:t>
            </a:r>
          </a:p>
          <a:p>
            <a:pPr indent="0" algn="l">
              <a:lnSpc>
                <a:spcPct val="100000"/>
              </a:lnSpc>
            </a:pPr>
            <a:r>
              <a:rPr lang="en-US" sz="1400" b="0" i="0" u="none" strike="noStrike">
                <a:solidFill>
                  <a:srgbClr val="000000"/>
                </a:solidFill>
              </a:rPr>
              <a:t>5. **旅行规划器**：一站式解决行程与预算管理，减少用户的规划负担。</a:t>
            </a:r>
          </a:p>
          <a:p>
            <a:pPr indent="0" algn="l">
              <a:lnSpc>
                <a:spcPct val="100000"/>
              </a:lnSpc>
            </a:pPr>
            <a:r>
              <a:rPr lang="en-US" sz="1400" b="0" i="0" u="none" strike="noStrike">
                <a:solidFill>
                  <a:srgbClr val="000000"/>
                </a:solidFill>
              </a:rPr>
              <a:t>6. **数据可视化大屏**：为平台运营提供强有力的数据支撑，实现业务状态的实时监控。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本页介绍了项目的数据获取来源及预处理流程。</a:t>
            </a:r>
          </a:p>
          <a:p>
            <a:pPr indent="0" algn="l">
              <a:lnSpc>
                <a:spcPct val="100000"/>
              </a:lnSpc>
            </a:pPr>
            <a:r>
              <a:rPr lang="en-US" sz="1400" b="0" i="0" u="none" strike="noStrike">
                <a:solidFill>
                  <a:srgbClr val="000000"/>
                </a:solidFill>
              </a:rPr>
              <a:t>1. 数据来源：使用了Kaggle上公开的“Worldwide Travel Cities Dataset”，涵盖了全球500多个城市的基础信息。</a:t>
            </a:r>
          </a:p>
          <a:p>
            <a:pPr indent="0" algn="l">
              <a:lnSpc>
                <a:spcPct val="100000"/>
              </a:lnSpc>
            </a:pPr>
            <a:r>
              <a:rPr lang="en-US" sz="1400" b="0" i="0" u="none" strike="noStrike">
                <a:solidFill>
                  <a:srgbClr val="000000"/>
                </a:solidFill>
              </a:rPr>
              <a:t>2. 预处理是数据分析的关键步骤，我们执行了五项核心操作：</a:t>
            </a:r>
          </a:p>
          <a:p>
            <a:pPr indent="0" algn="l">
              <a:lnSpc>
                <a:spcPct val="100000"/>
              </a:lnSpc>
            </a:pPr>
            <a:r>
              <a:rPr lang="en-US" sz="1400" b="0" i="0" u="none" strike="noStrike">
                <a:solidFill>
                  <a:srgbClr val="000000"/>
                </a:solidFill>
              </a:rPr>
              <a:t>- 去重：确保数据唯一性；</a:t>
            </a:r>
          </a:p>
          <a:p>
            <a:pPr indent="0" algn="l">
              <a:lnSpc>
                <a:spcPct val="100000"/>
              </a:lnSpc>
            </a:pPr>
            <a:r>
              <a:rPr lang="en-US" sz="1400" b="0" i="0" u="none" strike="noStrike">
                <a:solidFill>
                  <a:srgbClr val="000000"/>
                </a:solidFill>
              </a:rPr>
              <a:t>- 坐标过滤：清洗无效地理数据；</a:t>
            </a:r>
          </a:p>
          <a:p>
            <a:pPr indent="0" algn="l">
              <a:lnSpc>
                <a:spcPct val="100000"/>
              </a:lnSpc>
            </a:pPr>
            <a:r>
              <a:rPr lang="en-US" sz="1400" b="0" i="0" u="none" strike="noStrike">
                <a:solidFill>
                  <a:srgbClr val="000000"/>
                </a:solidFill>
              </a:rPr>
              <a:t>- 预算映射：将定性文本转为定量数值，便于计算；</a:t>
            </a:r>
          </a:p>
          <a:p>
            <a:pPr indent="0" algn="l">
              <a:lnSpc>
                <a:spcPct val="100000"/>
              </a:lnSpc>
            </a:pPr>
            <a:r>
              <a:rPr lang="en-US" sz="1400" b="0" i="0" u="none" strike="noStrike">
                <a:solidFill>
                  <a:srgbClr val="000000"/>
                </a:solidFill>
              </a:rPr>
              <a:t>- 标签提取：凝练城市特色；</a:t>
            </a:r>
          </a:p>
          <a:p>
            <a:pPr indent="0" algn="l">
              <a:lnSpc>
                <a:spcPct val="100000"/>
              </a:lnSpc>
            </a:pPr>
            <a:r>
              <a:rPr lang="en-US" sz="1400" b="0" i="0" u="none" strike="noStrike">
                <a:solidFill>
                  <a:srgbClr val="000000"/>
                </a:solidFill>
              </a:rPr>
              <a:t>- 格式化：规整数据结构。</a:t>
            </a:r>
          </a:p>
          <a:p>
            <a:pPr indent="0" algn="l">
              <a:lnSpc>
                <a:spcPct val="100000"/>
              </a:lnSpc>
            </a:pPr>
            <a:r>
              <a:rPr lang="en-US" sz="1400" b="0" i="0" u="none" strike="noStrike">
                <a:solidFill>
                  <a:srgbClr val="000000"/>
                </a:solidFill>
              </a:rPr>
              <a:t>最终，我们获得了560个高质量的有效城市数据样本。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本页PPT主要展示了我们在数据分析与挖掘方面的核心成果，分为基础统计分析和进阶数据挖掘两个维度。</a:t>
            </a:r>
          </a:p>
          <a:p>
            <a:pPr indent="0" algn="l">
              <a:lnSpc>
                <a:spcPct val="100000"/>
              </a:lnSpc>
            </a:pPr>
            <a:r>
              <a:rPr lang="en-US" sz="1400" b="0" i="0" u="none" strike="noStrike">
                <a:solidFill>
                  <a:srgbClr val="000000"/>
                </a:solidFill>
              </a:rPr>
              <a:t>左侧是统计分析部分，我们通过全域区域分布了解了地理集中度；通过预算等级画像明确了用户消费分层；通过特质偏好分析锁定了“文化”与“自然”两大核心需求；并通过综合热度排行确立了标杆案例。</a:t>
            </a:r>
          </a:p>
          <a:p>
            <a:pPr indent="0" algn="l">
              <a:lnSpc>
                <a:spcPct val="100000"/>
              </a:lnSpc>
            </a:pPr>
            <a:r>
              <a:rPr lang="en-US" sz="1400" b="0" i="0" u="none" strike="noStrike">
                <a:solidFill>
                  <a:srgbClr val="000000"/>
                </a:solidFill>
              </a:rPr>
              <a:t>右侧是数据挖掘部分，我们利用协同过滤算法实现了个性化推荐；利用球面几何计算了符合实际的大圆弧最优路线；同时规划了未来的KMeans聚类分析，用于挖掘城市间的潜在关联，为业务决策提供深度支持。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本页展示了系统的总体架构，采用经典的三层 B/S 架构设计，层次清晰，职责分明。</a:t>
            </a:r>
          </a:p>
          <a:p>
            <a:pPr indent="0" algn="l">
              <a:lnSpc>
                <a:spcPct val="100000"/>
              </a:lnSpc>
            </a:pPr>
            <a:r>
              <a:rPr lang="en-US" sz="1400" b="0" i="0" u="none" strike="noStrike">
                <a:solidFill>
                  <a:srgbClr val="000000"/>
                </a:solidFill>
              </a:rPr>
              <a:t>1. 前端交互层：直接面向用户，使用 HTML/CSS/JS 构建现代化的交互界面，结合 Plotly 实现复杂数据的可视化展示，并利用 Fetch API 实现与后端的高效通信。</a:t>
            </a:r>
          </a:p>
          <a:p>
            <a:pPr indent="0" algn="l">
              <a:lnSpc>
                <a:spcPct val="100000"/>
              </a:lnSpc>
            </a:pPr>
            <a:r>
              <a:rPr lang="en-US" sz="1400" b="0" i="0" u="none" strike="noStrike">
                <a:solidFill>
                  <a:srgbClr val="000000"/>
                </a:solidFill>
              </a:rPr>
              <a:t>2. 后端服务层：作为系统的核心，基于 Flask 轻量级框架开发。它负责接收前端请求，处理复杂的业务逻辑（如推荐算法、路线规划），并通过标准化的 RESTful API 对外提供服务。</a:t>
            </a:r>
          </a:p>
          <a:p>
            <a:pPr indent="0" algn="l">
              <a:lnSpc>
                <a:spcPct val="100000"/>
              </a:lnSpc>
            </a:pPr>
            <a:r>
              <a:rPr lang="en-US" sz="1400" b="0" i="0" u="none" strike="noStrike">
                <a:solidFill>
                  <a:srgbClr val="000000"/>
                </a:solidFill>
              </a:rPr>
              <a:t>3. 数据持久层：底层采用 MySQL 数据库存储关键业务数据，利用 PyMySQL 驱动实现后端对数据库的连接与操作，确保数据的安全存储和高效读写。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这一页展示了系统的四大核心功能模块设计，旨在构建完整的城市数据服务体系。</a:t>
            </a:r>
          </a:p>
          <a:p>
            <a:pPr indent="0" algn="l">
              <a:lnSpc>
                <a:spcPct val="100000"/>
              </a:lnSpc>
            </a:pPr>
            <a:r>
              <a:rPr lang="en-US" sz="1400" b="0" i="0" u="none" strike="noStrike">
                <a:solidFill>
                  <a:srgbClr val="000000"/>
                </a:solidFill>
              </a:rPr>
              <a:t>1. 首页大屏模块：作为系统的入口和宏观总览，利用3D地球仪和多种图表组合，提供震撼的视觉冲击力和全面的数据概览。</a:t>
            </a:r>
          </a:p>
          <a:p>
            <a:pPr indent="0" algn="l">
              <a:lnSpc>
                <a:spcPct val="100000"/>
              </a:lnSpc>
            </a:pPr>
            <a:r>
              <a:rPr lang="en-US" sz="1400" b="0" i="0" u="none" strike="noStrike">
                <a:solidFill>
                  <a:srgbClr val="000000"/>
                </a:solidFill>
              </a:rPr>
              <a:t>2. 城市探索模块：解决用户“找城市”的需求，通过灵活的搜索和筛选机制，确保用户能快速定位感兴趣的目标城市。</a:t>
            </a:r>
          </a:p>
          <a:p>
            <a:pPr indent="0" algn="l">
              <a:lnSpc>
                <a:spcPct val="100000"/>
              </a:lnSpc>
            </a:pPr>
            <a:r>
              <a:rPr lang="en-US" sz="1400" b="0" i="0" u="none" strike="noStrike">
                <a:solidFill>
                  <a:srgbClr val="000000"/>
                </a:solidFill>
              </a:rPr>
              <a:t>3. 城市详情模块：解决用户“看详情”的需求，通过结构化的布局展示城市的深度信息，特别是雷达图的应用，让用户一眼看懂城市的综合特质。</a:t>
            </a:r>
          </a:p>
          <a:p>
            <a:pPr indent="0" algn="l">
              <a:lnSpc>
                <a:spcPct val="100000"/>
              </a:lnSpc>
            </a:pPr>
            <a:r>
              <a:rPr lang="en-US" sz="1400" b="0" i="0" u="none" strike="noStrike">
                <a:solidFill>
                  <a:srgbClr val="000000"/>
                </a:solidFill>
              </a:rPr>
              <a:t>4. 对比分析模块：解决用户“做决策”的需求，通过多维度的对比分析，直观呈现城市间的差异，辅助用户进行科学的判断。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这一页我们继续介绍系统的核心功能模块。</a:t>
            </a:r>
          </a:p>
          <a:p>
            <a:pPr indent="0" algn="l">
              <a:lnSpc>
                <a:spcPct val="100000"/>
              </a:lnSpc>
            </a:pPr>
            <a:r>
              <a:rPr lang="en-US" sz="1400" b="0" i="0" u="none" strike="noStrike">
                <a:solidFill>
                  <a:srgbClr val="000000"/>
                </a:solidFill>
              </a:rPr>
              <a:t>首先是智能推荐模块（05），它是系统的“大脑”。我们设计了基于城市偏好和基于多维权重的双模式推荐引擎，能够根据用户的历史行为、评分偏好等数据，精准匹配旅行产品。同时，系统会以可视化的方式展示匹配度，让用户理解推荐的逻辑，增加信任感。</a:t>
            </a:r>
          </a:p>
          <a:p>
            <a:pPr indent="0" algn="l">
              <a:lnSpc>
                <a:spcPct val="100000"/>
              </a:lnSpc>
            </a:pPr>
            <a:r>
              <a:rPr lang="en-US" sz="1400" b="0" i="0" u="none" strike="noStrike">
                <a:solidFill>
                  <a:srgbClr val="000000"/>
                </a:solidFill>
              </a:rPr>
              <a:t>其次是旅行规划器模块（06），这是用户最常用的功能之一。用户只需输入想去的城市、出行天数和预算，系统就能自动调用POI数据和交通数据，生成详细的每日行程建议，并实时计算总费用，还会提供预算预警，避免超支。</a:t>
            </a:r>
          </a:p>
          <a:p>
            <a:pPr indent="0" algn="l">
              <a:lnSpc>
                <a:spcPct val="100000"/>
              </a:lnSpc>
            </a:pPr>
            <a:r>
              <a:rPr lang="en-US" sz="1400" b="0" i="0" u="none" strike="noStrike">
                <a:solidFill>
                  <a:srgbClr val="000000"/>
                </a:solidFill>
              </a:rPr>
              <a:t>最后是路线规划模块（07），主要解决跨城市的路径问题。用户可以设置起点、终点和途经城市，系统采用大圆弧算法计算最优路线，并在地球仪上动态绘制轨迹，无论是长途飞行还是公路旅行，都能提供直观的路线展示。</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这一页主要展示了 travel_db 数据库中核心表 cities 的设计结构。</a:t>
            </a:r>
          </a:p>
          <a:p>
            <a:pPr indent="0" algn="l">
              <a:lnSpc>
                <a:spcPct val="100000"/>
              </a:lnSpc>
            </a:pPr>
            <a:r>
              <a:rPr lang="en-US" sz="1400" b="0" i="0" u="none" strike="noStrike">
                <a:solidFill>
                  <a:srgbClr val="000000"/>
                </a:solidFill>
              </a:rPr>
              <a:t>1. 左侧表格详细列出了核心字段，其中 id 作为主键，保证了数据的唯一性。经纬度采用高精度 DECIMAL 类型存储，为后续的地理信息计算提供了基础。</a:t>
            </a:r>
          </a:p>
          <a:p>
            <a:pPr indent="0" algn="l">
              <a:lnSpc>
                <a:spcPct val="100000"/>
              </a:lnSpc>
            </a:pPr>
            <a:r>
              <a:rPr lang="en-US" sz="1400" b="0" i="0" u="none" strike="noStrike">
                <a:solidFill>
                  <a:srgbClr val="000000"/>
                </a:solidFill>
              </a:rPr>
              <a:t>2. 特别设计了 9 个特质评分字段（如 culture, adventure 等），用于量化城市的不同属性，这是实现用户偏好匹配的关键数据支撑。</a:t>
            </a:r>
          </a:p>
          <a:p>
            <a:pPr indent="0" algn="l">
              <a:lnSpc>
                <a:spcPct val="100000"/>
              </a:lnSpc>
            </a:pPr>
            <a:r>
              <a:rPr lang="en-US" sz="1400" b="0" i="0" u="none" strike="noStrike">
                <a:solidFill>
                  <a:srgbClr val="000000"/>
                </a:solidFill>
              </a:rPr>
              <a:t>3. 预算字段（budget_level, budget_score）和推荐字段（top_trait, ideal_durations）为业务层的智能推荐算法提供了结构化输入。</a:t>
            </a:r>
          </a:p>
          <a:p>
            <a:pPr indent="0" algn="l">
              <a:lnSpc>
                <a:spcPct val="100000"/>
              </a:lnSpc>
            </a:pPr>
            <a:r>
              <a:rPr lang="en-US" sz="1400" b="0" i="0" u="none" strike="noStrike">
                <a:solidFill>
                  <a:srgbClr val="000000"/>
                </a:solidFill>
              </a:rPr>
              <a:t>4. 整体设计遵循数据库规范化原则，同时预留了足够的扩展空间，方便未来接入更多维度的数据。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本页详细展示了系统的四大核心功能实现：</a:t>
            </a:r>
          </a:p>
          <a:p>
            <a:pPr indent="0" algn="l">
              <a:lnSpc>
                <a:spcPct val="100000"/>
              </a:lnSpc>
            </a:pPr>
            <a:r>
              <a:rPr lang="en-US" sz="1400" b="0" i="0" u="none" strike="noStrike">
                <a:solidFill>
                  <a:srgbClr val="000000"/>
                </a:solidFill>
              </a:rPr>
              <a:t>1. 3D地球交互：使用Plotly的scattergeo实现全球点位的可视化，并通过动画增强用户的交互体验。</a:t>
            </a:r>
          </a:p>
          <a:p>
            <a:pPr indent="0" algn="l">
              <a:lnSpc>
                <a:spcPct val="100000"/>
              </a:lnSpc>
            </a:pPr>
            <a:r>
              <a:rPr lang="en-US" sz="1400" b="0" i="0" u="none" strike="noStrike">
                <a:solidFill>
                  <a:srgbClr val="000000"/>
                </a:solidFill>
              </a:rPr>
              <a:t>2. 推荐算法：核心在于封装的recommend.py模块，利用余弦相似度计算用户兴趣，实现精准推荐。</a:t>
            </a:r>
          </a:p>
          <a:p>
            <a:pPr indent="0" algn="l">
              <a:lnSpc>
                <a:spcPct val="100000"/>
              </a:lnSpc>
            </a:pPr>
            <a:r>
              <a:rPr lang="en-US" sz="1400" b="0" i="0" u="none" strike="noStrike">
                <a:solidFill>
                  <a:srgbClr val="000000"/>
                </a:solidFill>
              </a:rPr>
              <a:t>3. 路线规划：通过plan_route_with_mid_cities算法，结合大圆弧距离和投影采样，解决复杂的中转路线规划问题。</a:t>
            </a:r>
          </a:p>
          <a:p>
            <a:pPr indent="0" algn="l">
              <a:lnSpc>
                <a:spcPct val="100000"/>
              </a:lnSpc>
            </a:pPr>
            <a:r>
              <a:rPr lang="en-US" sz="1400" b="0" i="0" u="none" strike="noStrike">
                <a:solidFill>
                  <a:srgbClr val="000000"/>
                </a:solidFill>
              </a:rPr>
              <a:t>4. 前端交互：利用CSS变量和localStorage实现了主题的无缝切换和持久化，提升了用户体验的一致性。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本页展示了系统的核心界面设计，涵盖了从宏观概览到微观详情的完整交互流程。</a:t>
            </a:r>
          </a:p>
          <a:p>
            <a:pPr indent="0" algn="l">
              <a:lnSpc>
                <a:spcPct val="100000"/>
              </a:lnSpc>
            </a:pPr>
            <a:r>
              <a:rPr lang="en-US" sz="1400" b="0" i="0" u="none" strike="noStrike">
                <a:solidFill>
                  <a:srgbClr val="000000"/>
                </a:solidFill>
              </a:rPr>
              <a:t>1. 首页大屏：采用3D地球仪作为视觉核心，结合悬浮数据卡片，让用户第一眼就能掌握全局态势。</a:t>
            </a:r>
          </a:p>
          <a:p>
            <a:pPr indent="0" algn="l">
              <a:lnSpc>
                <a:spcPct val="100000"/>
              </a:lnSpc>
            </a:pPr>
            <a:r>
              <a:rPr lang="en-US" sz="1400" b="0" i="0" u="none" strike="noStrike">
                <a:solidFill>
                  <a:srgbClr val="000000"/>
                </a:solidFill>
              </a:rPr>
              <a:t>2. 城市探索：利用网格布局和灵活的筛选器，降低了信息获取的门槛，提升了检索效率。</a:t>
            </a:r>
          </a:p>
          <a:p>
            <a:pPr indent="0" algn="l">
              <a:lnSpc>
                <a:spcPct val="100000"/>
              </a:lnSpc>
            </a:pPr>
            <a:r>
              <a:rPr lang="en-US" sz="1400" b="0" i="0" u="none" strike="noStrike">
                <a:solidFill>
                  <a:srgbClr val="000000"/>
                </a:solidFill>
              </a:rPr>
              <a:t>3. 城市详情：通过雷达图进行多维评分，直观展示城市的综合实力，数据呈现更具说服力。</a:t>
            </a:r>
          </a:p>
          <a:p>
            <a:pPr indent="0" algn="l">
              <a:lnSpc>
                <a:spcPct val="100000"/>
              </a:lnSpc>
            </a:pPr>
            <a:r>
              <a:rPr lang="en-US" sz="1400" b="0" i="0" u="none" strike="noStrike">
                <a:solidFill>
                  <a:srgbClr val="000000"/>
                </a:solidFill>
              </a:rPr>
              <a:t>4. 智能推荐：双模式设计兼顾了个性化与场景化需求，AI算法的融入让推荐更精准。</a:t>
            </a:r>
          </a:p>
          <a:p>
            <a:pPr indent="0" algn="l">
              <a:lnSpc>
                <a:spcPct val="100000"/>
              </a:lnSpc>
            </a:pPr>
            <a:r>
              <a:rPr lang="en-US" sz="1400" b="0" i="0" u="none" strike="noStrike">
                <a:solidFill>
                  <a:srgbClr val="000000"/>
                </a:solidFill>
              </a:rPr>
              <a:t>5. 路线规划：动态轨迹绘制增加了操作的趣味性和直观性，支持手动干预确保了路线的灵活性。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这一页是对整个项目的总结与未来展望。</a:t>
            </a:r>
          </a:p>
          <a:p>
            <a:pPr indent="0" algn="l">
              <a:lnSpc>
                <a:spcPct val="100000"/>
              </a:lnSpc>
            </a:pPr>
            <a:r>
              <a:rPr lang="en-US" sz="1400" b="0" i="0" u="none" strike="noStrike">
                <a:solidFill>
                  <a:srgbClr val="000000"/>
                </a:solidFill>
              </a:rPr>
              <a:t>在项目总结方面，我们成功完成了全球旅游城市数据可视化系统的开发，集成了五大核心模块。技术上实现了3D地理可视化、混合推荐算法以及大圆弧路线规划，为用户提供了直观的视觉体验和科学的决策依据。界面设计美观，交互流程流畅，达到了预期的设计目标。</a:t>
            </a:r>
          </a:p>
          <a:p>
            <a:pPr indent="0" algn="l">
              <a:lnSpc>
                <a:spcPct val="100000"/>
              </a:lnSpc>
            </a:pPr>
            <a:r>
              <a:rPr lang="en-US" sz="1400" b="0" i="0" u="none" strike="noStrike">
                <a:solidFill>
                  <a:srgbClr val="000000"/>
                </a:solidFill>
              </a:rPr>
              <a:t>在未来展望方面，我们将从用户、数据、技术和生态四个维度进行拓展。首先完善用户体系，增加登录和收藏功能；其次接入实时天气、机票酒店等更丰富的实时数据；同时引入深度学习优化推荐模型，提升推荐精准度；最后增加社交分享功能，增强用户粘性和传播性，构建完整的旅行服务生态闭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5.sv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slides/_rels/slide5.xml.rels><?xml version="1.0" encoding="UTF-8" standalone="yes"?>
<Relationships xmlns="http://schemas.openxmlformats.org/package/2006/relationships"><Relationship Id="rId3" Type="http://schemas.openxmlformats.org/officeDocument/2006/relationships/image" Target="../media/image14.svg"/><Relationship Id="rId7" Type="http://schemas.openxmlformats.org/officeDocument/2006/relationships/image" Target="../media/image18.sv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7.svg"/><Relationship Id="rId5" Type="http://schemas.openxmlformats.org/officeDocument/2006/relationships/image" Target="../media/image16.svg"/><Relationship Id="rId4" Type="http://schemas.openxmlformats.org/officeDocument/2006/relationships/image" Target="../media/image15.svg"/></Relationships>
</file>

<file path=ppt/slides/_rels/slide6.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s>
</file>

<file path=ppt/slides/_rels/slide7.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27.svg"/><Relationship Id="rId4" Type="http://schemas.openxmlformats.org/officeDocument/2006/relationships/image" Target="../media/image26.svg"/></Relationships>
</file>

<file path=ppt/slides/_rels/slide8.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8.svg"/><Relationship Id="rId7" Type="http://schemas.openxmlformats.org/officeDocument/2006/relationships/image" Target="../media/image32.sv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31.svg"/><Relationship Id="rId5" Type="http://schemas.openxmlformats.org/officeDocument/2006/relationships/image" Target="../media/image30.svg"/><Relationship Id="rId4" Type="http://schemas.openxmlformats.org/officeDocument/2006/relationships/image" Target="../media/image29.svg"/></Relationships>
</file>

<file path=ppt/slides/_rels/slide9.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image" Target="../media/image34.svg"/><Relationship Id="rId7" Type="http://schemas.openxmlformats.org/officeDocument/2006/relationships/image" Target="../media/image38.sv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37.svg"/><Relationship Id="rId5" Type="http://schemas.openxmlformats.org/officeDocument/2006/relationships/image" Target="../media/image36.svg"/><Relationship Id="rId4" Type="http://schemas.openxmlformats.org/officeDocument/2006/relationships/image" Target="../media/image35.svg"/></Relationships>
</file>

<file path=ppt/slides/_rels/slide10.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40.svg"/><Relationship Id="rId7" Type="http://schemas.openxmlformats.org/officeDocument/2006/relationships/image" Target="../media/image43.sv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42.svg"/><Relationship Id="rId5" Type="http://schemas.openxmlformats.org/officeDocument/2006/relationships/image" Target="../media/image41.svg"/><Relationship Id="rId4" Type="http://schemas.openxmlformats.org/officeDocument/2006/relationships/image" Target="../media/image26.svg"/><Relationship Id="rId9" Type="http://schemas.openxmlformats.org/officeDocument/2006/relationships/image" Target="../media/image45.svg"/></Relationships>
</file>

<file path=ppt/slides/_rels/slide11.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49.svg"/><Relationship Id="rId5" Type="http://schemas.openxmlformats.org/officeDocument/2006/relationships/image" Target="../media/image48.svg"/><Relationship Id="rId4" Type="http://schemas.openxmlformats.org/officeDocument/2006/relationships/image" Target="../media/image47.svg"/></Relationships>
</file>

<file path=ppt/slides/_rels/slide1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52.svg"/><Relationship Id="rId5" Type="http://schemas.openxmlformats.org/officeDocument/2006/relationships/image" Target="../media/image51.svg"/><Relationship Id="rId4" Type="http://schemas.openxmlformats.org/officeDocument/2006/relationships/image" Target="../media/image50.svg"/></Relationships>
</file>

<file path=ppt/slides/_rels/slide13.xml.rels><?xml version="1.0" encoding="UTF-8" standalone="yes"?>
<Relationships xmlns="http://schemas.openxmlformats.org/package/2006/relationships"><Relationship Id="rId3" Type="http://schemas.openxmlformats.org/officeDocument/2006/relationships/image" Target="../media/image53.svg"/><Relationship Id="rId2" Type="http://schemas.openxmlformats.org/officeDocument/2006/relationships/notesSlide" Target="../notesSlides/notesSlide13.xml"/><Relationship Id="rId1" Type="http://schemas.openxmlformats.org/officeDocument/2006/relationships/slideLayout" Target="../slideLayouts/slideLayout12.xml"/><Relationship Id="rId5" Type="http://schemas.openxmlformats.org/officeDocument/2006/relationships/image" Target="../media/image55.svg"/><Relationship Id="rId4" Type="http://schemas.openxmlformats.org/officeDocument/2006/relationships/image" Target="../media/image54.svg"/></Relationships>
</file>

<file path=ppt/slides/_rels/slide14.xml.rels><?xml version="1.0" encoding="UTF-8" standalone="yes"?>
<Relationships xmlns="http://schemas.openxmlformats.org/package/2006/relationships"><Relationship Id="rId3" Type="http://schemas.openxmlformats.org/officeDocument/2006/relationships/image" Target="../media/image56.svg"/><Relationship Id="rId2" Type="http://schemas.openxmlformats.org/officeDocument/2006/relationships/notesSlide" Target="../notesSlides/notesSlide14.xml"/><Relationship Id="rId1" Type="http://schemas.openxmlformats.org/officeDocument/2006/relationships/slideLayout" Target="../slideLayouts/slideLayout12.xml"/><Relationship Id="rId5" Type="http://schemas.openxmlformats.org/officeDocument/2006/relationships/image" Target="../media/image58.svg"/><Relationship Id="rId4" Type="http://schemas.openxmlformats.org/officeDocument/2006/relationships/image" Target="../media/image57.svg"/></Relationships>
</file>

<file path=ppt/slides/_rels/slide1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61.svg"/><Relationship Id="rId5" Type="http://schemas.openxmlformats.org/officeDocument/2006/relationships/image" Target="../media/image60.svg"/><Relationship Id="rId4" Type="http://schemas.openxmlformats.org/officeDocument/2006/relationships/image" Target="../media/image59.svg"/></Relationships>
</file>

<file path=ppt/slides/_rels/slide16.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64.sv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63.svg"/><Relationship Id="rId5" Type="http://schemas.openxmlformats.org/officeDocument/2006/relationships/image" Target="../media/image62.svg"/><Relationship Id="rId4" Type="http://schemas.openxmlformats.org/officeDocument/2006/relationships/image" Target="../media/image50.svg"/></Relationships>
</file>

<file path=ppt/slides/_rels/slide17.xml.rels><?xml version="1.0" encoding="UTF-8" standalone="yes"?>
<Relationships xmlns="http://schemas.openxmlformats.org/package/2006/relationships"><Relationship Id="rId3" Type="http://schemas.openxmlformats.org/officeDocument/2006/relationships/image" Target="../media/image65.svg"/><Relationship Id="rId7" Type="http://schemas.openxmlformats.org/officeDocument/2006/relationships/image" Target="../media/image69.sv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68.svg"/><Relationship Id="rId5" Type="http://schemas.openxmlformats.org/officeDocument/2006/relationships/image" Target="../media/image67.svg"/><Relationship Id="rId4" Type="http://schemas.openxmlformats.org/officeDocument/2006/relationships/image" Target="../media/image66.sv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A1E3C">
                <a:alpha val="100000"/>
              </a:srgbClr>
            </a:gs>
            <a:gs pos="50000">
              <a:srgbClr val="143C6E">
                <a:alpha val="100000"/>
              </a:srgbClr>
            </a:gs>
            <a:gs pos="100000">
              <a:srgbClr val="0F2D5A">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6350000" y="-1905000"/>
            <a:ext cx="7620000" cy="7620000"/>
          </a:xfrm>
          <a:prstGeom prst="ellipse">
            <a:avLst/>
          </a:prstGeom>
          <a:solidFill>
            <a:srgbClr val="3B82F6">
              <a:alpha val="10000"/>
            </a:srgbClr>
          </a:solidFill>
          <a:ln cap="flat" cmpd="sng">
            <a:solidFill>
              <a:srgbClr val="1F67DD">
                <a:alpha val="1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270000" y="3175000"/>
            <a:ext cx="5080000" cy="5080000"/>
          </a:xfrm>
          <a:prstGeom prst="ellipse">
            <a:avLst/>
          </a:prstGeom>
          <a:solidFill>
            <a:srgbClr val="2563EB">
              <a:alpha val="10000"/>
            </a:srgbClr>
          </a:solidFill>
          <a:ln cap="flat" cmpd="sng">
            <a:solidFill>
              <a:srgbClr val="0C4AD2">
                <a:alpha val="10000"/>
              </a:srgbClr>
            </a:solidFill>
            <a:prstDash val="solid"/>
            <a:round/>
          </a:ln>
        </p:spPr>
        <p:txBody>
          <a:bodyPr vert="horz" wrap="square" lIns="63500" tIns="63500" rIns="63500" bIns="63500" rtlCol="0" anchor="ctr"/>
          <a:lstStyle/>
          <a:p>
            <a:pPr algn="ctr">
              <a:defRPr/>
            </a:pPr>
            <a:endParaRPr/>
          </a:p>
        </p:txBody>
      </p:sp>
      <p:cxnSp>
        <p:nvCxnSpPr>
          <p:cNvPr id="4" name="Connector 4"/>
          <p:cNvCxnSpPr/>
          <p:nvPr/>
        </p:nvCxnSpPr>
        <p:spPr>
          <a:xfrm rot="-3580">
            <a:off x="3" y="1517650"/>
            <a:ext cx="121920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cxnSp>
        <p:nvCxnSpPr>
          <p:cNvPr id="5" name="Connector 5"/>
          <p:cNvCxnSpPr/>
          <p:nvPr/>
        </p:nvCxnSpPr>
        <p:spPr>
          <a:xfrm rot="-3580">
            <a:off x="3" y="5581650"/>
            <a:ext cx="121920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2000" y="2286000"/>
            <a:ext cx="1016000" cy="1016000"/>
          </a:xfrm>
          <a:prstGeom prst="rect">
            <a:avLst/>
          </a:prstGeom>
        </p:spPr>
      </p:pic>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414000" y="2286000"/>
            <a:ext cx="762000" cy="762000"/>
          </a:xfrm>
          <a:prstGeom prst="rect">
            <a:avLst/>
          </a:prstGeom>
        </p:spPr>
      </p:pic>
      <p:sp>
        <p:nvSpPr>
          <p:cNvPr id="8" name="AutoShape 8"/>
          <p:cNvSpPr/>
          <p:nvPr/>
        </p:nvSpPr>
        <p:spPr>
          <a:xfrm>
            <a:off x="762000" y="3175000"/>
            <a:ext cx="10668000" cy="1143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400" b="1" i="0" u="none" strike="noStrike">
                <a:solidFill>
                  <a:srgbClr val="FFFFFF"/>
                </a:solidFill>
                <a:latin typeface="Noto Sans SC"/>
                <a:ea typeface="Noto Sans SC"/>
                <a:cs typeface="Noto Sans SC"/>
                <a:sym typeface="Noto Sans SC"/>
              </a:rPr>
              <a:t>全球旅游城市数据可视化系统</a:t>
            </a:r>
            <a:endParaRPr lang="en-US" sz="1100"/>
          </a:p>
        </p:txBody>
      </p:sp>
      <p:sp>
        <p:nvSpPr>
          <p:cNvPr id="9" name="AutoShape 9"/>
          <p:cNvSpPr/>
          <p:nvPr/>
        </p:nvSpPr>
        <p:spPr>
          <a:xfrm>
            <a:off x="5334000" y="4699000"/>
            <a:ext cx="1524000" cy="50800"/>
          </a:xfrm>
          <a:prstGeom prst="roundRect">
            <a:avLst>
              <a:gd name="adj" fmla="val 0"/>
            </a:avLst>
          </a:prstGeom>
          <a:solidFill>
            <a:srgbClr val="60A5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635000" y="5080000"/>
            <a:ext cx="10922000" cy="762000"/>
          </a:xfrm>
          <a:prstGeom prst="rect">
            <a:avLst/>
          </a:prstGeom>
          <a:noFill/>
          <a:ln w="12700" cap="flat" cmpd="sng">
            <a:noFill/>
            <a:prstDash val="solid"/>
            <a:round/>
          </a:ln>
        </p:spPr>
        <p:txBody>
          <a:bodyPr vert="horz" wrap="square" lIns="0" tIns="0" rIns="0" bIns="0" rtlCol="0" anchor="ctr" anchorCtr="0"/>
          <a:lstStyle/>
          <a:p>
            <a:pPr indent="0" algn="ctr">
              <a:lnSpc>
                <a:spcPct val="108333"/>
              </a:lnSpc>
              <a:defRPr/>
            </a:pPr>
            <a:r>
              <a:rPr lang="en-US" sz="2000" b="0" i="0" u="none" strike="noStrike">
                <a:solidFill>
                  <a:srgbClr val="E5E7EB">
                    <a:alpha val="90196"/>
                  </a:srgbClr>
                </a:solidFill>
                <a:latin typeface="Noto Sans SC"/>
                <a:ea typeface="Noto Sans SC"/>
                <a:cs typeface="Noto Sans SC"/>
                <a:sym typeface="Noto Sans SC"/>
              </a:rPr>
              <a:t>基于 Flask + Plotly 的智能旅游决策支持平台</a:t>
            </a:r>
            <a:endParaRPr lang="en-US" sz="1100"/>
          </a:p>
        </p:txBody>
      </p:sp>
      <p:sp>
        <p:nvSpPr>
          <p:cNvPr id="11" name="AutoShape 11"/>
          <p:cNvSpPr/>
          <p:nvPr/>
        </p:nvSpPr>
        <p:spPr>
          <a:xfrm>
            <a:off x="0" y="61595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9CA3AF">
                    <a:alpha val="80000"/>
                  </a:srgbClr>
                </a:solidFill>
                <a:latin typeface="Noto Sans SC"/>
                <a:ea typeface="Noto Sans SC"/>
                <a:cs typeface="Noto Sans SC"/>
                <a:sym typeface="Noto Sans SC"/>
              </a:rPr>
              <a:t>—— 项目答辩展示 ——</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635000"/>
            <a:ext cx="3810000" cy="3810000"/>
          </a:xfrm>
          <a:prstGeom prst="ellipse">
            <a:avLst/>
          </a:prstGeom>
          <a:solidFill>
            <a:srgbClr val="3B82F6">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635000" y="5080000"/>
            <a:ext cx="2540000" cy="2540000"/>
          </a:xfrm>
          <a:prstGeom prst="ellipse">
            <a:avLst/>
          </a:prstGeom>
          <a:solidFill>
            <a:srgbClr val="10B981">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508000" y="508000"/>
            <a:ext cx="11176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000" b="1" i="0" u="none" strike="noStrike">
                <a:solidFill>
                  <a:srgbClr val="1E3A8A"/>
                </a:solidFill>
                <a:latin typeface="Noto Sans SC"/>
                <a:ea typeface="Noto Sans SC"/>
                <a:cs typeface="Noto Sans SC"/>
                <a:sym typeface="Noto Sans SC"/>
              </a:rPr>
              <a:t>目录</a:t>
            </a:r>
            <a:endParaRPr lang="en-US" sz="1100"/>
          </a:p>
        </p:txBody>
      </p:sp>
      <p:cxnSp>
        <p:nvCxnSpPr>
          <p:cNvPr id="5" name="Connector 5"/>
          <p:cNvCxnSpPr/>
          <p:nvPr/>
        </p:nvCxnSpPr>
        <p:spPr>
          <a:xfrm rot="-3906">
            <a:off x="508004" y="1390650"/>
            <a:ext cx="11176000" cy="12700"/>
          </a:xfrm>
          <a:prstGeom prst="straightConnector1">
            <a:avLst/>
          </a:prstGeom>
          <a:solidFill>
            <a:srgbClr val="DEE0E3">
              <a:alpha val="100000"/>
            </a:srgbClr>
          </a:solidFill>
          <a:ln w="12700" cap="flat" cmpd="sng">
            <a:solidFill>
              <a:srgbClr val="CBD5E1">
                <a:alpha val="100000"/>
              </a:srgbClr>
            </a:solidFill>
            <a:prstDash val="solid"/>
            <a:round/>
            <a:headEnd type="none" w="med" len="med"/>
            <a:tailEnd type="none" w="med" len="med"/>
          </a:ln>
        </p:spPr>
      </p:cxnSp>
      <p:sp>
        <p:nvSpPr>
          <p:cNvPr id="6" name="AutoShape 6"/>
          <p:cNvSpPr/>
          <p:nvPr/>
        </p:nvSpPr>
        <p:spPr>
          <a:xfrm>
            <a:off x="508000" y="1905000"/>
            <a:ext cx="3683000" cy="1460500"/>
          </a:xfrm>
          <a:prstGeom prst="roundRect">
            <a:avLst>
              <a:gd name="adj" fmla="val 0"/>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508000" y="1905000"/>
            <a:ext cx="76200" cy="14605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698500" y="2032000"/>
            <a:ext cx="76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3B82F6">
                    <a:alpha val="40000"/>
                  </a:srgbClr>
                </a:solidFill>
                <a:latin typeface="Noto Sans SC"/>
                <a:ea typeface="Noto Sans SC"/>
                <a:cs typeface="Noto Sans SC"/>
                <a:sym typeface="Noto Sans SC"/>
              </a:rPr>
              <a:t>01</a:t>
            </a:r>
            <a:endParaRPr lang="en-US" sz="1100"/>
          </a:p>
        </p:txBody>
      </p:sp>
      <p:sp>
        <p:nvSpPr>
          <p:cNvPr id="9" name="AutoShape 9"/>
          <p:cNvSpPr/>
          <p:nvPr/>
        </p:nvSpPr>
        <p:spPr>
          <a:xfrm>
            <a:off x="1524000" y="20320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E3A8A"/>
                </a:solidFill>
                <a:latin typeface="Noto Sans SC"/>
                <a:ea typeface="Noto Sans SC"/>
                <a:cs typeface="Noto Sans SC"/>
                <a:sym typeface="Noto Sans SC"/>
              </a:rPr>
              <a:t>项目背景与研究意义</a:t>
            </a:r>
            <a:endParaRPr lang="en-US" sz="1100"/>
          </a:p>
        </p:txBody>
      </p:sp>
      <p:cxnSp>
        <p:nvCxnSpPr>
          <p:cNvPr id="10" name="Connector 10"/>
          <p:cNvCxnSpPr/>
          <p:nvPr/>
        </p:nvCxnSpPr>
        <p:spPr>
          <a:xfrm rot="-12972">
            <a:off x="698512" y="2660650"/>
            <a:ext cx="3365500" cy="12700"/>
          </a:xfrm>
          <a:prstGeom prst="straightConnector1">
            <a:avLst/>
          </a:prstGeom>
          <a:solidFill>
            <a:srgbClr val="DEE0E3">
              <a:alpha val="100000"/>
            </a:srgbClr>
          </a:solidFill>
          <a:ln w="12700" cap="flat" cmpd="sng">
            <a:solidFill>
              <a:srgbClr val="3B82F6">
                <a:alpha val="20000"/>
              </a:srgbClr>
            </a:solidFill>
            <a:prstDash val="dash"/>
            <a:round/>
            <a:headEnd type="none" w="med" len="med"/>
            <a:tailEnd type="none" w="med" len="med"/>
          </a:ln>
        </p:spPr>
      </p:cxnSp>
      <p:sp>
        <p:nvSpPr>
          <p:cNvPr id="11" name="AutoShape 11"/>
          <p:cNvSpPr/>
          <p:nvPr/>
        </p:nvSpPr>
        <p:spPr>
          <a:xfrm>
            <a:off x="698500" y="2794000"/>
            <a:ext cx="33655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475569"/>
                </a:solidFill>
                <a:latin typeface="Noto Sans SC"/>
                <a:ea typeface="Noto Sans SC"/>
                <a:cs typeface="Noto Sans SC"/>
                <a:sym typeface="Noto Sans SC"/>
              </a:rPr>
              <a:t>深入剖析行业发展现状与痛点，明确项目研究的现实应用价值，确立课题的研究方向与长远目标。</a:t>
            </a:r>
            <a:endParaRPr lang="en-US" sz="1100"/>
          </a:p>
        </p:txBody>
      </p:sp>
      <p:sp>
        <p:nvSpPr>
          <p:cNvPr id="12" name="AutoShape 12"/>
          <p:cNvSpPr/>
          <p:nvPr/>
        </p:nvSpPr>
        <p:spPr>
          <a:xfrm>
            <a:off x="508000" y="3556000"/>
            <a:ext cx="3683000" cy="1460500"/>
          </a:xfrm>
          <a:prstGeom prst="roundRect">
            <a:avLst>
              <a:gd name="adj" fmla="val 0"/>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508000" y="3556000"/>
            <a:ext cx="76200" cy="14605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98500" y="3683000"/>
            <a:ext cx="76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3B82F6">
                    <a:alpha val="40000"/>
                  </a:srgbClr>
                </a:solidFill>
                <a:latin typeface="Noto Sans SC"/>
                <a:ea typeface="Noto Sans SC"/>
                <a:cs typeface="Noto Sans SC"/>
                <a:sym typeface="Noto Sans SC"/>
              </a:rPr>
              <a:t>02</a:t>
            </a:r>
            <a:endParaRPr lang="en-US" sz="1100"/>
          </a:p>
        </p:txBody>
      </p:sp>
      <p:sp>
        <p:nvSpPr>
          <p:cNvPr id="15" name="AutoShape 15"/>
          <p:cNvSpPr/>
          <p:nvPr/>
        </p:nvSpPr>
        <p:spPr>
          <a:xfrm>
            <a:off x="1524000" y="36830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E3A8A"/>
                </a:solidFill>
                <a:latin typeface="Noto Sans SC"/>
                <a:ea typeface="Noto Sans SC"/>
                <a:cs typeface="Noto Sans SC"/>
                <a:sym typeface="Noto Sans SC"/>
              </a:rPr>
              <a:t>相关理论与技术</a:t>
            </a:r>
            <a:endParaRPr lang="en-US" sz="1100"/>
          </a:p>
        </p:txBody>
      </p:sp>
      <p:cxnSp>
        <p:nvCxnSpPr>
          <p:cNvPr id="16" name="Connector 16"/>
          <p:cNvCxnSpPr/>
          <p:nvPr/>
        </p:nvCxnSpPr>
        <p:spPr>
          <a:xfrm rot="-12972">
            <a:off x="698512" y="4311650"/>
            <a:ext cx="3365500" cy="12700"/>
          </a:xfrm>
          <a:prstGeom prst="straightConnector1">
            <a:avLst/>
          </a:prstGeom>
          <a:solidFill>
            <a:srgbClr val="DEE0E3">
              <a:alpha val="100000"/>
            </a:srgbClr>
          </a:solidFill>
          <a:ln w="12700" cap="flat" cmpd="sng">
            <a:solidFill>
              <a:srgbClr val="3B82F6">
                <a:alpha val="20000"/>
              </a:srgbClr>
            </a:solidFill>
            <a:prstDash val="dash"/>
            <a:round/>
            <a:headEnd type="none" w="med" len="med"/>
            <a:tailEnd type="none" w="med" len="med"/>
          </a:ln>
        </p:spPr>
      </p:cxnSp>
      <p:sp>
        <p:nvSpPr>
          <p:cNvPr id="17" name="AutoShape 17"/>
          <p:cNvSpPr/>
          <p:nvPr/>
        </p:nvSpPr>
        <p:spPr>
          <a:xfrm>
            <a:off x="698500" y="4445000"/>
            <a:ext cx="33655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475569"/>
                </a:solidFill>
                <a:latin typeface="Noto Sans SC"/>
                <a:ea typeface="Noto Sans SC"/>
                <a:cs typeface="Noto Sans SC"/>
                <a:sym typeface="Noto Sans SC"/>
              </a:rPr>
              <a:t>系统梳理核心业务理论框架，调研并甄选适配的关键技术栈，为后续系统架构搭建提供坚实支撑。</a:t>
            </a:r>
            <a:endParaRPr lang="en-US" sz="1100"/>
          </a:p>
        </p:txBody>
      </p:sp>
      <p:sp>
        <p:nvSpPr>
          <p:cNvPr id="18" name="AutoShape 18"/>
          <p:cNvSpPr/>
          <p:nvPr/>
        </p:nvSpPr>
        <p:spPr>
          <a:xfrm>
            <a:off x="508000" y="5207000"/>
            <a:ext cx="3683000" cy="1333500"/>
          </a:xfrm>
          <a:prstGeom prst="roundRect">
            <a:avLst>
              <a:gd name="adj" fmla="val 0"/>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508000" y="5207000"/>
            <a:ext cx="76200" cy="13335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698500" y="5334000"/>
            <a:ext cx="76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3B82F6">
                    <a:alpha val="40000"/>
                  </a:srgbClr>
                </a:solidFill>
                <a:latin typeface="Noto Sans SC"/>
                <a:ea typeface="Noto Sans SC"/>
                <a:cs typeface="Noto Sans SC"/>
                <a:sym typeface="Noto Sans SC"/>
              </a:rPr>
              <a:t>03</a:t>
            </a:r>
            <a:endParaRPr lang="en-US" sz="1100"/>
          </a:p>
        </p:txBody>
      </p:sp>
      <p:sp>
        <p:nvSpPr>
          <p:cNvPr id="21" name="AutoShape 21"/>
          <p:cNvSpPr/>
          <p:nvPr/>
        </p:nvSpPr>
        <p:spPr>
          <a:xfrm>
            <a:off x="1524000" y="53340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E3A8A"/>
                </a:solidFill>
                <a:latin typeface="Noto Sans SC"/>
                <a:ea typeface="Noto Sans SC"/>
                <a:cs typeface="Noto Sans SC"/>
                <a:sym typeface="Noto Sans SC"/>
              </a:rPr>
              <a:t>可行性与需求分析</a:t>
            </a:r>
            <a:endParaRPr lang="en-US" sz="1100"/>
          </a:p>
        </p:txBody>
      </p:sp>
      <p:cxnSp>
        <p:nvCxnSpPr>
          <p:cNvPr id="22" name="Connector 22"/>
          <p:cNvCxnSpPr/>
          <p:nvPr/>
        </p:nvCxnSpPr>
        <p:spPr>
          <a:xfrm rot="-12972">
            <a:off x="698512" y="5835650"/>
            <a:ext cx="3365500" cy="12700"/>
          </a:xfrm>
          <a:prstGeom prst="straightConnector1">
            <a:avLst/>
          </a:prstGeom>
          <a:solidFill>
            <a:srgbClr val="DEE0E3">
              <a:alpha val="100000"/>
            </a:srgbClr>
          </a:solidFill>
          <a:ln w="12700" cap="flat" cmpd="sng">
            <a:solidFill>
              <a:srgbClr val="3B82F6">
                <a:alpha val="20000"/>
              </a:srgbClr>
            </a:solidFill>
            <a:prstDash val="dash"/>
            <a:round/>
            <a:headEnd type="none" w="med" len="med"/>
            <a:tailEnd type="none" w="med" len="med"/>
          </a:ln>
        </p:spPr>
      </p:cxnSp>
      <p:sp>
        <p:nvSpPr>
          <p:cNvPr id="23" name="AutoShape 23"/>
          <p:cNvSpPr/>
          <p:nvPr/>
        </p:nvSpPr>
        <p:spPr>
          <a:xfrm>
            <a:off x="698500" y="5943600"/>
            <a:ext cx="33655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475569"/>
                </a:solidFill>
                <a:latin typeface="Noto Sans SC"/>
                <a:ea typeface="Noto Sans SC"/>
                <a:cs typeface="Noto Sans SC"/>
                <a:sym typeface="Noto Sans SC"/>
              </a:rPr>
              <a:t>从技术、经济及操作维度评估项目可行性，结合用户画像精准挖掘业务需求与潜在问题。</a:t>
            </a:r>
            <a:endParaRPr lang="en-US" sz="1100"/>
          </a:p>
        </p:txBody>
      </p:sp>
      <p:sp>
        <p:nvSpPr>
          <p:cNvPr id="24" name="AutoShape 24"/>
          <p:cNvSpPr/>
          <p:nvPr/>
        </p:nvSpPr>
        <p:spPr>
          <a:xfrm>
            <a:off x="4572000" y="1905000"/>
            <a:ext cx="3683000" cy="1460500"/>
          </a:xfrm>
          <a:prstGeom prst="roundRect">
            <a:avLst>
              <a:gd name="adj" fmla="val 0"/>
            </a:avLst>
          </a:prstGeom>
          <a:solidFill>
            <a:srgbClr val="F0FDF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4572000" y="1905000"/>
            <a:ext cx="76200" cy="1460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4762500" y="2032000"/>
            <a:ext cx="76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10B981">
                    <a:alpha val="40000"/>
                  </a:srgbClr>
                </a:solidFill>
                <a:latin typeface="Noto Sans SC"/>
                <a:ea typeface="Noto Sans SC"/>
                <a:cs typeface="Noto Sans SC"/>
                <a:sym typeface="Noto Sans SC"/>
              </a:rPr>
              <a:t>04</a:t>
            </a:r>
            <a:endParaRPr lang="en-US" sz="1100"/>
          </a:p>
        </p:txBody>
      </p:sp>
      <p:sp>
        <p:nvSpPr>
          <p:cNvPr id="27" name="AutoShape 27"/>
          <p:cNvSpPr/>
          <p:nvPr/>
        </p:nvSpPr>
        <p:spPr>
          <a:xfrm>
            <a:off x="5588000" y="20320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64E3B"/>
                </a:solidFill>
                <a:latin typeface="Noto Sans SC"/>
                <a:ea typeface="Noto Sans SC"/>
                <a:cs typeface="Noto Sans SC"/>
                <a:sym typeface="Noto Sans SC"/>
              </a:rPr>
              <a:t>数据获取及分析</a:t>
            </a:r>
            <a:endParaRPr lang="en-US" sz="1100"/>
          </a:p>
        </p:txBody>
      </p:sp>
      <p:cxnSp>
        <p:nvCxnSpPr>
          <p:cNvPr id="28" name="Connector 28"/>
          <p:cNvCxnSpPr/>
          <p:nvPr/>
        </p:nvCxnSpPr>
        <p:spPr>
          <a:xfrm rot="-12972">
            <a:off x="4762512" y="2660650"/>
            <a:ext cx="3365500" cy="12700"/>
          </a:xfrm>
          <a:prstGeom prst="straightConnector1">
            <a:avLst/>
          </a:prstGeom>
          <a:solidFill>
            <a:srgbClr val="DEE0E3">
              <a:alpha val="100000"/>
            </a:srgbClr>
          </a:solidFill>
          <a:ln w="12700" cap="flat" cmpd="sng">
            <a:solidFill>
              <a:srgbClr val="10B981">
                <a:alpha val="20000"/>
              </a:srgbClr>
            </a:solidFill>
            <a:prstDash val="dash"/>
            <a:round/>
            <a:headEnd type="none" w="med" len="med"/>
            <a:tailEnd type="none" w="med" len="med"/>
          </a:ln>
        </p:spPr>
      </p:cxnSp>
      <p:sp>
        <p:nvSpPr>
          <p:cNvPr id="29" name="AutoShape 29"/>
          <p:cNvSpPr/>
          <p:nvPr/>
        </p:nvSpPr>
        <p:spPr>
          <a:xfrm>
            <a:off x="4762500" y="2794000"/>
            <a:ext cx="33655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475569"/>
                </a:solidFill>
                <a:latin typeface="Noto Sans SC"/>
                <a:ea typeface="Noto Sans SC"/>
                <a:cs typeface="Noto Sans SC"/>
                <a:sym typeface="Noto Sans SC"/>
              </a:rPr>
              <a:t>构建多源异构数据采集体系，运用统计学与可视化方法清洗数据，深度挖掘数据背后的核心规律。</a:t>
            </a:r>
            <a:endParaRPr lang="en-US" sz="1100"/>
          </a:p>
        </p:txBody>
      </p:sp>
      <p:sp>
        <p:nvSpPr>
          <p:cNvPr id="30" name="AutoShape 30"/>
          <p:cNvSpPr/>
          <p:nvPr/>
        </p:nvSpPr>
        <p:spPr>
          <a:xfrm>
            <a:off x="4572000" y="3556000"/>
            <a:ext cx="3683000" cy="1460500"/>
          </a:xfrm>
          <a:prstGeom prst="roundRect">
            <a:avLst>
              <a:gd name="adj" fmla="val 0"/>
            </a:avLst>
          </a:prstGeom>
          <a:solidFill>
            <a:srgbClr val="F0FDF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AutoShape 31"/>
          <p:cNvSpPr/>
          <p:nvPr/>
        </p:nvSpPr>
        <p:spPr>
          <a:xfrm>
            <a:off x="4572000" y="3556000"/>
            <a:ext cx="76200" cy="1460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AutoShape 32"/>
          <p:cNvSpPr/>
          <p:nvPr/>
        </p:nvSpPr>
        <p:spPr>
          <a:xfrm>
            <a:off x="4762500" y="3683000"/>
            <a:ext cx="76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10B981">
                    <a:alpha val="40000"/>
                  </a:srgbClr>
                </a:solidFill>
                <a:latin typeface="Noto Sans SC"/>
                <a:ea typeface="Noto Sans SC"/>
                <a:cs typeface="Noto Sans SC"/>
                <a:sym typeface="Noto Sans SC"/>
              </a:rPr>
              <a:t>05</a:t>
            </a:r>
            <a:endParaRPr lang="en-US" sz="1100"/>
          </a:p>
        </p:txBody>
      </p:sp>
      <p:sp>
        <p:nvSpPr>
          <p:cNvPr id="33" name="AutoShape 33"/>
          <p:cNvSpPr/>
          <p:nvPr/>
        </p:nvSpPr>
        <p:spPr>
          <a:xfrm>
            <a:off x="5588000" y="36830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64E3B"/>
                </a:solidFill>
                <a:latin typeface="Noto Sans SC"/>
                <a:ea typeface="Noto Sans SC"/>
                <a:cs typeface="Noto Sans SC"/>
                <a:sym typeface="Noto Sans SC"/>
              </a:rPr>
              <a:t>系统设计与实现</a:t>
            </a:r>
            <a:endParaRPr lang="en-US" sz="1100"/>
          </a:p>
        </p:txBody>
      </p:sp>
      <p:cxnSp>
        <p:nvCxnSpPr>
          <p:cNvPr id="34" name="Connector 34"/>
          <p:cNvCxnSpPr/>
          <p:nvPr/>
        </p:nvCxnSpPr>
        <p:spPr>
          <a:xfrm rot="-12972">
            <a:off x="4762512" y="4311650"/>
            <a:ext cx="3365500" cy="12700"/>
          </a:xfrm>
          <a:prstGeom prst="straightConnector1">
            <a:avLst/>
          </a:prstGeom>
          <a:solidFill>
            <a:srgbClr val="DEE0E3">
              <a:alpha val="100000"/>
            </a:srgbClr>
          </a:solidFill>
          <a:ln w="12700" cap="flat" cmpd="sng">
            <a:solidFill>
              <a:srgbClr val="10B981">
                <a:alpha val="20000"/>
              </a:srgbClr>
            </a:solidFill>
            <a:prstDash val="dash"/>
            <a:round/>
            <a:headEnd type="none" w="med" len="med"/>
            <a:tailEnd type="none" w="med" len="med"/>
          </a:ln>
        </p:spPr>
      </p:cxnSp>
      <p:sp>
        <p:nvSpPr>
          <p:cNvPr id="35" name="AutoShape 35"/>
          <p:cNvSpPr/>
          <p:nvPr/>
        </p:nvSpPr>
        <p:spPr>
          <a:xfrm>
            <a:off x="4762500" y="4445000"/>
            <a:ext cx="33655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475569"/>
                </a:solidFill>
                <a:latin typeface="Noto Sans SC"/>
                <a:ea typeface="Noto Sans SC"/>
                <a:cs typeface="Noto Sans SC"/>
                <a:sym typeface="Noto Sans SC"/>
              </a:rPr>
              <a:t>完成系统总体架构与功能模块的详细设计，落地核心功能开发与集成测试，确保系统稳定运行。</a:t>
            </a:r>
            <a:endParaRPr lang="en-US" sz="1100"/>
          </a:p>
        </p:txBody>
      </p:sp>
      <p:sp>
        <p:nvSpPr>
          <p:cNvPr id="36" name="AutoShape 36"/>
          <p:cNvSpPr/>
          <p:nvPr/>
        </p:nvSpPr>
        <p:spPr>
          <a:xfrm>
            <a:off x="4572000" y="5207000"/>
            <a:ext cx="3683000" cy="1333500"/>
          </a:xfrm>
          <a:prstGeom prst="roundRect">
            <a:avLst>
              <a:gd name="adj" fmla="val 0"/>
            </a:avLst>
          </a:prstGeom>
          <a:solidFill>
            <a:srgbClr val="F0FDF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7" name="AutoShape 37"/>
          <p:cNvSpPr/>
          <p:nvPr/>
        </p:nvSpPr>
        <p:spPr>
          <a:xfrm>
            <a:off x="4572000" y="5207000"/>
            <a:ext cx="76200" cy="1333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8" name="AutoShape 38"/>
          <p:cNvSpPr/>
          <p:nvPr/>
        </p:nvSpPr>
        <p:spPr>
          <a:xfrm>
            <a:off x="4762500" y="5334000"/>
            <a:ext cx="76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10B981">
                    <a:alpha val="40000"/>
                  </a:srgbClr>
                </a:solidFill>
                <a:latin typeface="Noto Sans SC"/>
                <a:ea typeface="Noto Sans SC"/>
                <a:cs typeface="Noto Sans SC"/>
                <a:sym typeface="Noto Sans SC"/>
              </a:rPr>
              <a:t>06</a:t>
            </a:r>
            <a:endParaRPr lang="en-US" sz="1100"/>
          </a:p>
        </p:txBody>
      </p:sp>
      <p:sp>
        <p:nvSpPr>
          <p:cNvPr id="39" name="AutoShape 39"/>
          <p:cNvSpPr/>
          <p:nvPr/>
        </p:nvSpPr>
        <p:spPr>
          <a:xfrm>
            <a:off x="5588000" y="53340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64E3B"/>
                </a:solidFill>
                <a:latin typeface="Noto Sans SC"/>
                <a:ea typeface="Noto Sans SC"/>
                <a:cs typeface="Noto Sans SC"/>
                <a:sym typeface="Noto Sans SC"/>
              </a:rPr>
              <a:t>总结与展望</a:t>
            </a:r>
            <a:endParaRPr lang="en-US" sz="1100"/>
          </a:p>
        </p:txBody>
      </p:sp>
      <p:cxnSp>
        <p:nvCxnSpPr>
          <p:cNvPr id="40" name="Connector 40"/>
          <p:cNvCxnSpPr/>
          <p:nvPr/>
        </p:nvCxnSpPr>
        <p:spPr>
          <a:xfrm rot="-12972">
            <a:off x="4762512" y="5835650"/>
            <a:ext cx="3365500" cy="12700"/>
          </a:xfrm>
          <a:prstGeom prst="straightConnector1">
            <a:avLst/>
          </a:prstGeom>
          <a:solidFill>
            <a:srgbClr val="DEE0E3">
              <a:alpha val="100000"/>
            </a:srgbClr>
          </a:solidFill>
          <a:ln w="12700" cap="flat" cmpd="sng">
            <a:solidFill>
              <a:srgbClr val="10B981">
                <a:alpha val="20000"/>
              </a:srgbClr>
            </a:solidFill>
            <a:prstDash val="dash"/>
            <a:round/>
            <a:headEnd type="none" w="med" len="med"/>
            <a:tailEnd type="none" w="med" len="med"/>
          </a:ln>
        </p:spPr>
      </p:cxnSp>
      <p:sp>
        <p:nvSpPr>
          <p:cNvPr id="41" name="AutoShape 41"/>
          <p:cNvSpPr/>
          <p:nvPr/>
        </p:nvSpPr>
        <p:spPr>
          <a:xfrm>
            <a:off x="4762500" y="5943600"/>
            <a:ext cx="33655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475569"/>
                </a:solidFill>
                <a:latin typeface="Noto Sans SC"/>
                <a:ea typeface="Noto Sans SC"/>
                <a:cs typeface="Noto Sans SC"/>
                <a:sym typeface="Noto Sans SC"/>
              </a:rPr>
              <a:t>全面复盘项目成果与待优化点，结合行业前沿趋势，对系统的迭代升级方向进行前瞻性规划。</a:t>
            </a:r>
            <a:endParaRPr lang="en-US" sz="1100"/>
          </a:p>
        </p:txBody>
      </p:sp>
      <p:sp>
        <p:nvSpPr>
          <p:cNvPr id="42" name="AutoShape 42"/>
          <p:cNvSpPr/>
          <p:nvPr/>
        </p:nvSpPr>
        <p:spPr>
          <a:xfrm>
            <a:off x="8509000" y="1905000"/>
            <a:ext cx="3175000" cy="1460500"/>
          </a:xfrm>
          <a:prstGeom prst="roundRect">
            <a:avLst>
              <a:gd name="adj" fmla="val 0"/>
            </a:avLst>
          </a:prstGeom>
          <a:solidFill>
            <a:srgbClr val="FFFBEB">
              <a:alpha val="100000"/>
            </a:srgbClr>
          </a:solidFill>
          <a:ln w="12700" cap="flat" cmpd="sng">
            <a:solidFill>
              <a:srgbClr val="FCD34D">
                <a:alpha val="50000"/>
              </a:srgbClr>
            </a:solidFill>
            <a:prstDash val="solid"/>
            <a:round/>
          </a:ln>
        </p:spPr>
        <p:txBody>
          <a:bodyPr vert="horz" wrap="square" lIns="63500" tIns="63500" rIns="63500" bIns="63500" rtlCol="0" anchor="ctr"/>
          <a:lstStyle/>
          <a:p>
            <a:pPr algn="ctr">
              <a:defRPr/>
            </a:pPr>
            <a:endParaRPr/>
          </a:p>
        </p:txBody>
      </p:sp>
      <p:pic>
        <p:nvPicPr>
          <p:cNvPr id="43" name="Picture 4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99500" y="2095500"/>
            <a:ext cx="609600" cy="609600"/>
          </a:xfrm>
          <a:prstGeom prst="rect">
            <a:avLst/>
          </a:prstGeom>
        </p:spPr>
      </p:pic>
      <p:sp>
        <p:nvSpPr>
          <p:cNvPr id="44" name="AutoShape 44"/>
          <p:cNvSpPr/>
          <p:nvPr/>
        </p:nvSpPr>
        <p:spPr>
          <a:xfrm>
            <a:off x="9525000" y="2095500"/>
            <a:ext cx="2032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B45309"/>
                </a:solidFill>
                <a:latin typeface="Noto Sans SC"/>
                <a:ea typeface="Noto Sans SC"/>
                <a:cs typeface="Noto Sans SC"/>
                <a:sym typeface="Noto Sans SC"/>
              </a:rPr>
              <a:t>数据驱动决策</a:t>
            </a:r>
            <a:endParaRPr lang="en-US" sz="1100"/>
          </a:p>
          <a:p>
            <a:pPr indent="0" algn="l">
              <a:lnSpc>
                <a:spcPct val="108333"/>
              </a:lnSpc>
            </a:pPr>
            <a:r>
              <a:rPr lang="en-US" sz="1200" b="0" i="0" u="none" strike="noStrike">
                <a:solidFill>
                  <a:srgbClr val="92400E"/>
                </a:solidFill>
                <a:latin typeface="Noto Sans SC"/>
                <a:ea typeface="Noto Sans SC"/>
                <a:cs typeface="Noto Sans SC"/>
                <a:sym typeface="Noto Sans SC"/>
              </a:rPr>
              <a:t>以多维度数据分析为核心，为系统设计提供科学依据，确保方案的客观性与有效性。</a:t>
            </a:r>
          </a:p>
        </p:txBody>
      </p:sp>
      <p:sp>
        <p:nvSpPr>
          <p:cNvPr id="45" name="AutoShape 45"/>
          <p:cNvSpPr/>
          <p:nvPr/>
        </p:nvSpPr>
        <p:spPr>
          <a:xfrm>
            <a:off x="8509000" y="3556000"/>
            <a:ext cx="3175000" cy="1460500"/>
          </a:xfrm>
          <a:prstGeom prst="roundRect">
            <a:avLst>
              <a:gd name="adj" fmla="val 0"/>
            </a:avLst>
          </a:prstGeom>
          <a:solidFill>
            <a:srgbClr val="FAF5FF">
              <a:alpha val="100000"/>
            </a:srgbClr>
          </a:solidFill>
          <a:ln w="12700" cap="flat" cmpd="sng">
            <a:solidFill>
              <a:srgbClr val="A78BFA">
                <a:alpha val="50000"/>
              </a:srgbClr>
            </a:solidFill>
            <a:prstDash val="solid"/>
            <a:round/>
          </a:ln>
        </p:spPr>
        <p:txBody>
          <a:bodyPr vert="horz" wrap="square" lIns="63500" tIns="63500" rIns="63500" bIns="63500" rtlCol="0" anchor="ctr"/>
          <a:lstStyle/>
          <a:p>
            <a:pPr algn="ctr">
              <a:defRPr/>
            </a:pPr>
            <a:endParaRPr/>
          </a:p>
        </p:txBody>
      </p:sp>
      <p:pic>
        <p:nvPicPr>
          <p:cNvPr id="46" name="Picture 4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699500" y="3746500"/>
            <a:ext cx="609600" cy="609600"/>
          </a:xfrm>
          <a:prstGeom prst="rect">
            <a:avLst/>
          </a:prstGeom>
        </p:spPr>
      </p:pic>
      <p:sp>
        <p:nvSpPr>
          <p:cNvPr id="47" name="AutoShape 47"/>
          <p:cNvSpPr/>
          <p:nvPr/>
        </p:nvSpPr>
        <p:spPr>
          <a:xfrm>
            <a:off x="9525000" y="3746500"/>
            <a:ext cx="2032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6D28D9"/>
                </a:solidFill>
                <a:latin typeface="Noto Sans SC"/>
                <a:ea typeface="Noto Sans SC"/>
                <a:cs typeface="Noto Sans SC"/>
                <a:sym typeface="Noto Sans SC"/>
              </a:rPr>
              <a:t>架构体系闭环</a:t>
            </a:r>
            <a:endParaRPr lang="en-US" sz="1100"/>
          </a:p>
          <a:p>
            <a:pPr indent="0" algn="l">
              <a:lnSpc>
                <a:spcPct val="108333"/>
              </a:lnSpc>
            </a:pPr>
            <a:r>
              <a:rPr lang="en-US" sz="1200" b="0" i="0" u="none" strike="noStrike">
                <a:solidFill>
                  <a:srgbClr val="5B21B6"/>
                </a:solidFill>
                <a:latin typeface="Noto Sans SC"/>
                <a:ea typeface="Noto Sans SC"/>
                <a:cs typeface="Noto Sans SC"/>
                <a:sym typeface="Noto Sans SC"/>
              </a:rPr>
              <a:t>从理论到落地，构建完整的系统架构闭环，保障业务流程的顺畅衔接与功能的高效实现。</a:t>
            </a:r>
          </a:p>
        </p:txBody>
      </p:sp>
      <p:sp>
        <p:nvSpPr>
          <p:cNvPr id="48" name="AutoShape 48"/>
          <p:cNvSpPr/>
          <p:nvPr/>
        </p:nvSpPr>
        <p:spPr>
          <a:xfrm>
            <a:off x="8509000" y="5207000"/>
            <a:ext cx="3175000" cy="1333500"/>
          </a:xfrm>
          <a:prstGeom prst="roundRect">
            <a:avLst>
              <a:gd name="adj" fmla="val 0"/>
            </a:avLst>
          </a:prstGeom>
          <a:solidFill>
            <a:srgbClr val="ECFEFF">
              <a:alpha val="100000"/>
            </a:srgbClr>
          </a:solidFill>
          <a:ln w="12700" cap="flat" cmpd="sng">
            <a:solidFill>
              <a:srgbClr val="06B6D4">
                <a:alpha val="50000"/>
              </a:srgbClr>
            </a:solidFill>
            <a:prstDash val="solid"/>
            <a:round/>
          </a:ln>
        </p:spPr>
        <p:txBody>
          <a:bodyPr vert="horz" wrap="square" lIns="63500" tIns="63500" rIns="63500" bIns="63500" rtlCol="0" anchor="ctr"/>
          <a:lstStyle/>
          <a:p>
            <a:pPr algn="ctr">
              <a:defRPr/>
            </a:pPr>
            <a:endParaRPr/>
          </a:p>
        </p:txBody>
      </p:sp>
      <p:pic>
        <p:nvPicPr>
          <p:cNvPr id="49" name="Picture 4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699500" y="5397500"/>
            <a:ext cx="609600" cy="609600"/>
          </a:xfrm>
          <a:prstGeom prst="rect">
            <a:avLst/>
          </a:prstGeom>
        </p:spPr>
      </p:pic>
      <p:sp>
        <p:nvSpPr>
          <p:cNvPr id="50" name="AutoShape 50"/>
          <p:cNvSpPr/>
          <p:nvPr/>
        </p:nvSpPr>
        <p:spPr>
          <a:xfrm>
            <a:off x="9525000" y="5397500"/>
            <a:ext cx="2032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55E75"/>
                </a:solidFill>
                <a:latin typeface="Noto Sans SC"/>
                <a:ea typeface="Noto Sans SC"/>
                <a:cs typeface="Noto Sans SC"/>
                <a:sym typeface="Noto Sans SC"/>
              </a:rPr>
              <a:t>持续迭代演进</a:t>
            </a:r>
            <a:endParaRPr lang="en-US" sz="1100"/>
          </a:p>
          <a:p>
            <a:pPr indent="0" algn="l">
              <a:lnSpc>
                <a:spcPct val="108333"/>
              </a:lnSpc>
            </a:pPr>
            <a:r>
              <a:rPr lang="en-US" sz="1200" b="0" i="0" u="none" strike="noStrike">
                <a:solidFill>
                  <a:srgbClr val="0F4C5C"/>
                </a:solidFill>
                <a:latin typeface="Noto Sans SC"/>
                <a:ea typeface="Noto Sans SC"/>
                <a:cs typeface="Noto Sans SC"/>
                <a:sym typeface="Noto Sans SC"/>
              </a:rPr>
              <a:t>立足当下成果，放眼未来趋势，探索系统功能的持续扩展与智能化升级路径。</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F0F8FF">
                <a:alpha val="100000"/>
              </a:srgbClr>
            </a:gs>
            <a:gs pos="100000">
              <a:srgbClr val="FFFCF5">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508000" y="381000"/>
            <a:ext cx="11176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项目背景与研究意义</a:t>
            </a:r>
            <a:endParaRPr lang="en-US" sz="1100"/>
          </a:p>
        </p:txBody>
      </p:sp>
      <p:sp>
        <p:nvSpPr>
          <p:cNvPr id="3" name="AutoShape 3"/>
          <p:cNvSpPr/>
          <p:nvPr/>
        </p:nvSpPr>
        <p:spPr>
          <a:xfrm>
            <a:off x="508000" y="1143000"/>
            <a:ext cx="11176000" cy="25400"/>
          </a:xfrm>
          <a:prstGeom prst="roundRect">
            <a:avLst>
              <a:gd name="adj" fmla="val 0"/>
            </a:avLst>
          </a:prstGeom>
          <a:solidFill>
            <a:srgbClr val="3B82F6">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508000" y="1651000"/>
            <a:ext cx="53975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B82F6"/>
                </a:solidFill>
                <a:latin typeface="Noto Sans SC"/>
                <a:ea typeface="Noto Sans SC"/>
                <a:cs typeface="Noto Sans SC"/>
                <a:sym typeface="Noto Sans SC"/>
              </a:rPr>
              <a:t>01 / 现实困境：旅游数据与用户需求的矛盾</a:t>
            </a:r>
            <a:endParaRPr lang="en-US" sz="1100"/>
          </a:p>
        </p:txBody>
      </p:sp>
      <p:sp>
        <p:nvSpPr>
          <p:cNvPr id="5" name="AutoShape 5"/>
          <p:cNvSpPr/>
          <p:nvPr/>
        </p:nvSpPr>
        <p:spPr>
          <a:xfrm>
            <a:off x="508000" y="2540000"/>
            <a:ext cx="5397500" cy="1714500"/>
          </a:xfrm>
          <a:prstGeom prst="roundRect">
            <a:avLst>
              <a:gd name="adj" fmla="val 0"/>
            </a:avLst>
          </a:prstGeom>
          <a:solidFill>
            <a:srgbClr val="DBEAFE">
              <a:alpha val="50000"/>
            </a:srgbClr>
          </a:solidFill>
          <a:ln cap="flat" cmpd="sng">
            <a:solidFill>
              <a:srgbClr val="AEC5E5">
                <a:alpha val="5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508000" y="2540000"/>
            <a:ext cx="76200" cy="17145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2000" y="2730500"/>
            <a:ext cx="609600" cy="609600"/>
          </a:xfrm>
          <a:prstGeom prst="rect">
            <a:avLst/>
          </a:prstGeom>
        </p:spPr>
      </p:pic>
      <p:sp>
        <p:nvSpPr>
          <p:cNvPr id="8" name="AutoShape 8"/>
          <p:cNvSpPr/>
          <p:nvPr/>
        </p:nvSpPr>
        <p:spPr>
          <a:xfrm>
            <a:off x="1651000" y="2667000"/>
            <a:ext cx="4000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数据爆炸与呈现形式的割裂</a:t>
            </a:r>
            <a:endParaRPr lang="en-US" sz="1100"/>
          </a:p>
        </p:txBody>
      </p:sp>
      <p:cxnSp>
        <p:nvCxnSpPr>
          <p:cNvPr id="9" name="Connector 9"/>
          <p:cNvCxnSpPr/>
          <p:nvPr/>
        </p:nvCxnSpPr>
        <p:spPr>
          <a:xfrm rot="-10913">
            <a:off x="1651010" y="3168650"/>
            <a:ext cx="4000500" cy="12700"/>
          </a:xfrm>
          <a:prstGeom prst="straightConnector1">
            <a:avLst/>
          </a:prstGeom>
          <a:solidFill>
            <a:srgbClr val="DEE0E3">
              <a:alpha val="100000"/>
            </a:srgbClr>
          </a:solidFill>
          <a:ln w="12700" cap="flat" cmpd="sng">
            <a:solidFill>
              <a:srgbClr val="3B82F6">
                <a:alpha val="20000"/>
              </a:srgbClr>
            </a:solidFill>
            <a:prstDash val="solid"/>
            <a:round/>
            <a:headEnd type="none" w="med" len="med"/>
            <a:tailEnd type="none" w="med" len="med"/>
          </a:ln>
        </p:spPr>
      </p:cxnSp>
      <p:sp>
        <p:nvSpPr>
          <p:cNvPr id="10" name="AutoShape 10"/>
          <p:cNvSpPr/>
          <p:nvPr/>
        </p:nvSpPr>
        <p:spPr>
          <a:xfrm>
            <a:off x="1651000" y="3302000"/>
            <a:ext cx="4000500" cy="825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a:solidFill>
                  <a:srgbClr val="4B5563"/>
                </a:solidFill>
                <a:latin typeface="Noto Sans SC"/>
                <a:ea typeface="Noto Sans SC"/>
                <a:cs typeface="Noto Sans SC"/>
                <a:sym typeface="Noto Sans SC"/>
              </a:rPr>
              <a:t>旅游行业产生海量异构数据，但传统平台多以表格、列表形式展示，缺乏多维度的关联分析。信息碎片化严重，用户难以从庞杂的数据中直观发现规律，获取有效价值。</a:t>
            </a:r>
            <a:endParaRPr lang="en-US" sz="1100"/>
          </a:p>
        </p:txBody>
      </p:sp>
      <p:sp>
        <p:nvSpPr>
          <p:cNvPr id="11" name="AutoShape 11"/>
          <p:cNvSpPr/>
          <p:nvPr/>
        </p:nvSpPr>
        <p:spPr>
          <a:xfrm>
            <a:off x="508000" y="4572000"/>
            <a:ext cx="5397500" cy="1714500"/>
          </a:xfrm>
          <a:prstGeom prst="roundRect">
            <a:avLst>
              <a:gd name="adj" fmla="val 0"/>
            </a:avLst>
          </a:prstGeom>
          <a:solidFill>
            <a:srgbClr val="FEF3C7">
              <a:alpha val="50000"/>
            </a:srgbClr>
          </a:solidFill>
          <a:ln cap="flat" cmpd="sng">
            <a:solidFill>
              <a:srgbClr val="E5D69C">
                <a:alpha val="5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508000" y="4572000"/>
            <a:ext cx="76200" cy="1714500"/>
          </a:xfrm>
          <a:prstGeom prst="roundRect">
            <a:avLst>
              <a:gd name="adj" fmla="val 0"/>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4762500"/>
            <a:ext cx="609600" cy="609600"/>
          </a:xfrm>
          <a:prstGeom prst="rect">
            <a:avLst/>
          </a:prstGeom>
        </p:spPr>
      </p:pic>
      <p:sp>
        <p:nvSpPr>
          <p:cNvPr id="14" name="AutoShape 14"/>
          <p:cNvSpPr/>
          <p:nvPr/>
        </p:nvSpPr>
        <p:spPr>
          <a:xfrm>
            <a:off x="1651000" y="4699000"/>
            <a:ext cx="4000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个性化决策需求的觉醒</a:t>
            </a:r>
            <a:endParaRPr lang="en-US" sz="1100"/>
          </a:p>
        </p:txBody>
      </p:sp>
      <p:cxnSp>
        <p:nvCxnSpPr>
          <p:cNvPr id="15" name="Connector 15"/>
          <p:cNvCxnSpPr/>
          <p:nvPr/>
        </p:nvCxnSpPr>
        <p:spPr>
          <a:xfrm rot="-10913">
            <a:off x="1651010" y="5200650"/>
            <a:ext cx="4000500" cy="12700"/>
          </a:xfrm>
          <a:prstGeom prst="straightConnector1">
            <a:avLst/>
          </a:prstGeom>
          <a:solidFill>
            <a:srgbClr val="DEE0E3">
              <a:alpha val="100000"/>
            </a:srgbClr>
          </a:solidFill>
          <a:ln w="12700" cap="flat" cmpd="sng">
            <a:solidFill>
              <a:srgbClr val="F59E0B">
                <a:alpha val="20000"/>
              </a:srgbClr>
            </a:solidFill>
            <a:prstDash val="solid"/>
            <a:round/>
            <a:headEnd type="none" w="med" len="med"/>
            <a:tailEnd type="none" w="med" len="med"/>
          </a:ln>
        </p:spPr>
      </p:cxnSp>
      <p:sp>
        <p:nvSpPr>
          <p:cNvPr id="16" name="AutoShape 16"/>
          <p:cNvSpPr/>
          <p:nvPr/>
        </p:nvSpPr>
        <p:spPr>
          <a:xfrm>
            <a:off x="1651000" y="5334000"/>
            <a:ext cx="4000500" cy="825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a:solidFill>
                  <a:srgbClr val="4B5563"/>
                </a:solidFill>
                <a:latin typeface="Noto Sans SC"/>
                <a:ea typeface="Noto Sans SC"/>
                <a:cs typeface="Noto Sans SC"/>
                <a:sym typeface="Noto Sans SC"/>
              </a:rPr>
              <a:t>旅行者已不满足于标准化攻略，转向追求深度化、定制化的出行体验。传统的通用推荐无法适配个体偏好，迫切需要基于用户画像与行为分析的智能路线规划与推荐服务。</a:t>
            </a:r>
            <a:endParaRPr lang="en-US" sz="1100"/>
          </a:p>
        </p:txBody>
      </p:sp>
      <p:cxnSp>
        <p:nvCxnSpPr>
          <p:cNvPr id="17" name="Connector 17"/>
          <p:cNvCxnSpPr/>
          <p:nvPr/>
        </p:nvCxnSpPr>
        <p:spPr>
          <a:xfrm rot="5390035">
            <a:off x="4032250" y="4089409"/>
            <a:ext cx="4381500" cy="12700"/>
          </a:xfrm>
          <a:prstGeom prst="straightConnector1">
            <a:avLst/>
          </a:prstGeom>
          <a:solidFill>
            <a:srgbClr val="DEE0E3">
              <a:alpha val="100000"/>
            </a:srgbClr>
          </a:solidFill>
          <a:ln w="12700" cap="flat" cmpd="sng">
            <a:solidFill>
              <a:srgbClr val="9CA3AF">
                <a:alpha val="40000"/>
              </a:srgbClr>
            </a:solidFill>
            <a:prstDash val="dash"/>
            <a:round/>
            <a:headEnd type="none" w="med" len="med"/>
            <a:tailEnd type="none" w="med" len="med"/>
          </a:ln>
        </p:spPr>
      </p:cxnSp>
      <p:sp>
        <p:nvSpPr>
          <p:cNvPr id="18" name="AutoShape 18"/>
          <p:cNvSpPr/>
          <p:nvPr/>
        </p:nvSpPr>
        <p:spPr>
          <a:xfrm>
            <a:off x="6477000" y="1651000"/>
            <a:ext cx="520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0B981"/>
                </a:solidFill>
                <a:latin typeface="Noto Sans SC"/>
                <a:ea typeface="Noto Sans SC"/>
                <a:cs typeface="Noto Sans SC"/>
                <a:sym typeface="Noto Sans SC"/>
              </a:rPr>
              <a:t>02 / 研究价值：构建智慧旅游决策新范式</a:t>
            </a:r>
            <a:endParaRPr lang="en-US" sz="1100"/>
          </a:p>
        </p:txBody>
      </p:sp>
      <p:sp>
        <p:nvSpPr>
          <p:cNvPr id="19" name="AutoShape 19"/>
          <p:cNvSpPr/>
          <p:nvPr/>
        </p:nvSpPr>
        <p:spPr>
          <a:xfrm>
            <a:off x="6477000" y="2540000"/>
            <a:ext cx="5207000" cy="1714500"/>
          </a:xfrm>
          <a:prstGeom prst="roundRect">
            <a:avLst>
              <a:gd name="adj" fmla="val 0"/>
            </a:avLst>
          </a:prstGeom>
          <a:solidFill>
            <a:srgbClr val="D1FAE5">
              <a:alpha val="50000"/>
            </a:srgbClr>
          </a:solidFill>
          <a:ln cap="flat" cmpd="sng">
            <a:solidFill>
              <a:srgbClr val="A5E1C2">
                <a:alpha val="50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6477000" y="2540000"/>
            <a:ext cx="76200" cy="1714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31000" y="2730500"/>
            <a:ext cx="609600" cy="609600"/>
          </a:xfrm>
          <a:prstGeom prst="rect">
            <a:avLst/>
          </a:prstGeom>
        </p:spPr>
      </p:pic>
      <p:sp>
        <p:nvSpPr>
          <p:cNvPr id="22" name="AutoShape 22"/>
          <p:cNvSpPr/>
          <p:nvPr/>
        </p:nvSpPr>
        <p:spPr>
          <a:xfrm>
            <a:off x="7620000" y="26670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一体化智能决策系统的构建</a:t>
            </a:r>
            <a:endParaRPr lang="en-US" sz="1100"/>
          </a:p>
        </p:txBody>
      </p:sp>
      <p:cxnSp>
        <p:nvCxnSpPr>
          <p:cNvPr id="23" name="Connector 23"/>
          <p:cNvCxnSpPr/>
          <p:nvPr/>
        </p:nvCxnSpPr>
        <p:spPr>
          <a:xfrm rot="-11459">
            <a:off x="7620011" y="3168650"/>
            <a:ext cx="3810000" cy="12700"/>
          </a:xfrm>
          <a:prstGeom prst="straightConnector1">
            <a:avLst/>
          </a:prstGeom>
          <a:solidFill>
            <a:srgbClr val="DEE0E3">
              <a:alpha val="100000"/>
            </a:srgbClr>
          </a:solidFill>
          <a:ln w="12700" cap="flat" cmpd="sng">
            <a:solidFill>
              <a:srgbClr val="10B981">
                <a:alpha val="20000"/>
              </a:srgbClr>
            </a:solidFill>
            <a:prstDash val="solid"/>
            <a:round/>
            <a:headEnd type="none" w="med" len="med"/>
            <a:tailEnd type="none" w="med" len="med"/>
          </a:ln>
        </p:spPr>
      </p:cxnSp>
      <p:sp>
        <p:nvSpPr>
          <p:cNvPr id="24" name="AutoShape 24"/>
          <p:cNvSpPr/>
          <p:nvPr/>
        </p:nvSpPr>
        <p:spPr>
          <a:xfrm>
            <a:off x="7620000" y="3302000"/>
            <a:ext cx="3810000" cy="825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a:solidFill>
                  <a:srgbClr val="4B5563"/>
                </a:solidFill>
                <a:latin typeface="Noto Sans SC"/>
                <a:ea typeface="Noto Sans SC"/>
                <a:cs typeface="Noto Sans SC"/>
                <a:sym typeface="Noto Sans SC"/>
              </a:rPr>
              <a:t>融合数据可视化与深度挖掘技术，打造集“探索-对比-推荐-规划”于一体的闭环系统。通过可视化交互界面，将晦涩数据转化为直观的图形语言，降低信息获取门槛。</a:t>
            </a:r>
            <a:endParaRPr lang="en-US" sz="1100"/>
          </a:p>
        </p:txBody>
      </p:sp>
      <p:sp>
        <p:nvSpPr>
          <p:cNvPr id="25" name="AutoShape 25"/>
          <p:cNvSpPr/>
          <p:nvPr/>
        </p:nvSpPr>
        <p:spPr>
          <a:xfrm>
            <a:off x="6477000" y="4572000"/>
            <a:ext cx="5207000" cy="1714500"/>
          </a:xfrm>
          <a:prstGeom prst="roundRect">
            <a:avLst>
              <a:gd name="adj" fmla="val 0"/>
            </a:avLst>
          </a:prstGeom>
          <a:solidFill>
            <a:srgbClr val="EDE9FE">
              <a:alpha val="50000"/>
            </a:srgbClr>
          </a:solidFill>
          <a:ln cap="flat" cmpd="sng">
            <a:solidFill>
              <a:srgbClr val="C3BBE5">
                <a:alpha val="50000"/>
              </a:srgbClr>
            </a:solid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6477000" y="4572000"/>
            <a:ext cx="76200" cy="1714500"/>
          </a:xfrm>
          <a:prstGeom prst="roundRect">
            <a:avLst>
              <a:gd name="adj" fmla="val 0"/>
            </a:avLst>
          </a:prstGeom>
          <a:solidFill>
            <a:srgbClr val="8B5C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7" name="Picture 2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731000" y="4762500"/>
            <a:ext cx="609600" cy="609600"/>
          </a:xfrm>
          <a:prstGeom prst="rect">
            <a:avLst/>
          </a:prstGeom>
        </p:spPr>
      </p:pic>
      <p:sp>
        <p:nvSpPr>
          <p:cNvPr id="28" name="AutoShape 28"/>
          <p:cNvSpPr/>
          <p:nvPr/>
        </p:nvSpPr>
        <p:spPr>
          <a:xfrm>
            <a:off x="7620000" y="46990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效率提升与行业实践的双重赋能</a:t>
            </a:r>
            <a:endParaRPr lang="en-US" sz="1100"/>
          </a:p>
        </p:txBody>
      </p:sp>
      <p:cxnSp>
        <p:nvCxnSpPr>
          <p:cNvPr id="29" name="Connector 29"/>
          <p:cNvCxnSpPr/>
          <p:nvPr/>
        </p:nvCxnSpPr>
        <p:spPr>
          <a:xfrm rot="-11459">
            <a:off x="7620011" y="5200650"/>
            <a:ext cx="3810000" cy="12700"/>
          </a:xfrm>
          <a:prstGeom prst="straightConnector1">
            <a:avLst/>
          </a:prstGeom>
          <a:solidFill>
            <a:srgbClr val="DEE0E3">
              <a:alpha val="100000"/>
            </a:srgbClr>
          </a:solidFill>
          <a:ln w="12700" cap="flat" cmpd="sng">
            <a:solidFill>
              <a:srgbClr val="8B5CF6">
                <a:alpha val="20000"/>
              </a:srgbClr>
            </a:solidFill>
            <a:prstDash val="solid"/>
            <a:round/>
            <a:headEnd type="none" w="med" len="med"/>
            <a:tailEnd type="none" w="med" len="med"/>
          </a:ln>
        </p:spPr>
      </p:cxnSp>
      <p:sp>
        <p:nvSpPr>
          <p:cNvPr id="30" name="AutoShape 30"/>
          <p:cNvSpPr/>
          <p:nvPr/>
        </p:nvSpPr>
        <p:spPr>
          <a:xfrm>
            <a:off x="7620000" y="5334000"/>
            <a:ext cx="3810000" cy="825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a:solidFill>
                  <a:srgbClr val="4B5563"/>
                </a:solidFill>
                <a:latin typeface="Noto Sans SC"/>
                <a:ea typeface="Noto Sans SC"/>
                <a:cs typeface="Noto Sans SC"/>
                <a:sym typeface="Noto Sans SC"/>
              </a:rPr>
              <a:t>显著缩短用户旅行决策周期，提升决策科学性。同时为智慧旅游平台建设提供技术参考，推动数据分析技术在文旅产业的落地应用，实现技术价值向商业价值的转化。</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1176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329"/>
                </a:solidFill>
                <a:latin typeface="Noto Sans SC"/>
                <a:ea typeface="Noto Sans SC"/>
                <a:cs typeface="Noto Sans SC"/>
                <a:sym typeface="Noto Sans SC"/>
              </a:rPr>
              <a:t>国内外研究现状</a:t>
            </a:r>
            <a:endParaRPr lang="en-US" sz="1100"/>
          </a:p>
        </p:txBody>
      </p:sp>
      <p:cxnSp>
        <p:nvCxnSpPr>
          <p:cNvPr id="3" name="Connector 3"/>
          <p:cNvCxnSpPr/>
          <p:nvPr/>
        </p:nvCxnSpPr>
        <p:spPr>
          <a:xfrm rot="-3906">
            <a:off x="508004" y="1136650"/>
            <a:ext cx="11176000" cy="12700"/>
          </a:xfrm>
          <a:prstGeom prst="line">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4" name="AutoShape 4"/>
          <p:cNvSpPr/>
          <p:nvPr/>
        </p:nvSpPr>
        <p:spPr>
          <a:xfrm>
            <a:off x="508000" y="1397000"/>
            <a:ext cx="5524500" cy="2159000"/>
          </a:xfrm>
          <a:prstGeom prst="roundRect">
            <a:avLst>
              <a:gd name="adj" fmla="val 0"/>
            </a:avLst>
          </a:prstGeom>
          <a:solidFill>
            <a:srgbClr val="3B82F6">
              <a:alpha val="8000"/>
            </a:srgbClr>
          </a:solidFill>
          <a:ln cap="flat" cmpd="sng">
            <a:solidFill>
              <a:srgbClr val="1F67DD">
                <a:alpha val="8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508000" y="1397000"/>
            <a:ext cx="76200" cy="21590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2000" y="1587500"/>
            <a:ext cx="406400" cy="406400"/>
          </a:xfrm>
          <a:prstGeom prst="rect">
            <a:avLst/>
          </a:prstGeom>
        </p:spPr>
      </p:pic>
      <p:sp>
        <p:nvSpPr>
          <p:cNvPr id="7" name="AutoShape 7"/>
          <p:cNvSpPr/>
          <p:nvPr/>
        </p:nvSpPr>
        <p:spPr>
          <a:xfrm>
            <a:off x="1333500" y="1549400"/>
            <a:ext cx="4445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329"/>
                </a:solidFill>
                <a:latin typeface="Noto Sans SC"/>
                <a:ea typeface="Noto Sans SC"/>
                <a:cs typeface="Noto Sans SC"/>
                <a:sym typeface="Noto Sans SC"/>
              </a:rPr>
              <a:t>国外平台：信息富集但交互维度受限</a:t>
            </a:r>
            <a:endParaRPr lang="en-US" sz="1100"/>
          </a:p>
        </p:txBody>
      </p:sp>
      <p:cxnSp>
        <p:nvCxnSpPr>
          <p:cNvPr id="8" name="Connector 8"/>
          <p:cNvCxnSpPr/>
          <p:nvPr/>
        </p:nvCxnSpPr>
        <p:spPr>
          <a:xfrm rot="-8703">
            <a:off x="762008" y="2152650"/>
            <a:ext cx="5016500" cy="12700"/>
          </a:xfrm>
          <a:prstGeom prst="line">
            <a:avLst/>
          </a:prstGeom>
          <a:solidFill>
            <a:srgbClr val="DEE0E3">
              <a:alpha val="100000"/>
            </a:srgbClr>
          </a:solidFill>
          <a:ln w="12700" cap="flat" cmpd="sng">
            <a:solidFill>
              <a:srgbClr val="3B82F6">
                <a:alpha val="20000"/>
              </a:srgbClr>
            </a:solidFill>
            <a:prstDash val="dash"/>
            <a:round/>
            <a:headEnd type="none" w="med" len="med"/>
            <a:tailEnd type="none" w="med" len="med"/>
          </a:ln>
        </p:spPr>
      </p:cxnSp>
      <p:sp>
        <p:nvSpPr>
          <p:cNvPr id="9" name="AutoShape 9"/>
          <p:cNvSpPr/>
          <p:nvPr/>
        </p:nvSpPr>
        <p:spPr>
          <a:xfrm>
            <a:off x="762000" y="2286000"/>
            <a:ext cx="5016500" cy="1143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a:solidFill>
                  <a:srgbClr val="4B5563"/>
                </a:solidFill>
                <a:latin typeface="Noto Sans SC"/>
                <a:ea typeface="Noto Sans SC"/>
                <a:cs typeface="Noto Sans SC"/>
                <a:sym typeface="Noto Sans SC"/>
              </a:rPr>
              <a:t>TripAdvisor、Lonely Planet 等平台积累了海量旅游评价与攻略信息，数据资源丰富。但现有展示形式多以列表、图文为主，可视化维度单一，缺乏对地理空间关系的动态交互展示，用户难以直观感知景点间的空间联系。</a:t>
            </a:r>
            <a:endParaRPr lang="en-US" sz="1100"/>
          </a:p>
        </p:txBody>
      </p:sp>
      <p:sp>
        <p:nvSpPr>
          <p:cNvPr id="10" name="AutoShape 10"/>
          <p:cNvSpPr/>
          <p:nvPr/>
        </p:nvSpPr>
        <p:spPr>
          <a:xfrm>
            <a:off x="6159500" y="1397000"/>
            <a:ext cx="5524500" cy="2159000"/>
          </a:xfrm>
          <a:prstGeom prst="roundRect">
            <a:avLst>
              <a:gd name="adj" fmla="val 0"/>
            </a:avLst>
          </a:prstGeom>
          <a:solidFill>
            <a:srgbClr val="10B981">
              <a:alpha val="8000"/>
            </a:srgbClr>
          </a:solidFill>
          <a:ln cap="flat" cmpd="sng">
            <a:solidFill>
              <a:srgbClr val="00A06B">
                <a:alpha val="8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6159500" y="1397000"/>
            <a:ext cx="76200" cy="21590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13500" y="1587500"/>
            <a:ext cx="406400" cy="406400"/>
          </a:xfrm>
          <a:prstGeom prst="rect">
            <a:avLst/>
          </a:prstGeom>
        </p:spPr>
      </p:pic>
      <p:sp>
        <p:nvSpPr>
          <p:cNvPr id="13" name="AutoShape 13"/>
          <p:cNvSpPr/>
          <p:nvPr/>
        </p:nvSpPr>
        <p:spPr>
          <a:xfrm>
            <a:off x="6985000" y="1549400"/>
            <a:ext cx="4445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329"/>
                </a:solidFill>
                <a:latin typeface="Noto Sans SC"/>
                <a:ea typeface="Noto Sans SC"/>
                <a:cs typeface="Noto Sans SC"/>
                <a:sym typeface="Noto Sans SC"/>
              </a:rPr>
              <a:t>国内平台：功能完善但个性化不足</a:t>
            </a:r>
            <a:endParaRPr lang="en-US" sz="1100"/>
          </a:p>
        </p:txBody>
      </p:sp>
      <p:cxnSp>
        <p:nvCxnSpPr>
          <p:cNvPr id="14" name="Connector 14"/>
          <p:cNvCxnSpPr/>
          <p:nvPr/>
        </p:nvCxnSpPr>
        <p:spPr>
          <a:xfrm rot="-8703">
            <a:off x="6413508" y="2152650"/>
            <a:ext cx="5016500" cy="12700"/>
          </a:xfrm>
          <a:prstGeom prst="line">
            <a:avLst/>
          </a:prstGeom>
          <a:solidFill>
            <a:srgbClr val="DEE0E3">
              <a:alpha val="100000"/>
            </a:srgbClr>
          </a:solidFill>
          <a:ln w="12700" cap="flat" cmpd="sng">
            <a:solidFill>
              <a:srgbClr val="10B981">
                <a:alpha val="20000"/>
              </a:srgbClr>
            </a:solidFill>
            <a:prstDash val="dash"/>
            <a:round/>
            <a:headEnd type="none" w="med" len="med"/>
            <a:tailEnd type="none" w="med" len="med"/>
          </a:ln>
        </p:spPr>
      </p:cxnSp>
      <p:sp>
        <p:nvSpPr>
          <p:cNvPr id="15" name="AutoShape 15"/>
          <p:cNvSpPr/>
          <p:nvPr/>
        </p:nvSpPr>
        <p:spPr>
          <a:xfrm>
            <a:off x="6413500" y="2286000"/>
            <a:ext cx="5016500" cy="1143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a:solidFill>
                  <a:srgbClr val="4B5563"/>
                </a:solidFill>
                <a:latin typeface="Noto Sans SC"/>
                <a:ea typeface="Noto Sans SC"/>
                <a:cs typeface="Noto Sans SC"/>
                <a:sym typeface="Noto Sans SC"/>
              </a:rPr>
              <a:t>马蜂窝、携程等主流平台提供了成熟的筛选与预订功能，但核心推荐算法多基于“热门程度”与“销量排行”，缺乏对用户深层偏好的挖掘。推荐结果同质化严重，难以满足用户日益增长的个性化、定制化路线规划需求。</a:t>
            </a:r>
            <a:endParaRPr lang="en-US" sz="1100"/>
          </a:p>
        </p:txBody>
      </p:sp>
      <p:sp>
        <p:nvSpPr>
          <p:cNvPr id="16" name="AutoShape 16"/>
          <p:cNvSpPr/>
          <p:nvPr/>
        </p:nvSpPr>
        <p:spPr>
          <a:xfrm>
            <a:off x="508000" y="3937000"/>
            <a:ext cx="7112000" cy="2286000"/>
          </a:xfrm>
          <a:prstGeom prst="roundRect">
            <a:avLst>
              <a:gd name="adj" fmla="val 0"/>
            </a:avLst>
          </a:prstGeom>
          <a:solidFill>
            <a:srgbClr val="8B5CF6">
              <a:alpha val="8000"/>
            </a:srgbClr>
          </a:solidFill>
          <a:ln cap="flat" cmpd="sng">
            <a:solidFill>
              <a:srgbClr val="6D3CDD">
                <a:alpha val="8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508000" y="3937000"/>
            <a:ext cx="76200" cy="2286000"/>
          </a:xfrm>
          <a:prstGeom prst="roundRect">
            <a:avLst>
              <a:gd name="adj" fmla="val 0"/>
            </a:avLst>
          </a:prstGeom>
          <a:solidFill>
            <a:srgbClr val="8B5C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62000" y="4127500"/>
            <a:ext cx="406400" cy="406400"/>
          </a:xfrm>
          <a:prstGeom prst="rect">
            <a:avLst/>
          </a:prstGeom>
        </p:spPr>
      </p:pic>
      <p:sp>
        <p:nvSpPr>
          <p:cNvPr id="19" name="AutoShape 19"/>
          <p:cNvSpPr/>
          <p:nvPr/>
        </p:nvSpPr>
        <p:spPr>
          <a:xfrm>
            <a:off x="1333500" y="4089400"/>
            <a:ext cx="5969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329"/>
                </a:solidFill>
                <a:latin typeface="Noto Sans SC"/>
                <a:ea typeface="Noto Sans SC"/>
                <a:cs typeface="Noto Sans SC"/>
                <a:sym typeface="Noto Sans SC"/>
              </a:rPr>
              <a:t>学术前沿：算法应用与约束研究的缺口</a:t>
            </a:r>
            <a:endParaRPr lang="en-US" sz="1100"/>
          </a:p>
        </p:txBody>
      </p:sp>
      <p:cxnSp>
        <p:nvCxnSpPr>
          <p:cNvPr id="20" name="Connector 20"/>
          <p:cNvCxnSpPr/>
          <p:nvPr/>
        </p:nvCxnSpPr>
        <p:spPr>
          <a:xfrm rot="-6611">
            <a:off x="762006" y="4692650"/>
            <a:ext cx="6604000" cy="12700"/>
          </a:xfrm>
          <a:prstGeom prst="line">
            <a:avLst/>
          </a:prstGeom>
          <a:solidFill>
            <a:srgbClr val="DEE0E3">
              <a:alpha val="100000"/>
            </a:srgbClr>
          </a:solidFill>
          <a:ln w="12700" cap="flat" cmpd="sng">
            <a:solidFill>
              <a:srgbClr val="8B5CF6">
                <a:alpha val="20000"/>
              </a:srgbClr>
            </a:solidFill>
            <a:prstDash val="dash"/>
            <a:round/>
            <a:headEnd type="none" w="med" len="med"/>
            <a:tailEnd type="none" w="med" len="med"/>
          </a:ln>
        </p:spPr>
      </p:cxnSp>
      <p:sp>
        <p:nvSpPr>
          <p:cNvPr id="21" name="AutoShape 21"/>
          <p:cNvSpPr/>
          <p:nvPr/>
        </p:nvSpPr>
        <p:spPr>
          <a:xfrm>
            <a:off x="762000" y="4826000"/>
            <a:ext cx="3175000" cy="1206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1" i="0" u="none" strike="noStrike">
                <a:solidFill>
                  <a:srgbClr val="8B5CF6"/>
                </a:solidFill>
                <a:latin typeface="Noto Sans SC"/>
                <a:ea typeface="Noto Sans SC"/>
                <a:cs typeface="Noto Sans SC"/>
                <a:sym typeface="Noto Sans SC"/>
              </a:rPr>
              <a:t>推荐算法方向：</a:t>
            </a:r>
            <a:endParaRPr lang="en-US" sz="1100"/>
          </a:p>
          <a:p>
            <a:pPr indent="0" algn="l">
              <a:lnSpc>
                <a:spcPct val="108333"/>
              </a:lnSpc>
            </a:pPr>
            <a:r>
              <a:rPr lang="en-US" sz="1200" b="0" i="0" u="none" strike="noStrike">
                <a:solidFill>
                  <a:srgbClr val="4B5563"/>
                </a:solidFill>
                <a:latin typeface="Noto Sans SC"/>
                <a:ea typeface="Noto Sans SC"/>
                <a:cs typeface="Noto Sans SC"/>
                <a:sym typeface="Noto Sans SC"/>
              </a:rPr>
              <a:t>协同过滤是目前应用最广泛的技术，但对冷启动问题和稀疏数据处理仍存在局限，结合地理属性的混合推荐成为新趋势。</a:t>
            </a:r>
          </a:p>
        </p:txBody>
      </p:sp>
      <p:cxnSp>
        <p:nvCxnSpPr>
          <p:cNvPr id="22" name="Connector 22"/>
          <p:cNvCxnSpPr/>
          <p:nvPr/>
        </p:nvCxnSpPr>
        <p:spPr>
          <a:xfrm rot="5359557">
            <a:off x="3524250" y="5422937"/>
            <a:ext cx="1079500" cy="12700"/>
          </a:xfrm>
          <a:prstGeom prst="line">
            <a:avLst/>
          </a:prstGeom>
          <a:solidFill>
            <a:srgbClr val="DEE0E3">
              <a:alpha val="100000"/>
            </a:srgbClr>
          </a:solidFill>
          <a:ln w="12700" cap="flat" cmpd="sng">
            <a:solidFill>
              <a:srgbClr val="8B5CF6">
                <a:alpha val="30000"/>
              </a:srgbClr>
            </a:solidFill>
            <a:prstDash val="solid"/>
            <a:round/>
            <a:headEnd type="none" w="med" len="med"/>
            <a:tailEnd type="none" w="med" len="med"/>
          </a:ln>
        </p:spPr>
      </p:cxnSp>
      <p:sp>
        <p:nvSpPr>
          <p:cNvPr id="23" name="AutoShape 23"/>
          <p:cNvSpPr/>
          <p:nvPr/>
        </p:nvSpPr>
        <p:spPr>
          <a:xfrm>
            <a:off x="4191000" y="4826000"/>
            <a:ext cx="3238500" cy="1206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1" i="0" u="none" strike="noStrike">
                <a:solidFill>
                  <a:srgbClr val="8B5CF6"/>
                </a:solidFill>
                <a:latin typeface="Noto Sans SC"/>
                <a:ea typeface="Noto Sans SC"/>
                <a:cs typeface="Noto Sans SC"/>
                <a:sym typeface="Noto Sans SC"/>
              </a:rPr>
              <a:t>路线规划算法：</a:t>
            </a:r>
            <a:endParaRPr lang="en-US" sz="1100"/>
          </a:p>
          <a:p>
            <a:pPr indent="0" algn="l">
              <a:lnSpc>
                <a:spcPct val="108333"/>
              </a:lnSpc>
            </a:pPr>
            <a:r>
              <a:rPr lang="en-US" sz="1200" b="0" i="0" u="none" strike="noStrike">
                <a:solidFill>
                  <a:srgbClr val="4B5563"/>
                </a:solidFill>
                <a:latin typeface="Noto Sans SC"/>
                <a:ea typeface="Noto Sans SC"/>
                <a:cs typeface="Noto Sans SC"/>
                <a:sym typeface="Noto Sans SC"/>
              </a:rPr>
              <a:t>主流采用 Dijkstra 或 A* 算法解决最短路径问题，但针对实际旅行场景中的“大圆弧距离约束”与“多点动态规划”的专项研究仍较少。</a:t>
            </a:r>
          </a:p>
        </p:txBody>
      </p:sp>
      <p:sp>
        <p:nvSpPr>
          <p:cNvPr id="24" name="AutoShape 24"/>
          <p:cNvSpPr/>
          <p:nvPr/>
        </p:nvSpPr>
        <p:spPr>
          <a:xfrm>
            <a:off x="7874000" y="3937000"/>
            <a:ext cx="3810000" cy="2286000"/>
          </a:xfrm>
          <a:prstGeom prst="roundRect">
            <a:avLst>
              <a:gd name="adj" fmla="val 0"/>
            </a:avLst>
          </a:prstGeom>
          <a:gradFill rotWithShape="1">
            <a:gsLst>
              <a:gs pos="0">
                <a:srgbClr val="EA580C">
                  <a:alpha val="100000"/>
                </a:srgbClr>
              </a:gs>
              <a:gs pos="100000">
                <a:srgbClr val="F97316">
                  <a:alpha val="100000"/>
                </a:srgbClr>
              </a:gs>
            </a:gsLst>
            <a:lin ang="2700000"/>
          </a:gradFill>
          <a:ln cap="flat" cmpd="sng">
            <a:gradFill rotWithShape="1">
              <a:gsLst>
                <a:gs pos="0">
                  <a:srgbClr val="D14700">
                    <a:alpha val="100000"/>
                  </a:srgbClr>
                </a:gs>
                <a:gs pos="100000">
                  <a:srgbClr val="E05C00">
                    <a:alpha val="100000"/>
                  </a:srgbClr>
                </a:gs>
              </a:gsLst>
              <a:lin ang="2700000"/>
            </a:gradFill>
            <a:prstDash val="solid"/>
            <a:round/>
          </a:ln>
        </p:spPr>
        <p:txBody>
          <a:bodyPr vert="horz" wrap="square" lIns="63500" tIns="63500" rIns="63500" bIns="63500" rtlCol="0" anchor="ctr"/>
          <a:lstStyle/>
          <a:p>
            <a:pPr algn="ctr">
              <a:defRPr/>
            </a:pPr>
            <a:endParaRPr/>
          </a:p>
        </p:txBody>
      </p:sp>
      <p:pic>
        <p:nvPicPr>
          <p:cNvPr id="25" name="Picture 2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28000" y="4127500"/>
            <a:ext cx="406400" cy="406400"/>
          </a:xfrm>
          <a:prstGeom prst="rect">
            <a:avLst/>
          </a:prstGeom>
        </p:spPr>
      </p:pic>
      <p:sp>
        <p:nvSpPr>
          <p:cNvPr id="26" name="AutoShape 26"/>
          <p:cNvSpPr/>
          <p:nvPr/>
        </p:nvSpPr>
        <p:spPr>
          <a:xfrm>
            <a:off x="8636000" y="4089400"/>
            <a:ext cx="2794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本项目核心创新突破</a:t>
            </a:r>
            <a:endParaRPr lang="en-US" sz="1100"/>
          </a:p>
        </p:txBody>
      </p:sp>
      <p:cxnSp>
        <p:nvCxnSpPr>
          <p:cNvPr id="27" name="Connector 27"/>
          <p:cNvCxnSpPr/>
          <p:nvPr/>
        </p:nvCxnSpPr>
        <p:spPr>
          <a:xfrm rot="-13222">
            <a:off x="8128012" y="4692650"/>
            <a:ext cx="3302000" cy="12700"/>
          </a:xfrm>
          <a:prstGeom prst="line">
            <a:avLst/>
          </a:prstGeom>
          <a:solidFill>
            <a:srgbClr val="DEE0E3">
              <a:alpha val="100000"/>
            </a:srgbClr>
          </a:solidFill>
          <a:ln w="12700" cap="flat" cmpd="sng">
            <a:solidFill>
              <a:srgbClr val="FFFFFF">
                <a:alpha val="40000"/>
              </a:srgbClr>
            </a:solidFill>
            <a:prstDash val="solid"/>
            <a:round/>
            <a:headEnd type="none" w="med" len="med"/>
            <a:tailEnd type="none" w="med" len="med"/>
          </a:ln>
        </p:spPr>
      </p:cxnSp>
      <p:sp>
        <p:nvSpPr>
          <p:cNvPr id="28" name="AutoShape 28"/>
          <p:cNvSpPr/>
          <p:nvPr/>
        </p:nvSpPr>
        <p:spPr>
          <a:xfrm>
            <a:off x="8128000" y="4889500"/>
            <a:ext cx="3302000" cy="1143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FFFFFF">
                    <a:alpha val="94902"/>
                  </a:srgbClr>
                </a:solidFill>
                <a:latin typeface="Noto Sans SC"/>
                <a:ea typeface="Noto Sans SC"/>
                <a:cs typeface="Noto Sans SC"/>
                <a:sym typeface="Noto Sans SC"/>
              </a:rPr>
              <a:t>突破单一维度限制，创新性融合“地理可视化交互展示”、“改进型协同过滤推荐”与“大圆弧距离约束的路线规划”，构建多维度、个性化的智能旅游规划系统。</a:t>
            </a:r>
            <a:endParaRPr lang="en-US" sz="1100"/>
          </a:p>
        </p:txBody>
      </p:sp>
      <p:sp>
        <p:nvSpPr>
          <p:cNvPr id="29" name="AutoShape 29"/>
          <p:cNvSpPr/>
          <p:nvPr/>
        </p:nvSpPr>
        <p:spPr>
          <a:xfrm>
            <a:off x="508000" y="6413500"/>
            <a:ext cx="11176000" cy="3048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0" name="AutoShape 30"/>
          <p:cNvSpPr/>
          <p:nvPr/>
        </p:nvSpPr>
        <p:spPr>
          <a:xfrm>
            <a:off x="508000" y="6413500"/>
            <a:ext cx="11176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6B7280"/>
                </a:solidFill>
                <a:latin typeface="Noto Sans SC"/>
                <a:ea typeface="Noto Sans SC"/>
                <a:cs typeface="Noto Sans SC"/>
                <a:sym typeface="Noto Sans SC"/>
              </a:rPr>
              <a:t>总结：现有研究与应用在数据资源和基础算法上已较为成熟，但在空间交互体验与个性化精准规划的结合上仍有较大提升空间。</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1176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1E3A8A"/>
                </a:solidFill>
                <a:latin typeface="Noto Sans SC"/>
                <a:ea typeface="Noto Sans SC"/>
                <a:cs typeface="Noto Sans SC"/>
                <a:sym typeface="Noto Sans SC"/>
              </a:rPr>
              <a:t>项目研究内容</a:t>
            </a:r>
            <a:endParaRPr lang="en-US" sz="1100"/>
          </a:p>
        </p:txBody>
      </p:sp>
      <p:cxnSp>
        <p:nvCxnSpPr>
          <p:cNvPr id="3" name="Connector 3"/>
          <p:cNvCxnSpPr/>
          <p:nvPr/>
        </p:nvCxnSpPr>
        <p:spPr>
          <a:xfrm rot="-3906">
            <a:off x="508004" y="1073150"/>
            <a:ext cx="11176000" cy="12700"/>
          </a:xfrm>
          <a:prstGeom prst="straightConnector1">
            <a:avLst/>
          </a:prstGeom>
          <a:solidFill>
            <a:srgbClr val="DEE0E3">
              <a:alpha val="100000"/>
            </a:srgbClr>
          </a:solidFill>
          <a:ln w="12700" cap="flat" cmpd="sng">
            <a:solidFill>
              <a:srgbClr val="1E3A8A">
                <a:alpha val="15000"/>
              </a:srgbClr>
            </a:solidFill>
            <a:prstDash val="solid"/>
            <a:round/>
            <a:headEnd type="none" w="med" len="med"/>
            <a:tailEnd type="none" w="med" len="med"/>
          </a:ln>
        </p:spPr>
      </p:cxnSp>
      <p:sp>
        <p:nvSpPr>
          <p:cNvPr id="4" name="AutoShape 4"/>
          <p:cNvSpPr/>
          <p:nvPr/>
        </p:nvSpPr>
        <p:spPr>
          <a:xfrm>
            <a:off x="508000" y="1397000"/>
            <a:ext cx="3556000" cy="2413000"/>
          </a:xfrm>
          <a:prstGeom prst="roundRect">
            <a:avLst>
              <a:gd name="adj" fmla="val 0"/>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508000" y="1397000"/>
            <a:ext cx="3556000" cy="508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8500" y="1587500"/>
            <a:ext cx="406400" cy="406400"/>
          </a:xfrm>
          <a:prstGeom prst="rect">
            <a:avLst/>
          </a:prstGeom>
        </p:spPr>
      </p:pic>
      <p:sp>
        <p:nvSpPr>
          <p:cNvPr id="7" name="AutoShape 7"/>
          <p:cNvSpPr/>
          <p:nvPr/>
        </p:nvSpPr>
        <p:spPr>
          <a:xfrm>
            <a:off x="1270000" y="1549400"/>
            <a:ext cx="2667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E3A8A"/>
                </a:solidFill>
                <a:latin typeface="Noto Sans SC"/>
                <a:ea typeface="Noto Sans SC"/>
                <a:cs typeface="Noto Sans SC"/>
                <a:sym typeface="Noto Sans SC"/>
              </a:rPr>
              <a:t>01. 数据获取与预处理</a:t>
            </a:r>
            <a:endParaRPr lang="en-US" sz="1100"/>
          </a:p>
        </p:txBody>
      </p:sp>
      <p:cxnSp>
        <p:nvCxnSpPr>
          <p:cNvPr id="8" name="Connector 8"/>
          <p:cNvCxnSpPr/>
          <p:nvPr/>
        </p:nvCxnSpPr>
        <p:spPr>
          <a:xfrm rot="-13750">
            <a:off x="698513" y="2152650"/>
            <a:ext cx="3175000" cy="12700"/>
          </a:xfrm>
          <a:prstGeom prst="straightConnector1">
            <a:avLst/>
          </a:prstGeom>
          <a:solidFill>
            <a:srgbClr val="DEE0E3">
              <a:alpha val="100000"/>
            </a:srgbClr>
          </a:solidFill>
          <a:ln w="12700" cap="flat" cmpd="sng">
            <a:solidFill>
              <a:srgbClr val="3B82F6">
                <a:alpha val="20000"/>
              </a:srgbClr>
            </a:solidFill>
            <a:prstDash val="dash"/>
            <a:round/>
            <a:headEnd type="none" w="med" len="med"/>
            <a:tailEnd type="none" w="med" len="med"/>
          </a:ln>
        </p:spPr>
      </p:cxnSp>
      <p:sp>
        <p:nvSpPr>
          <p:cNvPr id="9" name="AutoShape 9"/>
          <p:cNvSpPr/>
          <p:nvPr/>
        </p:nvSpPr>
        <p:spPr>
          <a:xfrm>
            <a:off x="635000" y="2286000"/>
            <a:ext cx="3302000" cy="1333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a:solidFill>
                  <a:srgbClr val="475569"/>
                </a:solidFill>
                <a:latin typeface="Noto Sans SC"/>
                <a:ea typeface="Noto Sans SC"/>
                <a:cs typeface="Noto Sans SC"/>
                <a:sym typeface="Noto Sans SC"/>
              </a:rPr>
              <a:t>针对多源异构旅游数据，构建标准化清洗流程，完成缺失值插补、异常坐标过滤与关键特征构造，为后续分析奠定高质量数据基础。</a:t>
            </a:r>
            <a:endParaRPr lang="en-US" sz="1100"/>
          </a:p>
        </p:txBody>
      </p:sp>
      <p:sp>
        <p:nvSpPr>
          <p:cNvPr id="10" name="AutoShape 10"/>
          <p:cNvSpPr/>
          <p:nvPr/>
        </p:nvSpPr>
        <p:spPr>
          <a:xfrm>
            <a:off x="4318000" y="1397000"/>
            <a:ext cx="3556000" cy="2413000"/>
          </a:xfrm>
          <a:prstGeom prst="roundRect">
            <a:avLst>
              <a:gd name="adj" fmla="val 0"/>
            </a:avLst>
          </a:prstGeom>
          <a:solidFill>
            <a:srgbClr val="F0FDF4">
              <a:alpha val="100000"/>
            </a:srgbClr>
          </a:solidFill>
          <a:ln w="12700" cap="flat" cmpd="sng">
            <a:solidFill>
              <a:srgbClr val="BBF7D0">
                <a:alpha val="10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4318000" y="1397000"/>
            <a:ext cx="3556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08500" y="1587500"/>
            <a:ext cx="406400" cy="406400"/>
          </a:xfrm>
          <a:prstGeom prst="rect">
            <a:avLst/>
          </a:prstGeom>
        </p:spPr>
      </p:pic>
      <p:sp>
        <p:nvSpPr>
          <p:cNvPr id="13" name="AutoShape 13"/>
          <p:cNvSpPr/>
          <p:nvPr/>
        </p:nvSpPr>
        <p:spPr>
          <a:xfrm>
            <a:off x="5080000" y="1549400"/>
            <a:ext cx="2667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4532D"/>
                </a:solidFill>
                <a:latin typeface="Noto Sans SC"/>
                <a:ea typeface="Noto Sans SC"/>
                <a:cs typeface="Noto Sans SC"/>
                <a:sym typeface="Noto Sans SC"/>
              </a:rPr>
              <a:t>02. 可视化大屏设计</a:t>
            </a:r>
            <a:endParaRPr lang="en-US" sz="1100"/>
          </a:p>
        </p:txBody>
      </p:sp>
      <p:cxnSp>
        <p:nvCxnSpPr>
          <p:cNvPr id="14" name="Connector 14"/>
          <p:cNvCxnSpPr/>
          <p:nvPr/>
        </p:nvCxnSpPr>
        <p:spPr>
          <a:xfrm rot="-13750">
            <a:off x="4508513" y="2152650"/>
            <a:ext cx="3175000" cy="12700"/>
          </a:xfrm>
          <a:prstGeom prst="straightConnector1">
            <a:avLst/>
          </a:prstGeom>
          <a:solidFill>
            <a:srgbClr val="DEE0E3">
              <a:alpha val="100000"/>
            </a:srgbClr>
          </a:solidFill>
          <a:ln w="12700" cap="flat" cmpd="sng">
            <a:solidFill>
              <a:srgbClr val="22C55E">
                <a:alpha val="20000"/>
              </a:srgbClr>
            </a:solidFill>
            <a:prstDash val="dash"/>
            <a:round/>
            <a:headEnd type="none" w="med" len="med"/>
            <a:tailEnd type="none" w="med" len="med"/>
          </a:ln>
        </p:spPr>
      </p:cxnSp>
      <p:sp>
        <p:nvSpPr>
          <p:cNvPr id="15" name="AutoShape 15"/>
          <p:cNvSpPr/>
          <p:nvPr/>
        </p:nvSpPr>
        <p:spPr>
          <a:xfrm>
            <a:off x="4445000" y="2286000"/>
            <a:ext cx="3302000" cy="1333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a:solidFill>
                  <a:srgbClr val="475569"/>
                </a:solidFill>
                <a:latin typeface="Noto Sans SC"/>
                <a:ea typeface="Noto Sans SC"/>
                <a:cs typeface="Noto Sans SC"/>
                <a:sym typeface="Noto Sans SC"/>
              </a:rPr>
              <a:t>采用3D地球仪展示宏观分布，集成柱状图、热力图等交互式图表，支持多主题色彩切换，实现旅游数据的直观、动态与沉浸式呈现。</a:t>
            </a:r>
            <a:endParaRPr lang="en-US" sz="1100"/>
          </a:p>
        </p:txBody>
      </p:sp>
      <p:sp>
        <p:nvSpPr>
          <p:cNvPr id="16" name="AutoShape 16"/>
          <p:cNvSpPr/>
          <p:nvPr/>
        </p:nvSpPr>
        <p:spPr>
          <a:xfrm>
            <a:off x="8128000" y="1397000"/>
            <a:ext cx="3556000" cy="2413000"/>
          </a:xfrm>
          <a:prstGeom prst="roundRect">
            <a:avLst>
              <a:gd name="adj" fmla="val 0"/>
            </a:avLst>
          </a:prstGeom>
          <a:solidFill>
            <a:srgbClr val="FFFBEB">
              <a:alpha val="100000"/>
            </a:srgbClr>
          </a:solidFill>
          <a:ln w="12700" cap="flat" cmpd="sng">
            <a:solidFill>
              <a:srgbClr val="FDE68A">
                <a:alpha val="10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8128000" y="1397000"/>
            <a:ext cx="3556000" cy="50800"/>
          </a:xfrm>
          <a:prstGeom prst="roundRect">
            <a:avLst>
              <a:gd name="adj" fmla="val 0"/>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18500" y="1587500"/>
            <a:ext cx="406400" cy="406400"/>
          </a:xfrm>
          <a:prstGeom prst="rect">
            <a:avLst/>
          </a:prstGeom>
        </p:spPr>
      </p:pic>
      <p:sp>
        <p:nvSpPr>
          <p:cNvPr id="19" name="AutoShape 19"/>
          <p:cNvSpPr/>
          <p:nvPr/>
        </p:nvSpPr>
        <p:spPr>
          <a:xfrm>
            <a:off x="8890000" y="1549400"/>
            <a:ext cx="2667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78350F"/>
                </a:solidFill>
                <a:latin typeface="Noto Sans SC"/>
                <a:ea typeface="Noto Sans SC"/>
                <a:cs typeface="Noto Sans SC"/>
                <a:sym typeface="Noto Sans SC"/>
              </a:rPr>
              <a:t>03. 智能推荐模块</a:t>
            </a:r>
            <a:endParaRPr lang="en-US" sz="1100"/>
          </a:p>
        </p:txBody>
      </p:sp>
      <p:cxnSp>
        <p:nvCxnSpPr>
          <p:cNvPr id="20" name="Connector 20"/>
          <p:cNvCxnSpPr/>
          <p:nvPr/>
        </p:nvCxnSpPr>
        <p:spPr>
          <a:xfrm rot="-13750">
            <a:off x="8318513" y="2152650"/>
            <a:ext cx="3175000" cy="12700"/>
          </a:xfrm>
          <a:prstGeom prst="straightConnector1">
            <a:avLst/>
          </a:prstGeom>
          <a:solidFill>
            <a:srgbClr val="DEE0E3">
              <a:alpha val="100000"/>
            </a:srgbClr>
          </a:solidFill>
          <a:ln w="12700" cap="flat" cmpd="sng">
            <a:solidFill>
              <a:srgbClr val="F59E0B">
                <a:alpha val="20000"/>
              </a:srgbClr>
            </a:solidFill>
            <a:prstDash val="dash"/>
            <a:round/>
            <a:headEnd type="none" w="med" len="med"/>
            <a:tailEnd type="none" w="med" len="med"/>
          </a:ln>
        </p:spPr>
      </p:cxnSp>
      <p:sp>
        <p:nvSpPr>
          <p:cNvPr id="21" name="AutoShape 21"/>
          <p:cNvSpPr/>
          <p:nvPr/>
        </p:nvSpPr>
        <p:spPr>
          <a:xfrm>
            <a:off x="8255000" y="2286000"/>
            <a:ext cx="3302000" cy="1333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a:solidFill>
                  <a:srgbClr val="475569"/>
                </a:solidFill>
                <a:latin typeface="Noto Sans SC"/>
                <a:ea typeface="Noto Sans SC"/>
                <a:cs typeface="Noto Sans SC"/>
                <a:sym typeface="Noto Sans SC"/>
              </a:rPr>
              <a:t>融合基于城市的协同过滤算法与自定义权重策略，结合用户偏好与行为轨迹，实现个性化的景点、美食与住宿精准推荐服务。</a:t>
            </a:r>
            <a:endParaRPr lang="en-US" sz="1100"/>
          </a:p>
        </p:txBody>
      </p:sp>
      <p:sp>
        <p:nvSpPr>
          <p:cNvPr id="22" name="AutoShape 22"/>
          <p:cNvSpPr/>
          <p:nvPr/>
        </p:nvSpPr>
        <p:spPr>
          <a:xfrm>
            <a:off x="508000" y="4191000"/>
            <a:ext cx="5524500" cy="2032000"/>
          </a:xfrm>
          <a:prstGeom prst="roundRect">
            <a:avLst>
              <a:gd name="adj" fmla="val 0"/>
            </a:avLst>
          </a:prstGeom>
          <a:solidFill>
            <a:srgbClr val="FFF7ED">
              <a:alpha val="100000"/>
            </a:srgbClr>
          </a:solidFill>
          <a:ln w="12700" cap="flat" cmpd="sng">
            <a:solidFill>
              <a:srgbClr val="FED7AA">
                <a:alpha val="100000"/>
              </a:srgbClr>
            </a:solid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508000" y="4191000"/>
            <a:ext cx="5524500" cy="50800"/>
          </a:xfrm>
          <a:prstGeom prst="roundRect">
            <a:avLst>
              <a:gd name="adj" fmla="val 0"/>
            </a:avLst>
          </a:prstGeom>
          <a:solidFill>
            <a:srgbClr val="EA580C">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4" name="Picture 2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8500" y="4381500"/>
            <a:ext cx="406400" cy="406400"/>
          </a:xfrm>
          <a:prstGeom prst="rect">
            <a:avLst/>
          </a:prstGeom>
        </p:spPr>
      </p:pic>
      <p:sp>
        <p:nvSpPr>
          <p:cNvPr id="25" name="AutoShape 25"/>
          <p:cNvSpPr/>
          <p:nvPr/>
        </p:nvSpPr>
        <p:spPr>
          <a:xfrm>
            <a:off x="1270000" y="4343400"/>
            <a:ext cx="4572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7C2D12"/>
                </a:solidFill>
                <a:latin typeface="Noto Sans SC"/>
                <a:ea typeface="Noto Sans SC"/>
                <a:cs typeface="Noto Sans SC"/>
                <a:sym typeface="Noto Sans SC"/>
              </a:rPr>
              <a:t>04. 旅游路线规划算法</a:t>
            </a:r>
            <a:endParaRPr lang="en-US" sz="1100"/>
          </a:p>
        </p:txBody>
      </p:sp>
      <p:cxnSp>
        <p:nvCxnSpPr>
          <p:cNvPr id="26" name="Connector 26"/>
          <p:cNvCxnSpPr/>
          <p:nvPr/>
        </p:nvCxnSpPr>
        <p:spPr>
          <a:xfrm rot="-8594">
            <a:off x="698508" y="4946650"/>
            <a:ext cx="5080000" cy="12700"/>
          </a:xfrm>
          <a:prstGeom prst="straightConnector1">
            <a:avLst/>
          </a:prstGeom>
          <a:solidFill>
            <a:srgbClr val="DEE0E3">
              <a:alpha val="100000"/>
            </a:srgbClr>
          </a:solidFill>
          <a:ln w="12700" cap="flat" cmpd="sng">
            <a:solidFill>
              <a:srgbClr val="EA580C">
                <a:alpha val="20000"/>
              </a:srgbClr>
            </a:solidFill>
            <a:prstDash val="dash"/>
            <a:round/>
            <a:headEnd type="none" w="med" len="med"/>
            <a:tailEnd type="none" w="med" len="med"/>
          </a:ln>
        </p:spPr>
      </p:cxnSp>
      <p:sp>
        <p:nvSpPr>
          <p:cNvPr id="27" name="AutoShape 27"/>
          <p:cNvSpPr/>
          <p:nvPr/>
        </p:nvSpPr>
        <p:spPr>
          <a:xfrm>
            <a:off x="698500" y="5080000"/>
            <a:ext cx="51435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a:solidFill>
                  <a:srgbClr val="475569"/>
                </a:solidFill>
                <a:latin typeface="Noto Sans SC"/>
                <a:ea typeface="Noto Sans SC"/>
                <a:cs typeface="Noto Sans SC"/>
                <a:sym typeface="Noto Sans SC"/>
              </a:rPr>
              <a:t>基于球面大圆弧距离计算地理成本，引入时间、交通与景点开放时间等地理约束条件，采用启发式算法生成最优或近似最优的旅行路线，平衡游览效率与体验丰富度。</a:t>
            </a:r>
            <a:endParaRPr lang="en-US" sz="1100"/>
          </a:p>
        </p:txBody>
      </p:sp>
      <p:sp>
        <p:nvSpPr>
          <p:cNvPr id="28" name="AutoShape 28"/>
          <p:cNvSpPr/>
          <p:nvPr/>
        </p:nvSpPr>
        <p:spPr>
          <a:xfrm>
            <a:off x="6159500" y="4191000"/>
            <a:ext cx="5524500" cy="2032000"/>
          </a:xfrm>
          <a:prstGeom prst="roundRect">
            <a:avLst>
              <a:gd name="adj" fmla="val 0"/>
            </a:avLst>
          </a:prstGeom>
          <a:solidFill>
            <a:srgbClr val="F5F3FF">
              <a:alpha val="100000"/>
            </a:srgbClr>
          </a:solidFill>
          <a:ln w="12700" cap="flat" cmpd="sng">
            <a:solidFill>
              <a:srgbClr val="DDD6FE">
                <a:alpha val="100000"/>
              </a:srgbClr>
            </a:solidFill>
            <a:prstDash val="solid"/>
            <a:round/>
          </a:ln>
        </p:spPr>
        <p:txBody>
          <a:bodyPr vert="horz" wrap="square" lIns="63500" tIns="63500" rIns="63500" bIns="63500" rtlCol="0" anchor="ctr"/>
          <a:lstStyle/>
          <a:p>
            <a:pPr algn="ctr">
              <a:defRPr/>
            </a:pPr>
            <a:endParaRPr/>
          </a:p>
        </p:txBody>
      </p:sp>
      <p:sp>
        <p:nvSpPr>
          <p:cNvPr id="29" name="AutoShape 29"/>
          <p:cNvSpPr/>
          <p:nvPr/>
        </p:nvSpPr>
        <p:spPr>
          <a:xfrm>
            <a:off x="6159500" y="4191000"/>
            <a:ext cx="5524500" cy="50800"/>
          </a:xfrm>
          <a:prstGeom prst="roundRect">
            <a:avLst>
              <a:gd name="adj" fmla="val 0"/>
            </a:avLst>
          </a:prstGeom>
          <a:solidFill>
            <a:srgbClr val="7C3AED">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0" name="Picture 3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350000" y="4381500"/>
            <a:ext cx="406400" cy="406400"/>
          </a:xfrm>
          <a:prstGeom prst="rect">
            <a:avLst/>
          </a:prstGeom>
        </p:spPr>
      </p:pic>
      <p:sp>
        <p:nvSpPr>
          <p:cNvPr id="31" name="AutoShape 31"/>
          <p:cNvSpPr/>
          <p:nvPr/>
        </p:nvSpPr>
        <p:spPr>
          <a:xfrm>
            <a:off x="6921500" y="4343400"/>
            <a:ext cx="4572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C1D95"/>
                </a:solidFill>
                <a:latin typeface="Noto Sans SC"/>
                <a:ea typeface="Noto Sans SC"/>
                <a:cs typeface="Noto Sans SC"/>
                <a:sym typeface="Noto Sans SC"/>
              </a:rPr>
              <a:t>05. 智能旅行规划器应用</a:t>
            </a:r>
            <a:endParaRPr lang="en-US" sz="1100"/>
          </a:p>
        </p:txBody>
      </p:sp>
      <p:cxnSp>
        <p:nvCxnSpPr>
          <p:cNvPr id="32" name="Connector 32"/>
          <p:cNvCxnSpPr/>
          <p:nvPr/>
        </p:nvCxnSpPr>
        <p:spPr>
          <a:xfrm rot="-8594">
            <a:off x="6350008" y="4946650"/>
            <a:ext cx="5080000" cy="12700"/>
          </a:xfrm>
          <a:prstGeom prst="straightConnector1">
            <a:avLst/>
          </a:prstGeom>
          <a:solidFill>
            <a:srgbClr val="DEE0E3">
              <a:alpha val="100000"/>
            </a:srgbClr>
          </a:solidFill>
          <a:ln w="12700" cap="flat" cmpd="sng">
            <a:solidFill>
              <a:srgbClr val="7C3AED">
                <a:alpha val="20000"/>
              </a:srgbClr>
            </a:solidFill>
            <a:prstDash val="dash"/>
            <a:round/>
            <a:headEnd type="none" w="med" len="med"/>
            <a:tailEnd type="none" w="med" len="med"/>
          </a:ln>
        </p:spPr>
      </p:cxnSp>
      <p:sp>
        <p:nvSpPr>
          <p:cNvPr id="33" name="AutoShape 33"/>
          <p:cNvSpPr/>
          <p:nvPr/>
        </p:nvSpPr>
        <p:spPr>
          <a:xfrm>
            <a:off x="6350000" y="5080000"/>
            <a:ext cx="51435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a:solidFill>
                  <a:srgbClr val="475569"/>
                </a:solidFill>
                <a:latin typeface="Noto Sans SC"/>
                <a:ea typeface="Noto Sans SC"/>
                <a:cs typeface="Noto Sans SC"/>
                <a:sym typeface="Noto Sans SC"/>
              </a:rPr>
              <a:t>面向终端用户提供全流程旅行辅助，可根据路线自动生成分时段的每日活动建议，并结合实时数据完成餐饮、住宿、交通等维度的消费智能估算与预算管理。</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270000" y="-1270000"/>
            <a:ext cx="3810000" cy="3810000"/>
          </a:xfrm>
          <a:prstGeom prst="ellipse">
            <a:avLst/>
          </a:prstGeom>
          <a:solidFill>
            <a:srgbClr val="3B82F6">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8890000" y="4445000"/>
            <a:ext cx="5080000" cy="5080000"/>
          </a:xfrm>
          <a:prstGeom prst="ellipse">
            <a:avLst/>
          </a:prstGeom>
          <a:solidFill>
            <a:srgbClr val="3B82F6">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508000" y="381000"/>
            <a:ext cx="11176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相关理论与技术</a:t>
            </a:r>
            <a:endParaRPr lang="en-US" sz="1100"/>
          </a:p>
        </p:txBody>
      </p:sp>
      <p:cxnSp>
        <p:nvCxnSpPr>
          <p:cNvPr id="5" name="Connector 5"/>
          <p:cNvCxnSpPr/>
          <p:nvPr/>
        </p:nvCxnSpPr>
        <p:spPr>
          <a:xfrm rot="-3906">
            <a:off x="508004" y="1200150"/>
            <a:ext cx="11176000" cy="12700"/>
          </a:xfrm>
          <a:prstGeom prst="line">
            <a:avLst/>
          </a:prstGeom>
          <a:solidFill>
            <a:srgbClr val="DEE0E3">
              <a:alpha val="100000"/>
            </a:srgbClr>
          </a:solidFill>
          <a:ln w="12700" cap="flat" cmpd="sng">
            <a:solidFill>
              <a:srgbClr val="3B82F6">
                <a:alpha val="30000"/>
              </a:srgbClr>
            </a:solidFill>
            <a:prstDash val="solid"/>
            <a:round/>
            <a:headEnd type="none" w="med" len="med"/>
            <a:tailEnd type="none" w="med" len="med"/>
          </a:ln>
        </p:spPr>
      </p:cxnSp>
      <p:sp>
        <p:nvSpPr>
          <p:cNvPr id="6" name="AutoShape 6"/>
          <p:cNvSpPr/>
          <p:nvPr/>
        </p:nvSpPr>
        <p:spPr>
          <a:xfrm>
            <a:off x="508000" y="1651000"/>
            <a:ext cx="3632200" cy="23495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508000" y="1651000"/>
            <a:ext cx="76200" cy="23495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762000" y="1841500"/>
            <a:ext cx="609600" cy="609600"/>
          </a:xfrm>
          <a:prstGeom prst="ellipse">
            <a:avLst/>
          </a:prstGeom>
          <a:solidFill>
            <a:srgbClr val="3B82F6">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89000" y="1968500"/>
            <a:ext cx="355600" cy="355600"/>
          </a:xfrm>
          <a:prstGeom prst="rect">
            <a:avLst/>
          </a:prstGeom>
        </p:spPr>
      </p:pic>
      <p:sp>
        <p:nvSpPr>
          <p:cNvPr id="10" name="AutoShape 10"/>
          <p:cNvSpPr/>
          <p:nvPr/>
        </p:nvSpPr>
        <p:spPr>
          <a:xfrm>
            <a:off x="1524000" y="18415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Flask Web 框架</a:t>
            </a:r>
            <a:endParaRPr lang="en-US" sz="1100"/>
          </a:p>
        </p:txBody>
      </p:sp>
      <p:cxnSp>
        <p:nvCxnSpPr>
          <p:cNvPr id="11" name="Connector 11"/>
          <p:cNvCxnSpPr/>
          <p:nvPr/>
        </p:nvCxnSpPr>
        <p:spPr>
          <a:xfrm rot="-13974">
            <a:off x="762013" y="2660650"/>
            <a:ext cx="3124200" cy="12700"/>
          </a:xfrm>
          <a:prstGeom prst="line">
            <a:avLst/>
          </a:prstGeom>
          <a:solidFill>
            <a:srgbClr val="DEE0E3">
              <a:alpha val="100000"/>
            </a:srgbClr>
          </a:solidFill>
          <a:ln w="12700" cap="flat" cmpd="sng">
            <a:solidFill>
              <a:srgbClr val="F3F4F6">
                <a:alpha val="100000"/>
              </a:srgbClr>
            </a:solidFill>
            <a:prstDash val="dash"/>
            <a:round/>
            <a:headEnd type="none" w="med" len="med"/>
            <a:tailEnd type="none" w="med" len="med"/>
          </a:ln>
        </p:spPr>
      </p:cxnSp>
      <p:sp>
        <p:nvSpPr>
          <p:cNvPr id="12" name="AutoShape 12"/>
          <p:cNvSpPr/>
          <p:nvPr/>
        </p:nvSpPr>
        <p:spPr>
          <a:xfrm>
            <a:off x="762000" y="2794000"/>
            <a:ext cx="3251200" cy="1079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a:solidFill>
                  <a:srgbClr val="4B5563"/>
                </a:solidFill>
                <a:latin typeface="Noto Sans SC"/>
                <a:ea typeface="Noto Sans SC"/>
                <a:cs typeface="Noto Sans SC"/>
                <a:sym typeface="Noto Sans SC"/>
              </a:rPr>
              <a:t>采用轻量级 Python Web 框架构建后端服务，具有极高的灵活性和扩展性，能够快速搭建 RESTful API 接口，适配城市数据查询与交互的业务需求。</a:t>
            </a:r>
            <a:endParaRPr lang="en-US" sz="1100"/>
          </a:p>
        </p:txBody>
      </p:sp>
      <p:sp>
        <p:nvSpPr>
          <p:cNvPr id="13" name="AutoShape 13"/>
          <p:cNvSpPr/>
          <p:nvPr/>
        </p:nvSpPr>
        <p:spPr>
          <a:xfrm>
            <a:off x="4394200" y="1651000"/>
            <a:ext cx="3632200" cy="23495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4394200" y="1651000"/>
            <a:ext cx="76200" cy="2349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4648200" y="1841500"/>
            <a:ext cx="609600" cy="609600"/>
          </a:xfrm>
          <a:prstGeom prst="ellipse">
            <a:avLst/>
          </a:prstGeom>
          <a:solidFill>
            <a:srgbClr val="10B981">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775200" y="1968500"/>
            <a:ext cx="355600" cy="355600"/>
          </a:xfrm>
          <a:prstGeom prst="rect">
            <a:avLst/>
          </a:prstGeom>
        </p:spPr>
      </p:pic>
      <p:sp>
        <p:nvSpPr>
          <p:cNvPr id="17" name="AutoShape 17"/>
          <p:cNvSpPr/>
          <p:nvPr/>
        </p:nvSpPr>
        <p:spPr>
          <a:xfrm>
            <a:off x="5410200" y="18415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MySQL 数据库</a:t>
            </a:r>
            <a:endParaRPr lang="en-US" sz="1100"/>
          </a:p>
        </p:txBody>
      </p:sp>
      <p:cxnSp>
        <p:nvCxnSpPr>
          <p:cNvPr id="18" name="Connector 18"/>
          <p:cNvCxnSpPr/>
          <p:nvPr/>
        </p:nvCxnSpPr>
        <p:spPr>
          <a:xfrm rot="-13974">
            <a:off x="4648213" y="2660650"/>
            <a:ext cx="3124200" cy="12700"/>
          </a:xfrm>
          <a:prstGeom prst="line">
            <a:avLst/>
          </a:prstGeom>
          <a:solidFill>
            <a:srgbClr val="DEE0E3">
              <a:alpha val="100000"/>
            </a:srgbClr>
          </a:solidFill>
          <a:ln w="12700" cap="flat" cmpd="sng">
            <a:solidFill>
              <a:srgbClr val="F3F4F6">
                <a:alpha val="100000"/>
              </a:srgbClr>
            </a:solidFill>
            <a:prstDash val="dash"/>
            <a:round/>
            <a:headEnd type="none" w="med" len="med"/>
            <a:tailEnd type="none" w="med" len="med"/>
          </a:ln>
        </p:spPr>
      </p:cxnSp>
      <p:sp>
        <p:nvSpPr>
          <p:cNvPr id="19" name="AutoShape 19"/>
          <p:cNvSpPr/>
          <p:nvPr/>
        </p:nvSpPr>
        <p:spPr>
          <a:xfrm>
            <a:off x="4648200" y="2794000"/>
            <a:ext cx="3251200" cy="1079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a:solidFill>
                  <a:srgbClr val="4B5563"/>
                </a:solidFill>
                <a:latin typeface="Noto Sans SC"/>
                <a:ea typeface="Noto Sans SC"/>
                <a:cs typeface="Noto Sans SC"/>
                <a:sym typeface="Noto Sans SC"/>
              </a:rPr>
              <a:t>选用成熟稳定的关系型数据库存储城市基础信息、地理坐标及用户行为数据，通过索引优化确保海量数据的高效读写与事务处理的安全性。</a:t>
            </a:r>
            <a:endParaRPr lang="en-US" sz="1100"/>
          </a:p>
        </p:txBody>
      </p:sp>
      <p:sp>
        <p:nvSpPr>
          <p:cNvPr id="20" name="AutoShape 20"/>
          <p:cNvSpPr/>
          <p:nvPr/>
        </p:nvSpPr>
        <p:spPr>
          <a:xfrm>
            <a:off x="8153400" y="1651000"/>
            <a:ext cx="3632200" cy="23495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8153400" y="1651000"/>
            <a:ext cx="76200" cy="2349500"/>
          </a:xfrm>
          <a:prstGeom prst="roundRect">
            <a:avLst>
              <a:gd name="adj" fmla="val 0"/>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8407400" y="1841500"/>
            <a:ext cx="609600" cy="609600"/>
          </a:xfrm>
          <a:prstGeom prst="ellipse">
            <a:avLst/>
          </a:prstGeom>
          <a:solidFill>
            <a:srgbClr val="F59E0B">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534400" y="1968500"/>
            <a:ext cx="355600" cy="355600"/>
          </a:xfrm>
          <a:prstGeom prst="rect">
            <a:avLst/>
          </a:prstGeom>
        </p:spPr>
      </p:pic>
      <p:sp>
        <p:nvSpPr>
          <p:cNvPr id="24" name="AutoShape 24"/>
          <p:cNvSpPr/>
          <p:nvPr/>
        </p:nvSpPr>
        <p:spPr>
          <a:xfrm>
            <a:off x="9169400" y="18415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Plotly 可视化库</a:t>
            </a:r>
            <a:endParaRPr lang="en-US" sz="1100"/>
          </a:p>
        </p:txBody>
      </p:sp>
      <p:cxnSp>
        <p:nvCxnSpPr>
          <p:cNvPr id="25" name="Connector 25"/>
          <p:cNvCxnSpPr/>
          <p:nvPr/>
        </p:nvCxnSpPr>
        <p:spPr>
          <a:xfrm rot="-13974">
            <a:off x="8407413" y="2660650"/>
            <a:ext cx="3124200" cy="12700"/>
          </a:xfrm>
          <a:prstGeom prst="line">
            <a:avLst/>
          </a:prstGeom>
          <a:solidFill>
            <a:srgbClr val="DEE0E3">
              <a:alpha val="100000"/>
            </a:srgbClr>
          </a:solidFill>
          <a:ln w="12700" cap="flat" cmpd="sng">
            <a:solidFill>
              <a:srgbClr val="F3F4F6">
                <a:alpha val="100000"/>
              </a:srgbClr>
            </a:solidFill>
            <a:prstDash val="dash"/>
            <a:round/>
            <a:headEnd type="none" w="med" len="med"/>
            <a:tailEnd type="none" w="med" len="med"/>
          </a:ln>
        </p:spPr>
      </p:cxnSp>
      <p:sp>
        <p:nvSpPr>
          <p:cNvPr id="26" name="AutoShape 26"/>
          <p:cNvSpPr/>
          <p:nvPr/>
        </p:nvSpPr>
        <p:spPr>
          <a:xfrm>
            <a:off x="8407400" y="2794000"/>
            <a:ext cx="3251200" cy="1079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a:solidFill>
                  <a:srgbClr val="4B5563"/>
                </a:solidFill>
                <a:latin typeface="Noto Sans SC"/>
                <a:ea typeface="Noto Sans SC"/>
                <a:cs typeface="Noto Sans SC"/>
                <a:sym typeface="Noto Sans SC"/>
              </a:rPr>
              <a:t>利用交互式绘图库实现数据的多维展示，支持 3D 地球仪、雷达图及动态柱状图等多种图表形式，直观呈现城市空间分布与数据关联特征。</a:t>
            </a:r>
            <a:endParaRPr lang="en-US" sz="1100"/>
          </a:p>
        </p:txBody>
      </p:sp>
      <p:sp>
        <p:nvSpPr>
          <p:cNvPr id="27" name="AutoShape 27"/>
          <p:cNvSpPr/>
          <p:nvPr/>
        </p:nvSpPr>
        <p:spPr>
          <a:xfrm>
            <a:off x="508000" y="4254500"/>
            <a:ext cx="3632200" cy="23495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28" name="AutoShape 28"/>
          <p:cNvSpPr/>
          <p:nvPr/>
        </p:nvSpPr>
        <p:spPr>
          <a:xfrm>
            <a:off x="508000" y="4254500"/>
            <a:ext cx="76200" cy="2349500"/>
          </a:xfrm>
          <a:prstGeom prst="roundRect">
            <a:avLst>
              <a:gd name="adj" fmla="val 0"/>
            </a:avLst>
          </a:prstGeom>
          <a:solidFill>
            <a:srgbClr val="6366F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AutoShape 29"/>
          <p:cNvSpPr/>
          <p:nvPr/>
        </p:nvSpPr>
        <p:spPr>
          <a:xfrm>
            <a:off x="762000" y="4445000"/>
            <a:ext cx="609600" cy="609600"/>
          </a:xfrm>
          <a:prstGeom prst="ellipse">
            <a:avLst/>
          </a:prstGeom>
          <a:solidFill>
            <a:srgbClr val="6366F1">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0" name="Picture 3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89000" y="4572000"/>
            <a:ext cx="355600" cy="355600"/>
          </a:xfrm>
          <a:prstGeom prst="rect">
            <a:avLst/>
          </a:prstGeom>
        </p:spPr>
      </p:pic>
      <p:sp>
        <p:nvSpPr>
          <p:cNvPr id="31" name="AutoShape 31"/>
          <p:cNvSpPr/>
          <p:nvPr/>
        </p:nvSpPr>
        <p:spPr>
          <a:xfrm>
            <a:off x="1524000" y="44450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Pandas + NumPy 计算</a:t>
            </a:r>
            <a:endParaRPr lang="en-US" sz="1100"/>
          </a:p>
        </p:txBody>
      </p:sp>
      <p:cxnSp>
        <p:nvCxnSpPr>
          <p:cNvPr id="32" name="Connector 32"/>
          <p:cNvCxnSpPr/>
          <p:nvPr/>
        </p:nvCxnSpPr>
        <p:spPr>
          <a:xfrm rot="-13974">
            <a:off x="762013" y="5264150"/>
            <a:ext cx="3124200" cy="12700"/>
          </a:xfrm>
          <a:prstGeom prst="line">
            <a:avLst/>
          </a:prstGeom>
          <a:solidFill>
            <a:srgbClr val="DEE0E3">
              <a:alpha val="100000"/>
            </a:srgbClr>
          </a:solidFill>
          <a:ln w="12700" cap="flat" cmpd="sng">
            <a:solidFill>
              <a:srgbClr val="F3F4F6">
                <a:alpha val="100000"/>
              </a:srgbClr>
            </a:solidFill>
            <a:prstDash val="dash"/>
            <a:round/>
            <a:headEnd type="none" w="med" len="med"/>
            <a:tailEnd type="none" w="med" len="med"/>
          </a:ln>
        </p:spPr>
      </p:cxnSp>
      <p:sp>
        <p:nvSpPr>
          <p:cNvPr id="33" name="AutoShape 33"/>
          <p:cNvSpPr/>
          <p:nvPr/>
        </p:nvSpPr>
        <p:spPr>
          <a:xfrm>
            <a:off x="762000" y="5397500"/>
            <a:ext cx="3251200" cy="1079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a:solidFill>
                  <a:srgbClr val="4B5563"/>
                </a:solidFill>
                <a:latin typeface="Noto Sans SC"/>
                <a:ea typeface="Noto Sans SC"/>
                <a:cs typeface="Noto Sans SC"/>
                <a:sym typeface="Noto Sans SC"/>
              </a:rPr>
              <a:t>基于高性能数值计算库，对原始城市数据进行清洗、转换与特征提取，利用向量化运算大幅提升数据处理效率，为后续分析提供可靠的数据支撑。</a:t>
            </a:r>
            <a:endParaRPr lang="en-US" sz="1100"/>
          </a:p>
        </p:txBody>
      </p:sp>
      <p:sp>
        <p:nvSpPr>
          <p:cNvPr id="34" name="AutoShape 34"/>
          <p:cNvSpPr/>
          <p:nvPr/>
        </p:nvSpPr>
        <p:spPr>
          <a:xfrm>
            <a:off x="4394200" y="4254500"/>
            <a:ext cx="3632200" cy="23495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35" name="AutoShape 35"/>
          <p:cNvSpPr/>
          <p:nvPr/>
        </p:nvSpPr>
        <p:spPr>
          <a:xfrm>
            <a:off x="4394200" y="4254500"/>
            <a:ext cx="76200" cy="2349500"/>
          </a:xfrm>
          <a:prstGeom prst="roundRect">
            <a:avLst>
              <a:gd name="adj" fmla="val 0"/>
            </a:avLst>
          </a:prstGeom>
          <a:solidFill>
            <a:srgbClr val="EC489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6" name="AutoShape 36"/>
          <p:cNvSpPr/>
          <p:nvPr/>
        </p:nvSpPr>
        <p:spPr>
          <a:xfrm>
            <a:off x="4648200" y="4445000"/>
            <a:ext cx="609600" cy="609600"/>
          </a:xfrm>
          <a:prstGeom prst="ellipse">
            <a:avLst/>
          </a:prstGeom>
          <a:solidFill>
            <a:srgbClr val="EC4899">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7" name="Picture 3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775200" y="4572000"/>
            <a:ext cx="355600" cy="355600"/>
          </a:xfrm>
          <a:prstGeom prst="rect">
            <a:avLst/>
          </a:prstGeom>
        </p:spPr>
      </p:pic>
      <p:sp>
        <p:nvSpPr>
          <p:cNvPr id="38" name="AutoShape 38"/>
          <p:cNvSpPr/>
          <p:nvPr/>
        </p:nvSpPr>
        <p:spPr>
          <a:xfrm>
            <a:off x="5410200" y="44450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协同过滤推荐算法</a:t>
            </a:r>
            <a:endParaRPr lang="en-US" sz="1100"/>
          </a:p>
        </p:txBody>
      </p:sp>
      <p:cxnSp>
        <p:nvCxnSpPr>
          <p:cNvPr id="39" name="Connector 39"/>
          <p:cNvCxnSpPr/>
          <p:nvPr/>
        </p:nvCxnSpPr>
        <p:spPr>
          <a:xfrm rot="-13974">
            <a:off x="4648213" y="5264150"/>
            <a:ext cx="3124200" cy="12700"/>
          </a:xfrm>
          <a:prstGeom prst="line">
            <a:avLst/>
          </a:prstGeom>
          <a:solidFill>
            <a:srgbClr val="DEE0E3">
              <a:alpha val="100000"/>
            </a:srgbClr>
          </a:solidFill>
          <a:ln w="12700" cap="flat" cmpd="sng">
            <a:solidFill>
              <a:srgbClr val="F3F4F6">
                <a:alpha val="100000"/>
              </a:srgbClr>
            </a:solidFill>
            <a:prstDash val="dash"/>
            <a:round/>
            <a:headEnd type="none" w="med" len="med"/>
            <a:tailEnd type="none" w="med" len="med"/>
          </a:ln>
        </p:spPr>
      </p:cxnSp>
      <p:sp>
        <p:nvSpPr>
          <p:cNvPr id="40" name="AutoShape 40"/>
          <p:cNvSpPr/>
          <p:nvPr/>
        </p:nvSpPr>
        <p:spPr>
          <a:xfrm>
            <a:off x="4648200" y="5397500"/>
            <a:ext cx="3251200" cy="1079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a:solidFill>
                  <a:srgbClr val="4B5563"/>
                </a:solidFill>
                <a:latin typeface="Noto Sans SC"/>
                <a:ea typeface="Noto Sans SC"/>
                <a:cs typeface="Noto Sans SC"/>
                <a:sym typeface="Noto Sans SC"/>
              </a:rPr>
              <a:t>构建基于用户行为的余弦相似度模型，挖掘用户偏好与城市特征的潜在关联，实现个性化的城市推荐服务，有效提升用户交互的精准度与满意度。</a:t>
            </a:r>
            <a:endParaRPr lang="en-US" sz="1100"/>
          </a:p>
        </p:txBody>
      </p:sp>
      <p:sp>
        <p:nvSpPr>
          <p:cNvPr id="41" name="AutoShape 41"/>
          <p:cNvSpPr/>
          <p:nvPr/>
        </p:nvSpPr>
        <p:spPr>
          <a:xfrm>
            <a:off x="8153400" y="4254500"/>
            <a:ext cx="3632200" cy="23495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42" name="AutoShape 42"/>
          <p:cNvSpPr/>
          <p:nvPr/>
        </p:nvSpPr>
        <p:spPr>
          <a:xfrm>
            <a:off x="8153400" y="4254500"/>
            <a:ext cx="76200" cy="2349500"/>
          </a:xfrm>
          <a:prstGeom prst="roundRect">
            <a:avLst>
              <a:gd name="adj" fmla="val 0"/>
            </a:avLst>
          </a:prstGeom>
          <a:solidFill>
            <a:srgbClr val="06B6D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3" name="AutoShape 43"/>
          <p:cNvSpPr/>
          <p:nvPr/>
        </p:nvSpPr>
        <p:spPr>
          <a:xfrm>
            <a:off x="8407400" y="4445000"/>
            <a:ext cx="609600" cy="609600"/>
          </a:xfrm>
          <a:prstGeom prst="ellipse">
            <a:avLst/>
          </a:prstGeom>
          <a:solidFill>
            <a:srgbClr val="06B6D4">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44" name="Picture 4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534400" y="4572000"/>
            <a:ext cx="355600" cy="355600"/>
          </a:xfrm>
          <a:prstGeom prst="rect">
            <a:avLst/>
          </a:prstGeom>
        </p:spPr>
      </p:pic>
      <p:sp>
        <p:nvSpPr>
          <p:cNvPr id="45" name="AutoShape 45"/>
          <p:cNvSpPr/>
          <p:nvPr/>
        </p:nvSpPr>
        <p:spPr>
          <a:xfrm>
            <a:off x="9169400" y="44450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球面几何路线规划</a:t>
            </a:r>
            <a:endParaRPr lang="en-US" sz="1100"/>
          </a:p>
        </p:txBody>
      </p:sp>
      <p:cxnSp>
        <p:nvCxnSpPr>
          <p:cNvPr id="46" name="Connector 46"/>
          <p:cNvCxnSpPr/>
          <p:nvPr/>
        </p:nvCxnSpPr>
        <p:spPr>
          <a:xfrm rot="-13974">
            <a:off x="8407413" y="5264150"/>
            <a:ext cx="3124200" cy="12700"/>
          </a:xfrm>
          <a:prstGeom prst="line">
            <a:avLst/>
          </a:prstGeom>
          <a:solidFill>
            <a:srgbClr val="DEE0E3">
              <a:alpha val="100000"/>
            </a:srgbClr>
          </a:solidFill>
          <a:ln w="12700" cap="flat" cmpd="sng">
            <a:solidFill>
              <a:srgbClr val="F3F4F6">
                <a:alpha val="100000"/>
              </a:srgbClr>
            </a:solidFill>
            <a:prstDash val="dash"/>
            <a:round/>
            <a:headEnd type="none" w="med" len="med"/>
            <a:tailEnd type="none" w="med" len="med"/>
          </a:ln>
        </p:spPr>
      </p:cxnSp>
      <p:sp>
        <p:nvSpPr>
          <p:cNvPr id="47" name="AutoShape 47"/>
          <p:cNvSpPr/>
          <p:nvPr/>
        </p:nvSpPr>
        <p:spPr>
          <a:xfrm>
            <a:off x="8407400" y="5397500"/>
            <a:ext cx="3251200" cy="1079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a:solidFill>
                  <a:srgbClr val="4B5563"/>
                </a:solidFill>
                <a:latin typeface="Noto Sans SC"/>
                <a:ea typeface="Noto Sans SC"/>
                <a:cs typeface="Noto Sans SC"/>
                <a:sym typeface="Noto Sans SC"/>
              </a:rPr>
              <a:t>应用 Haversine 公式计算地球球面两点间的大圆弧距离，结合经纬度坐标实现城市间最短路径的科学测算，为地理分析提供精准的空间距离支持。</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2286000"/>
          </a:xfrm>
          <a:prstGeom prst="roundRect">
            <a:avLst>
              <a:gd name="adj" fmla="val 0"/>
            </a:avLst>
          </a:prstGeom>
          <a:solidFill>
            <a:srgbClr val="3B82F6">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508000" y="508000"/>
            <a:ext cx="11176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F172A"/>
                </a:solidFill>
                <a:latin typeface="Noto Sans SC"/>
                <a:ea typeface="Noto Sans SC"/>
                <a:cs typeface="Noto Sans SC"/>
                <a:sym typeface="Noto Sans SC"/>
              </a:rPr>
              <a:t>可行性分析</a:t>
            </a:r>
            <a:endParaRPr lang="en-US" sz="1100"/>
          </a:p>
        </p:txBody>
      </p:sp>
      <p:sp>
        <p:nvSpPr>
          <p:cNvPr id="4" name="AutoShape 4"/>
          <p:cNvSpPr/>
          <p:nvPr/>
        </p:nvSpPr>
        <p:spPr>
          <a:xfrm>
            <a:off x="508000" y="1397000"/>
            <a:ext cx="1016000" cy="508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508000" y="2540000"/>
            <a:ext cx="3556000" cy="3302000"/>
          </a:xfrm>
          <a:prstGeom prst="roundRect">
            <a:avLst>
              <a:gd name="adj" fmla="val 0"/>
            </a:avLst>
          </a:prstGeom>
          <a:solidFill>
            <a:srgbClr val="FFFFFF">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508000" y="2540000"/>
            <a:ext cx="3556000" cy="762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2000" y="2921000"/>
            <a:ext cx="609600" cy="609600"/>
          </a:xfrm>
          <a:prstGeom prst="rect">
            <a:avLst/>
          </a:prstGeom>
        </p:spPr>
      </p:pic>
      <p:sp>
        <p:nvSpPr>
          <p:cNvPr id="8" name="AutoShape 8"/>
          <p:cNvSpPr/>
          <p:nvPr/>
        </p:nvSpPr>
        <p:spPr>
          <a:xfrm>
            <a:off x="1524000" y="2946400"/>
            <a:ext cx="2286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E293B"/>
                </a:solidFill>
                <a:latin typeface="Noto Sans SC"/>
                <a:ea typeface="Noto Sans SC"/>
                <a:cs typeface="Noto Sans SC"/>
                <a:sym typeface="Noto Sans SC"/>
              </a:rPr>
              <a:t>技术可行性</a:t>
            </a:r>
            <a:endParaRPr lang="en-US" sz="1100"/>
          </a:p>
        </p:txBody>
      </p:sp>
      <p:cxnSp>
        <p:nvCxnSpPr>
          <p:cNvPr id="9" name="Connector 9"/>
          <p:cNvCxnSpPr/>
          <p:nvPr/>
        </p:nvCxnSpPr>
        <p:spPr>
          <a:xfrm rot="-14323">
            <a:off x="762013" y="3803650"/>
            <a:ext cx="3048000" cy="12700"/>
          </a:xfrm>
          <a:prstGeom prst="straightConnector1">
            <a:avLst/>
          </a:prstGeom>
          <a:solidFill>
            <a:srgbClr val="DEE0E3">
              <a:alpha val="100000"/>
            </a:srgbClr>
          </a:solidFill>
          <a:ln w="12700" cap="flat" cmpd="sng">
            <a:solidFill>
              <a:srgbClr val="E2E8F0">
                <a:alpha val="100000"/>
              </a:srgbClr>
            </a:solidFill>
            <a:prstDash val="dash"/>
            <a:round/>
            <a:headEnd type="none" w="med" len="med"/>
            <a:tailEnd type="none" w="med" len="med"/>
          </a:ln>
        </p:spPr>
      </p:cxnSp>
      <p:sp>
        <p:nvSpPr>
          <p:cNvPr id="10" name="AutoShape 10"/>
          <p:cNvSpPr/>
          <p:nvPr/>
        </p:nvSpPr>
        <p:spPr>
          <a:xfrm>
            <a:off x="762000" y="4064000"/>
            <a:ext cx="3048000" cy="1524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400" b="0" i="0" u="none" strike="noStrike">
                <a:solidFill>
                  <a:srgbClr val="475569"/>
                </a:solidFill>
                <a:latin typeface="Noto Sans SC"/>
                <a:ea typeface="Noto Sans SC"/>
                <a:cs typeface="Noto Sans SC"/>
                <a:sym typeface="Noto Sans SC"/>
              </a:rPr>
              <a:t>采用 Python、Flask、MySQL、Plotly 等成熟开源技术栈，组件生态完善，开发维护成本低。系统计算逻辑轻量化，核心计算任务可实现毫秒级响应，完全满足实时性需求。</a:t>
            </a:r>
            <a:endParaRPr lang="en-US" sz="1100"/>
          </a:p>
        </p:txBody>
      </p:sp>
      <p:sp>
        <p:nvSpPr>
          <p:cNvPr id="11" name="AutoShape 11"/>
          <p:cNvSpPr/>
          <p:nvPr/>
        </p:nvSpPr>
        <p:spPr>
          <a:xfrm>
            <a:off x="4318000" y="2540000"/>
            <a:ext cx="3556000" cy="3302000"/>
          </a:xfrm>
          <a:prstGeom prst="roundRect">
            <a:avLst>
              <a:gd name="adj" fmla="val 0"/>
            </a:avLst>
          </a:prstGeom>
          <a:solidFill>
            <a:srgbClr val="FFFFFF">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4318000" y="2540000"/>
            <a:ext cx="3556000" cy="762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72000" y="2921000"/>
            <a:ext cx="609600" cy="609600"/>
          </a:xfrm>
          <a:prstGeom prst="rect">
            <a:avLst/>
          </a:prstGeom>
        </p:spPr>
      </p:pic>
      <p:sp>
        <p:nvSpPr>
          <p:cNvPr id="14" name="AutoShape 14"/>
          <p:cNvSpPr/>
          <p:nvPr/>
        </p:nvSpPr>
        <p:spPr>
          <a:xfrm>
            <a:off x="5334000" y="2946400"/>
            <a:ext cx="2286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E293B"/>
                </a:solidFill>
                <a:latin typeface="Noto Sans SC"/>
                <a:ea typeface="Noto Sans SC"/>
                <a:cs typeface="Noto Sans SC"/>
                <a:sym typeface="Noto Sans SC"/>
              </a:rPr>
              <a:t>经济可行性</a:t>
            </a:r>
            <a:endParaRPr lang="en-US" sz="1100"/>
          </a:p>
        </p:txBody>
      </p:sp>
      <p:cxnSp>
        <p:nvCxnSpPr>
          <p:cNvPr id="15" name="Connector 15"/>
          <p:cNvCxnSpPr/>
          <p:nvPr/>
        </p:nvCxnSpPr>
        <p:spPr>
          <a:xfrm rot="-14323">
            <a:off x="4572013" y="3803650"/>
            <a:ext cx="3048000" cy="12700"/>
          </a:xfrm>
          <a:prstGeom prst="straightConnector1">
            <a:avLst/>
          </a:prstGeom>
          <a:solidFill>
            <a:srgbClr val="DEE0E3">
              <a:alpha val="100000"/>
            </a:srgbClr>
          </a:solidFill>
          <a:ln w="12700" cap="flat" cmpd="sng">
            <a:solidFill>
              <a:srgbClr val="E2E8F0">
                <a:alpha val="100000"/>
              </a:srgbClr>
            </a:solidFill>
            <a:prstDash val="dash"/>
            <a:round/>
            <a:headEnd type="none" w="med" len="med"/>
            <a:tailEnd type="none" w="med" len="med"/>
          </a:ln>
        </p:spPr>
      </p:cxnSp>
      <p:sp>
        <p:nvSpPr>
          <p:cNvPr id="16" name="AutoShape 16"/>
          <p:cNvSpPr/>
          <p:nvPr/>
        </p:nvSpPr>
        <p:spPr>
          <a:xfrm>
            <a:off x="4572000" y="4064000"/>
            <a:ext cx="3048000" cy="1524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400" b="0" i="0" u="none" strike="noStrike">
                <a:solidFill>
                  <a:srgbClr val="475569"/>
                </a:solidFill>
                <a:latin typeface="Noto Sans SC"/>
                <a:ea typeface="Noto Sans SC"/>
                <a:cs typeface="Noto Sans SC"/>
                <a:sym typeface="Noto Sans SC"/>
              </a:rPr>
              <a:t>全栈采用免费开源软件，无任何商业授权费用支出。系统对硬件要求极低，普通办公 PC 即可作为服务器运行，无需额外采购昂贵的专业设备，有效控制项目整体投入成本。</a:t>
            </a:r>
            <a:endParaRPr lang="en-US" sz="1100"/>
          </a:p>
        </p:txBody>
      </p:sp>
      <p:sp>
        <p:nvSpPr>
          <p:cNvPr id="17" name="AutoShape 17"/>
          <p:cNvSpPr/>
          <p:nvPr/>
        </p:nvSpPr>
        <p:spPr>
          <a:xfrm>
            <a:off x="8128000" y="2540000"/>
            <a:ext cx="3556000" cy="3302000"/>
          </a:xfrm>
          <a:prstGeom prst="roundRect">
            <a:avLst>
              <a:gd name="adj" fmla="val 0"/>
            </a:avLst>
          </a:prstGeom>
          <a:solidFill>
            <a:srgbClr val="FFFFFF">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8128000" y="2540000"/>
            <a:ext cx="3556000" cy="76200"/>
          </a:xfrm>
          <a:prstGeom prst="roundRect">
            <a:avLst>
              <a:gd name="adj" fmla="val 0"/>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0" y="2921000"/>
            <a:ext cx="609600" cy="609600"/>
          </a:xfrm>
          <a:prstGeom prst="rect">
            <a:avLst/>
          </a:prstGeom>
        </p:spPr>
      </p:pic>
      <p:sp>
        <p:nvSpPr>
          <p:cNvPr id="20" name="AutoShape 20"/>
          <p:cNvSpPr/>
          <p:nvPr/>
        </p:nvSpPr>
        <p:spPr>
          <a:xfrm>
            <a:off x="9144000" y="2946400"/>
            <a:ext cx="2286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E293B"/>
                </a:solidFill>
                <a:latin typeface="Noto Sans SC"/>
                <a:ea typeface="Noto Sans SC"/>
                <a:cs typeface="Noto Sans SC"/>
                <a:sym typeface="Noto Sans SC"/>
              </a:rPr>
              <a:t>运行可行性</a:t>
            </a:r>
            <a:endParaRPr lang="en-US" sz="1100"/>
          </a:p>
        </p:txBody>
      </p:sp>
      <p:cxnSp>
        <p:nvCxnSpPr>
          <p:cNvPr id="21" name="Connector 21"/>
          <p:cNvCxnSpPr/>
          <p:nvPr/>
        </p:nvCxnSpPr>
        <p:spPr>
          <a:xfrm rot="-14323">
            <a:off x="8382013" y="3803650"/>
            <a:ext cx="3048000" cy="12700"/>
          </a:xfrm>
          <a:prstGeom prst="straightConnector1">
            <a:avLst/>
          </a:prstGeom>
          <a:solidFill>
            <a:srgbClr val="DEE0E3">
              <a:alpha val="100000"/>
            </a:srgbClr>
          </a:solidFill>
          <a:ln w="12700" cap="flat" cmpd="sng">
            <a:solidFill>
              <a:srgbClr val="E2E8F0">
                <a:alpha val="100000"/>
              </a:srgbClr>
            </a:solidFill>
            <a:prstDash val="dash"/>
            <a:round/>
            <a:headEnd type="none" w="med" len="med"/>
            <a:tailEnd type="none" w="med" len="med"/>
          </a:ln>
        </p:spPr>
      </p:cxnSp>
      <p:sp>
        <p:nvSpPr>
          <p:cNvPr id="22" name="AutoShape 22"/>
          <p:cNvSpPr/>
          <p:nvPr/>
        </p:nvSpPr>
        <p:spPr>
          <a:xfrm>
            <a:off x="8382000" y="4064000"/>
            <a:ext cx="3048000" cy="1524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400" b="0" i="0" u="none" strike="noStrike">
                <a:solidFill>
                  <a:srgbClr val="475569"/>
                </a:solidFill>
                <a:latin typeface="Noto Sans SC"/>
                <a:ea typeface="Noto Sans SC"/>
                <a:cs typeface="Noto Sans SC"/>
                <a:sym typeface="Noto Sans SC"/>
              </a:rPr>
              <a:t>采用经典 B/S 架构设计，用户通过主流浏览器即可访问系统，无需安装任何客户端软件。部署流程简化，支持 Docker 容器化一键部署，维护升级便捷，易于在不同环境中快速落地。</a:t>
            </a:r>
            <a:endParaRPr lang="en-US" sz="1100"/>
          </a:p>
        </p:txBody>
      </p:sp>
      <p:sp>
        <p:nvSpPr>
          <p:cNvPr id="23" name="AutoShape 23"/>
          <p:cNvSpPr/>
          <p:nvPr/>
        </p:nvSpPr>
        <p:spPr>
          <a:xfrm>
            <a:off x="508000" y="6096000"/>
            <a:ext cx="11176000" cy="508000"/>
          </a:xfrm>
          <a:prstGeom prst="roundRect">
            <a:avLst>
              <a:gd name="adj" fmla="val 0"/>
            </a:avLst>
          </a:prstGeom>
          <a:solidFill>
            <a:srgbClr val="3B82F6">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635000" y="6197600"/>
            <a:ext cx="1092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1E3A8A"/>
                </a:solidFill>
                <a:latin typeface="Noto Sans SC"/>
                <a:ea typeface="Noto Sans SC"/>
                <a:cs typeface="Noto Sans SC"/>
                <a:sym typeface="Noto Sans SC"/>
              </a:rPr>
              <a:t>综合结论：技术方案成熟可靠、经济成本可控、运行维护简便，项目具备极高的落地可行性。</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4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3B82F6">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635000" y="5080000"/>
            <a:ext cx="2540000" cy="2540000"/>
          </a:xfrm>
          <a:prstGeom prst="ellipse">
            <a:avLst/>
          </a:prstGeom>
          <a:solidFill>
            <a:srgbClr val="3B82F6">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381000" y="381000"/>
            <a:ext cx="1143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E3A8A"/>
                </a:solidFill>
                <a:latin typeface="Noto Sans SC"/>
                <a:ea typeface="Noto Sans SC"/>
                <a:cs typeface="Noto Sans SC"/>
                <a:sym typeface="Noto Sans SC"/>
              </a:rPr>
              <a:t>功能需求分析</a:t>
            </a:r>
            <a:endParaRPr lang="en-US" sz="1100"/>
          </a:p>
        </p:txBody>
      </p:sp>
      <p:cxnSp>
        <p:nvCxnSpPr>
          <p:cNvPr id="5" name="Connector 5"/>
          <p:cNvCxnSpPr/>
          <p:nvPr/>
        </p:nvCxnSpPr>
        <p:spPr>
          <a:xfrm rot="-3819">
            <a:off x="381004" y="1136650"/>
            <a:ext cx="11430000" cy="12700"/>
          </a:xfrm>
          <a:prstGeom prst="straightConnector1">
            <a:avLst/>
          </a:prstGeom>
          <a:solidFill>
            <a:srgbClr val="DEE0E3">
              <a:alpha val="100000"/>
            </a:srgbClr>
          </a:solidFill>
          <a:ln w="12700" cap="flat" cmpd="sng">
            <a:solidFill>
              <a:srgbClr val="1E3A8A">
                <a:alpha val="20000"/>
              </a:srgbClr>
            </a:solidFill>
            <a:prstDash val="solid"/>
            <a:round/>
            <a:headEnd type="none" w="med" len="med"/>
            <a:tailEnd type="none" w="med" len="med"/>
          </a:ln>
        </p:spPr>
      </p:cxnSp>
      <p:sp>
        <p:nvSpPr>
          <p:cNvPr id="6" name="AutoShape 6"/>
          <p:cNvSpPr/>
          <p:nvPr/>
        </p:nvSpPr>
        <p:spPr>
          <a:xfrm>
            <a:off x="381000" y="1524000"/>
            <a:ext cx="3683000" cy="2413000"/>
          </a:xfrm>
          <a:prstGeom prst="roundRect">
            <a:avLst>
              <a:gd name="adj" fmla="val 0"/>
            </a:avLst>
          </a:prstGeom>
          <a:solidFill>
            <a:srgbClr val="FFFFFF">
              <a:alpha val="100000"/>
            </a:srgbClr>
          </a:solidFill>
          <a:ln w="12700" cap="flat" cmpd="sng">
            <a:solidFill>
              <a:srgbClr val="3B82F6">
                <a:alpha val="2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381000" y="1524000"/>
            <a:ext cx="3683000" cy="508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1500" y="1778000"/>
            <a:ext cx="406400" cy="406400"/>
          </a:xfrm>
          <a:prstGeom prst="rect">
            <a:avLst/>
          </a:prstGeom>
        </p:spPr>
      </p:pic>
      <p:sp>
        <p:nvSpPr>
          <p:cNvPr id="9" name="AutoShape 9"/>
          <p:cNvSpPr/>
          <p:nvPr/>
        </p:nvSpPr>
        <p:spPr>
          <a:xfrm>
            <a:off x="1079500" y="17780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01. 城市探索模块</a:t>
            </a:r>
            <a:endParaRPr lang="en-US" sz="1100"/>
          </a:p>
        </p:txBody>
      </p:sp>
      <p:cxnSp>
        <p:nvCxnSpPr>
          <p:cNvPr id="10" name="Connector 10"/>
          <p:cNvCxnSpPr/>
          <p:nvPr/>
        </p:nvCxnSpPr>
        <p:spPr>
          <a:xfrm rot="-13222">
            <a:off x="571512" y="2343150"/>
            <a:ext cx="3302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11" name="AutoShape 11"/>
          <p:cNvSpPr/>
          <p:nvPr/>
        </p:nvSpPr>
        <p:spPr>
          <a:xfrm>
            <a:off x="571500" y="2540000"/>
            <a:ext cx="3302000" cy="1206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a:solidFill>
                  <a:srgbClr val="4B5563"/>
                </a:solidFill>
                <a:latin typeface="Noto Sans SC"/>
                <a:ea typeface="Noto Sans SC"/>
                <a:cs typeface="Noto Sans SC"/>
                <a:sym typeface="Noto Sans SC"/>
              </a:rPr>
              <a:t>支持按区域、预算区间、用户评分等多维度精准筛选城市；提供网格与列表双视图切换模式，结合分页加载机制，优化海量城市数据的展示体验，提升检索效率。</a:t>
            </a:r>
            <a:endParaRPr lang="en-US" sz="1100"/>
          </a:p>
        </p:txBody>
      </p:sp>
      <p:sp>
        <p:nvSpPr>
          <p:cNvPr id="12" name="AutoShape 12"/>
          <p:cNvSpPr/>
          <p:nvPr/>
        </p:nvSpPr>
        <p:spPr>
          <a:xfrm>
            <a:off x="4254500" y="1524000"/>
            <a:ext cx="3683000" cy="2413000"/>
          </a:xfrm>
          <a:prstGeom prst="roundRect">
            <a:avLst>
              <a:gd name="adj" fmla="val 0"/>
            </a:avLst>
          </a:prstGeom>
          <a:solidFill>
            <a:srgbClr val="FFFFFF">
              <a:alpha val="100000"/>
            </a:srgbClr>
          </a:solidFill>
          <a:ln w="12700" cap="flat" cmpd="sng">
            <a:solidFill>
              <a:srgbClr val="3B82F6">
                <a:alpha val="20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4254500" y="1524000"/>
            <a:ext cx="36830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445000" y="1778000"/>
            <a:ext cx="406400" cy="406400"/>
          </a:xfrm>
          <a:prstGeom prst="rect">
            <a:avLst/>
          </a:prstGeom>
        </p:spPr>
      </p:pic>
      <p:sp>
        <p:nvSpPr>
          <p:cNvPr id="15" name="AutoShape 15"/>
          <p:cNvSpPr/>
          <p:nvPr/>
        </p:nvSpPr>
        <p:spPr>
          <a:xfrm>
            <a:off x="4953000" y="17780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02. 城市对比分析</a:t>
            </a:r>
            <a:endParaRPr lang="en-US" sz="1100"/>
          </a:p>
        </p:txBody>
      </p:sp>
      <p:cxnSp>
        <p:nvCxnSpPr>
          <p:cNvPr id="16" name="Connector 16"/>
          <p:cNvCxnSpPr/>
          <p:nvPr/>
        </p:nvCxnSpPr>
        <p:spPr>
          <a:xfrm rot="-13222">
            <a:off x="4445012" y="2343150"/>
            <a:ext cx="3302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17" name="AutoShape 17"/>
          <p:cNvSpPr/>
          <p:nvPr/>
        </p:nvSpPr>
        <p:spPr>
          <a:xfrm>
            <a:off x="4445000" y="2540000"/>
            <a:ext cx="3302000" cy="1206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a:solidFill>
                  <a:srgbClr val="4B5563"/>
                </a:solidFill>
                <a:latin typeface="Noto Sans SC"/>
                <a:ea typeface="Noto Sans SC"/>
                <a:cs typeface="Noto Sans SC"/>
                <a:sym typeface="Noto Sans SC"/>
              </a:rPr>
              <a:t>允许用户自由选择2-5个目标城市，系统自动提取核心指标（如消费指数、景点密度等）进行横向对比；通过雷达图可视化呈现差异，辅助用户做出决策判断。</a:t>
            </a:r>
            <a:endParaRPr lang="en-US" sz="1100"/>
          </a:p>
        </p:txBody>
      </p:sp>
      <p:sp>
        <p:nvSpPr>
          <p:cNvPr id="18" name="AutoShape 18"/>
          <p:cNvSpPr/>
          <p:nvPr/>
        </p:nvSpPr>
        <p:spPr>
          <a:xfrm>
            <a:off x="8128000" y="1524000"/>
            <a:ext cx="3683000" cy="2413000"/>
          </a:xfrm>
          <a:prstGeom prst="roundRect">
            <a:avLst>
              <a:gd name="adj" fmla="val 0"/>
            </a:avLst>
          </a:prstGeom>
          <a:solidFill>
            <a:srgbClr val="FFFFFF">
              <a:alpha val="100000"/>
            </a:srgbClr>
          </a:solidFill>
          <a:ln w="12700" cap="flat" cmpd="sng">
            <a:solidFill>
              <a:srgbClr val="3B82F6">
                <a:alpha val="20000"/>
              </a:srgbClr>
            </a:solid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8128000" y="1524000"/>
            <a:ext cx="3683000" cy="50800"/>
          </a:xfrm>
          <a:prstGeom prst="roundRect">
            <a:avLst>
              <a:gd name="adj" fmla="val 0"/>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18500" y="1778000"/>
            <a:ext cx="406400" cy="406400"/>
          </a:xfrm>
          <a:prstGeom prst="rect">
            <a:avLst/>
          </a:prstGeom>
        </p:spPr>
      </p:pic>
      <p:sp>
        <p:nvSpPr>
          <p:cNvPr id="21" name="AutoShape 21"/>
          <p:cNvSpPr/>
          <p:nvPr/>
        </p:nvSpPr>
        <p:spPr>
          <a:xfrm>
            <a:off x="8826500" y="17780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03. 个性化智能推荐</a:t>
            </a:r>
            <a:endParaRPr lang="en-US" sz="1100"/>
          </a:p>
        </p:txBody>
      </p:sp>
      <p:cxnSp>
        <p:nvCxnSpPr>
          <p:cNvPr id="22" name="Connector 22"/>
          <p:cNvCxnSpPr/>
          <p:nvPr/>
        </p:nvCxnSpPr>
        <p:spPr>
          <a:xfrm rot="-13222">
            <a:off x="8318512" y="2343150"/>
            <a:ext cx="3302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23" name="AutoShape 23"/>
          <p:cNvSpPr/>
          <p:nvPr/>
        </p:nvSpPr>
        <p:spPr>
          <a:xfrm>
            <a:off x="8318500" y="2540000"/>
            <a:ext cx="3302000" cy="1206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a:solidFill>
                  <a:srgbClr val="4B5563"/>
                </a:solidFill>
                <a:latin typeface="Noto Sans SC"/>
                <a:ea typeface="Noto Sans SC"/>
                <a:cs typeface="Noto Sans SC"/>
                <a:sym typeface="Noto Sans SC"/>
              </a:rPr>
              <a:t>基于用户历史浏览偏好、收藏的城市特征或自定义的权重系数，利用算法模型计算相似度，返回高匹配度的城市推荐列表，实现“千人千面”的内容分发。</a:t>
            </a:r>
            <a:endParaRPr lang="en-US" sz="1100"/>
          </a:p>
        </p:txBody>
      </p:sp>
      <p:sp>
        <p:nvSpPr>
          <p:cNvPr id="24" name="AutoShape 24"/>
          <p:cNvSpPr/>
          <p:nvPr/>
        </p:nvSpPr>
        <p:spPr>
          <a:xfrm>
            <a:off x="381000" y="4191000"/>
            <a:ext cx="3683000" cy="2413000"/>
          </a:xfrm>
          <a:prstGeom prst="roundRect">
            <a:avLst>
              <a:gd name="adj" fmla="val 0"/>
            </a:avLst>
          </a:prstGeom>
          <a:solidFill>
            <a:srgbClr val="FFFFFF">
              <a:alpha val="100000"/>
            </a:srgbClr>
          </a:solidFill>
          <a:ln w="12700" cap="flat" cmpd="sng">
            <a:solidFill>
              <a:srgbClr val="3B82F6">
                <a:alpha val="20000"/>
              </a:srgbClr>
            </a:solid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381000" y="4191000"/>
            <a:ext cx="3683000" cy="50800"/>
          </a:xfrm>
          <a:prstGeom prst="roundRect">
            <a:avLst>
              <a:gd name="adj" fmla="val 0"/>
            </a:avLst>
          </a:prstGeom>
          <a:solidFill>
            <a:srgbClr val="6366F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6" name="Picture 2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1500" y="4445000"/>
            <a:ext cx="406400" cy="406400"/>
          </a:xfrm>
          <a:prstGeom prst="rect">
            <a:avLst/>
          </a:prstGeom>
        </p:spPr>
      </p:pic>
      <p:sp>
        <p:nvSpPr>
          <p:cNvPr id="27" name="AutoShape 27"/>
          <p:cNvSpPr/>
          <p:nvPr/>
        </p:nvSpPr>
        <p:spPr>
          <a:xfrm>
            <a:off x="1079500" y="44450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04. 智能路线规划</a:t>
            </a:r>
            <a:endParaRPr lang="en-US" sz="1100"/>
          </a:p>
        </p:txBody>
      </p:sp>
      <p:cxnSp>
        <p:nvCxnSpPr>
          <p:cNvPr id="28" name="Connector 28"/>
          <p:cNvCxnSpPr/>
          <p:nvPr/>
        </p:nvCxnSpPr>
        <p:spPr>
          <a:xfrm rot="-13222">
            <a:off x="571512" y="5010150"/>
            <a:ext cx="3302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29" name="AutoShape 29"/>
          <p:cNvSpPr/>
          <p:nvPr/>
        </p:nvSpPr>
        <p:spPr>
          <a:xfrm>
            <a:off x="571500" y="5207000"/>
            <a:ext cx="3302000" cy="1206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a:solidFill>
                  <a:srgbClr val="4B5563"/>
                </a:solidFill>
                <a:latin typeface="Noto Sans SC"/>
                <a:ea typeface="Noto Sans SC"/>
                <a:cs typeface="Noto Sans SC"/>
                <a:sym typeface="Noto Sans SC"/>
              </a:rPr>
              <a:t>用户输入起点与终点城市，系统自动生成大圆弧最优飞行路线，并提供多条备选方案；同时展示各方案的距离、预计时长及交通成本，支持路线的动态调整。</a:t>
            </a:r>
            <a:endParaRPr lang="en-US" sz="1100"/>
          </a:p>
        </p:txBody>
      </p:sp>
      <p:sp>
        <p:nvSpPr>
          <p:cNvPr id="30" name="AutoShape 30"/>
          <p:cNvSpPr/>
          <p:nvPr/>
        </p:nvSpPr>
        <p:spPr>
          <a:xfrm>
            <a:off x="4254500" y="4191000"/>
            <a:ext cx="3683000" cy="2413000"/>
          </a:xfrm>
          <a:prstGeom prst="roundRect">
            <a:avLst>
              <a:gd name="adj" fmla="val 0"/>
            </a:avLst>
          </a:prstGeom>
          <a:solidFill>
            <a:srgbClr val="FFFFFF">
              <a:alpha val="100000"/>
            </a:srgbClr>
          </a:solidFill>
          <a:ln w="12700" cap="flat" cmpd="sng">
            <a:solidFill>
              <a:srgbClr val="3B82F6">
                <a:alpha val="20000"/>
              </a:srgbClr>
            </a:solidFill>
            <a:prstDash val="solid"/>
            <a:round/>
          </a:ln>
        </p:spPr>
        <p:txBody>
          <a:bodyPr vert="horz" wrap="square" lIns="63500" tIns="63500" rIns="63500" bIns="63500" rtlCol="0" anchor="ctr"/>
          <a:lstStyle/>
          <a:p>
            <a:pPr algn="ctr">
              <a:defRPr/>
            </a:pPr>
            <a:endParaRPr/>
          </a:p>
        </p:txBody>
      </p:sp>
      <p:sp>
        <p:nvSpPr>
          <p:cNvPr id="31" name="AutoShape 31"/>
          <p:cNvSpPr/>
          <p:nvPr/>
        </p:nvSpPr>
        <p:spPr>
          <a:xfrm>
            <a:off x="4254500" y="4191000"/>
            <a:ext cx="3683000" cy="50800"/>
          </a:xfrm>
          <a:prstGeom prst="roundRect">
            <a:avLst>
              <a:gd name="adj" fmla="val 0"/>
            </a:avLst>
          </a:prstGeom>
          <a:solidFill>
            <a:srgbClr val="EC4899">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2" name="Picture 3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445000" y="4445000"/>
            <a:ext cx="406400" cy="406400"/>
          </a:xfrm>
          <a:prstGeom prst="rect">
            <a:avLst/>
          </a:prstGeom>
        </p:spPr>
      </p:pic>
      <p:sp>
        <p:nvSpPr>
          <p:cNvPr id="33" name="AutoShape 33"/>
          <p:cNvSpPr/>
          <p:nvPr/>
        </p:nvSpPr>
        <p:spPr>
          <a:xfrm>
            <a:off x="4953000" y="44450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05. 旅行行程规划器</a:t>
            </a:r>
            <a:endParaRPr lang="en-US" sz="1100"/>
          </a:p>
        </p:txBody>
      </p:sp>
      <p:cxnSp>
        <p:nvCxnSpPr>
          <p:cNvPr id="34" name="Connector 34"/>
          <p:cNvCxnSpPr/>
          <p:nvPr/>
        </p:nvCxnSpPr>
        <p:spPr>
          <a:xfrm rot="-13222">
            <a:off x="4445012" y="5010150"/>
            <a:ext cx="3302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35" name="AutoShape 35"/>
          <p:cNvSpPr/>
          <p:nvPr/>
        </p:nvSpPr>
        <p:spPr>
          <a:xfrm>
            <a:off x="4445000" y="5207000"/>
            <a:ext cx="3302000" cy="1206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a:solidFill>
                  <a:srgbClr val="4B5563"/>
                </a:solidFill>
                <a:latin typeface="Noto Sans SC"/>
                <a:ea typeface="Noto Sans SC"/>
                <a:cs typeface="Noto Sans SC"/>
                <a:sym typeface="Noto Sans SC"/>
              </a:rPr>
              <a:t>根据用户选定的目的地与游玩天数，自动生成结构化的每日活动安排；整合景点、餐饮、住宿等数据，实时计算并更新总费用估算，支持手动微调行程节点。</a:t>
            </a:r>
            <a:endParaRPr lang="en-US" sz="1100"/>
          </a:p>
        </p:txBody>
      </p:sp>
      <p:sp>
        <p:nvSpPr>
          <p:cNvPr id="36" name="AutoShape 36"/>
          <p:cNvSpPr/>
          <p:nvPr/>
        </p:nvSpPr>
        <p:spPr>
          <a:xfrm>
            <a:off x="8128000" y="4191000"/>
            <a:ext cx="3683000" cy="2413000"/>
          </a:xfrm>
          <a:prstGeom prst="roundRect">
            <a:avLst>
              <a:gd name="adj" fmla="val 0"/>
            </a:avLst>
          </a:prstGeom>
          <a:solidFill>
            <a:srgbClr val="FFFFFF">
              <a:alpha val="100000"/>
            </a:srgbClr>
          </a:solidFill>
          <a:ln w="12700" cap="flat" cmpd="sng">
            <a:solidFill>
              <a:srgbClr val="3B82F6">
                <a:alpha val="20000"/>
              </a:srgbClr>
            </a:solidFill>
            <a:prstDash val="solid"/>
            <a:round/>
          </a:ln>
        </p:spPr>
        <p:txBody>
          <a:bodyPr vert="horz" wrap="square" lIns="63500" tIns="63500" rIns="63500" bIns="63500" rtlCol="0" anchor="ctr"/>
          <a:lstStyle/>
          <a:p>
            <a:pPr algn="ctr">
              <a:defRPr/>
            </a:pPr>
            <a:endParaRPr/>
          </a:p>
        </p:txBody>
      </p:sp>
      <p:sp>
        <p:nvSpPr>
          <p:cNvPr id="37" name="AutoShape 37"/>
          <p:cNvSpPr/>
          <p:nvPr/>
        </p:nvSpPr>
        <p:spPr>
          <a:xfrm>
            <a:off x="8128000" y="4191000"/>
            <a:ext cx="3683000" cy="50800"/>
          </a:xfrm>
          <a:prstGeom prst="roundRect">
            <a:avLst>
              <a:gd name="adj" fmla="val 0"/>
            </a:avLst>
          </a:prstGeom>
          <a:solidFill>
            <a:srgbClr val="8B5C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8" name="Picture 3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318500" y="4445000"/>
            <a:ext cx="406400" cy="406400"/>
          </a:xfrm>
          <a:prstGeom prst="rect">
            <a:avLst/>
          </a:prstGeom>
        </p:spPr>
      </p:pic>
      <p:sp>
        <p:nvSpPr>
          <p:cNvPr id="39" name="AutoShape 39"/>
          <p:cNvSpPr/>
          <p:nvPr/>
        </p:nvSpPr>
        <p:spPr>
          <a:xfrm>
            <a:off x="8826500" y="44450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06. 数据可视化决策大屏</a:t>
            </a:r>
            <a:endParaRPr lang="en-US" sz="1100"/>
          </a:p>
        </p:txBody>
      </p:sp>
      <p:cxnSp>
        <p:nvCxnSpPr>
          <p:cNvPr id="40" name="Connector 40"/>
          <p:cNvCxnSpPr/>
          <p:nvPr/>
        </p:nvCxnSpPr>
        <p:spPr>
          <a:xfrm rot="-13222">
            <a:off x="8318512" y="5010150"/>
            <a:ext cx="3302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41" name="AutoShape 41"/>
          <p:cNvSpPr/>
          <p:nvPr/>
        </p:nvSpPr>
        <p:spPr>
          <a:xfrm>
            <a:off x="8318500" y="5207000"/>
            <a:ext cx="3302000" cy="1206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a:solidFill>
                  <a:srgbClr val="4B5563"/>
                </a:solidFill>
                <a:latin typeface="Noto Sans SC"/>
                <a:ea typeface="Noto Sans SC"/>
                <a:cs typeface="Noto Sans SC"/>
                <a:sym typeface="Noto Sans SC"/>
              </a:rPr>
              <a:t>集成3D地球仪展示全球城市分布，搭配关键指标统计卡片与动态趋势图表（柱状图、折线图等）；为运营端提供宏观数据洞察，支持多维度下钻分析与数据导出。</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524000"/>
          </a:xfrm>
          <a:prstGeom prst="roundRect">
            <a:avLst>
              <a:gd name="adj" fmla="val 0"/>
            </a:avLst>
          </a:prstGeom>
          <a:solidFill>
            <a:srgbClr val="2563EB">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508000" y="381000"/>
            <a:ext cx="11176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E3A8A"/>
                </a:solidFill>
                <a:latin typeface="Noto Sans SC"/>
                <a:ea typeface="Noto Sans SC"/>
                <a:cs typeface="Noto Sans SC"/>
                <a:sym typeface="Noto Sans SC"/>
              </a:rPr>
              <a:t>数据获取及预处理</a:t>
            </a:r>
            <a:endParaRPr lang="en-US" sz="1100"/>
          </a:p>
        </p:txBody>
      </p:sp>
      <p:sp>
        <p:nvSpPr>
          <p:cNvPr id="4" name="AutoShape 4"/>
          <p:cNvSpPr/>
          <p:nvPr/>
        </p:nvSpPr>
        <p:spPr>
          <a:xfrm>
            <a:off x="508000" y="1397000"/>
            <a:ext cx="11176000" cy="889000"/>
          </a:xfrm>
          <a:prstGeom prst="roundRect">
            <a:avLst>
              <a:gd name="adj" fmla="val 0"/>
            </a:avLst>
          </a:prstGeom>
          <a:solidFill>
            <a:srgbClr val="FFFFFF">
              <a:alpha val="100000"/>
            </a:srgbClr>
          </a:solidFill>
          <a:ln w="12700" cap="flat" cmpd="sng">
            <a:solidFill>
              <a:srgbClr val="2563EB">
                <a:alpha val="2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2000" y="1587500"/>
            <a:ext cx="508000" cy="508000"/>
          </a:xfrm>
          <a:prstGeom prst="rect">
            <a:avLst/>
          </a:prstGeom>
        </p:spPr>
      </p:pic>
      <p:sp>
        <p:nvSpPr>
          <p:cNvPr id="6" name="AutoShape 6"/>
          <p:cNvSpPr/>
          <p:nvPr/>
        </p:nvSpPr>
        <p:spPr>
          <a:xfrm>
            <a:off x="1524000" y="1498600"/>
            <a:ext cx="9652000" cy="6858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374151"/>
                </a:solidFill>
                <a:latin typeface="Noto Sans SC"/>
                <a:ea typeface="Noto Sans SC"/>
                <a:cs typeface="Noto Sans SC"/>
                <a:sym typeface="Noto Sans SC"/>
              </a:rPr>
              <a:t>数据源：Kaggle 全球旅游城市数据集 (Worldwide Travel Cities Dataset)</a:t>
            </a:r>
            <a:endParaRPr lang="en-US" sz="1100"/>
          </a:p>
          <a:p>
            <a:pPr indent="0" algn="l">
              <a:lnSpc>
                <a:spcPct val="100000"/>
              </a:lnSpc>
            </a:pPr>
            <a:r>
              <a:rPr lang="en-US" sz="1300" b="0" i="0" u="none" strike="noStrike">
                <a:solidFill>
                  <a:srgbClr val="6B7280"/>
                </a:solidFill>
                <a:latin typeface="Noto Sans SC"/>
                <a:ea typeface="Noto Sans SC"/>
                <a:cs typeface="Noto Sans SC"/>
                <a:sym typeface="Noto Sans SC"/>
              </a:rPr>
              <a:t>原始数据包含全球 500+ 城市的基础信息、地理坐标、消费预算及特色描述等多维数据，为后续分析提供了丰富样本。</a:t>
            </a:r>
          </a:p>
        </p:txBody>
      </p:sp>
      <p:sp>
        <p:nvSpPr>
          <p:cNvPr id="7" name="AutoShape 7"/>
          <p:cNvSpPr/>
          <p:nvPr/>
        </p:nvSpPr>
        <p:spPr>
          <a:xfrm>
            <a:off x="508000" y="2921000"/>
            <a:ext cx="2082800" cy="22860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508000" y="2921000"/>
            <a:ext cx="2082800" cy="508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8500" y="3175000"/>
            <a:ext cx="406400" cy="406400"/>
          </a:xfrm>
          <a:prstGeom prst="rect">
            <a:avLst/>
          </a:prstGeom>
        </p:spPr>
      </p:pic>
      <p:sp>
        <p:nvSpPr>
          <p:cNvPr id="10" name="AutoShape 10"/>
          <p:cNvSpPr/>
          <p:nvPr/>
        </p:nvSpPr>
        <p:spPr>
          <a:xfrm>
            <a:off x="698500" y="3810000"/>
            <a:ext cx="17018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01. 数据去重</a:t>
            </a:r>
            <a:endParaRPr lang="en-US" sz="1100"/>
          </a:p>
        </p:txBody>
      </p:sp>
      <p:cxnSp>
        <p:nvCxnSpPr>
          <p:cNvPr id="11" name="Connector 11"/>
          <p:cNvCxnSpPr/>
          <p:nvPr/>
        </p:nvCxnSpPr>
        <p:spPr>
          <a:xfrm rot="-25654">
            <a:off x="698524" y="4311650"/>
            <a:ext cx="1701800" cy="12700"/>
          </a:xfrm>
          <a:prstGeom prst="straightConnector1">
            <a:avLst/>
          </a:prstGeom>
          <a:solidFill>
            <a:srgbClr val="DEE0E3">
              <a:alpha val="100000"/>
            </a:srgbClr>
          </a:solidFill>
          <a:ln w="12700" cap="flat" cmpd="sng">
            <a:solidFill>
              <a:srgbClr val="F3F4F6">
                <a:alpha val="100000"/>
              </a:srgbClr>
            </a:solidFill>
            <a:prstDash val="dash"/>
            <a:round/>
            <a:headEnd type="none" w="med" len="med"/>
            <a:tailEnd type="none" w="med" len="med"/>
          </a:ln>
        </p:spPr>
      </p:cxnSp>
      <p:sp>
        <p:nvSpPr>
          <p:cNvPr id="12" name="AutoShape 12"/>
          <p:cNvSpPr/>
          <p:nvPr/>
        </p:nvSpPr>
        <p:spPr>
          <a:xfrm>
            <a:off x="698500" y="4445000"/>
            <a:ext cx="1701800" cy="76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4B5563"/>
                </a:solidFill>
                <a:latin typeface="Noto Sans SC"/>
                <a:ea typeface="Noto Sans SC"/>
                <a:cs typeface="Noto Sans SC"/>
                <a:sym typeface="Noto Sans SC"/>
              </a:rPr>
              <a:t>基于城市名称与ID联合主键，清洗并删除数据集中的完全重复行，确保样本唯一性。</a:t>
            </a:r>
            <a:endParaRPr lang="en-US" sz="1100"/>
          </a:p>
        </p:txBody>
      </p:sp>
      <p:sp>
        <p:nvSpPr>
          <p:cNvPr id="13" name="AutoShape 13"/>
          <p:cNvSpPr/>
          <p:nvPr/>
        </p:nvSpPr>
        <p:spPr>
          <a:xfrm>
            <a:off x="2794000" y="2921000"/>
            <a:ext cx="2082800" cy="22860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2794000" y="2921000"/>
            <a:ext cx="20828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984500" y="3175000"/>
            <a:ext cx="406400" cy="406400"/>
          </a:xfrm>
          <a:prstGeom prst="rect">
            <a:avLst/>
          </a:prstGeom>
        </p:spPr>
      </p:pic>
      <p:sp>
        <p:nvSpPr>
          <p:cNvPr id="16" name="AutoShape 16"/>
          <p:cNvSpPr/>
          <p:nvPr/>
        </p:nvSpPr>
        <p:spPr>
          <a:xfrm>
            <a:off x="2984500" y="3810000"/>
            <a:ext cx="17018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02. 坐标清洗</a:t>
            </a:r>
            <a:endParaRPr lang="en-US" sz="1100"/>
          </a:p>
        </p:txBody>
      </p:sp>
      <p:cxnSp>
        <p:nvCxnSpPr>
          <p:cNvPr id="17" name="Connector 17"/>
          <p:cNvCxnSpPr/>
          <p:nvPr/>
        </p:nvCxnSpPr>
        <p:spPr>
          <a:xfrm rot="-25654">
            <a:off x="2984524" y="4311650"/>
            <a:ext cx="1701800" cy="12700"/>
          </a:xfrm>
          <a:prstGeom prst="straightConnector1">
            <a:avLst/>
          </a:prstGeom>
          <a:solidFill>
            <a:srgbClr val="DEE0E3">
              <a:alpha val="100000"/>
            </a:srgbClr>
          </a:solidFill>
          <a:ln w="12700" cap="flat" cmpd="sng">
            <a:solidFill>
              <a:srgbClr val="F3F4F6">
                <a:alpha val="100000"/>
              </a:srgbClr>
            </a:solidFill>
            <a:prstDash val="dash"/>
            <a:round/>
            <a:headEnd type="none" w="med" len="med"/>
            <a:tailEnd type="none" w="med" len="med"/>
          </a:ln>
        </p:spPr>
      </p:cxnSp>
      <p:sp>
        <p:nvSpPr>
          <p:cNvPr id="18" name="AutoShape 18"/>
          <p:cNvSpPr/>
          <p:nvPr/>
        </p:nvSpPr>
        <p:spPr>
          <a:xfrm>
            <a:off x="2984500" y="4445000"/>
            <a:ext cx="1701800" cy="76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4B5563"/>
                </a:solidFill>
                <a:latin typeface="Noto Sans SC"/>
                <a:ea typeface="Noto Sans SC"/>
                <a:cs typeface="Noto Sans SC"/>
                <a:sym typeface="Noto Sans SC"/>
              </a:rPr>
              <a:t>校验经纬度数值有效性，剔除超出合理地理范围（纬度±90，经度±180）的异常数据。</a:t>
            </a:r>
            <a:endParaRPr lang="en-US" sz="1100"/>
          </a:p>
        </p:txBody>
      </p:sp>
      <p:sp>
        <p:nvSpPr>
          <p:cNvPr id="19" name="AutoShape 19"/>
          <p:cNvSpPr/>
          <p:nvPr/>
        </p:nvSpPr>
        <p:spPr>
          <a:xfrm>
            <a:off x="5080000" y="2921000"/>
            <a:ext cx="2082800" cy="22860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5080000" y="2921000"/>
            <a:ext cx="2082800" cy="50800"/>
          </a:xfrm>
          <a:prstGeom prst="roundRect">
            <a:avLst>
              <a:gd name="adj" fmla="val 0"/>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270500" y="3175000"/>
            <a:ext cx="406400" cy="406400"/>
          </a:xfrm>
          <a:prstGeom prst="rect">
            <a:avLst/>
          </a:prstGeom>
        </p:spPr>
      </p:pic>
      <p:sp>
        <p:nvSpPr>
          <p:cNvPr id="22" name="AutoShape 22"/>
          <p:cNvSpPr/>
          <p:nvPr/>
        </p:nvSpPr>
        <p:spPr>
          <a:xfrm>
            <a:off x="5270500" y="3810000"/>
            <a:ext cx="17018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03. 预算量化</a:t>
            </a:r>
            <a:endParaRPr lang="en-US" sz="1100"/>
          </a:p>
        </p:txBody>
      </p:sp>
      <p:cxnSp>
        <p:nvCxnSpPr>
          <p:cNvPr id="23" name="Connector 23"/>
          <p:cNvCxnSpPr/>
          <p:nvPr/>
        </p:nvCxnSpPr>
        <p:spPr>
          <a:xfrm rot="-25654">
            <a:off x="5270524" y="4311650"/>
            <a:ext cx="1701800" cy="12700"/>
          </a:xfrm>
          <a:prstGeom prst="straightConnector1">
            <a:avLst/>
          </a:prstGeom>
          <a:solidFill>
            <a:srgbClr val="DEE0E3">
              <a:alpha val="100000"/>
            </a:srgbClr>
          </a:solidFill>
          <a:ln w="12700" cap="flat" cmpd="sng">
            <a:solidFill>
              <a:srgbClr val="F3F4F6">
                <a:alpha val="100000"/>
              </a:srgbClr>
            </a:solidFill>
            <a:prstDash val="dash"/>
            <a:round/>
            <a:headEnd type="none" w="med" len="med"/>
            <a:tailEnd type="none" w="med" len="med"/>
          </a:ln>
        </p:spPr>
      </p:cxnSp>
      <p:sp>
        <p:nvSpPr>
          <p:cNvPr id="24" name="AutoShape 24"/>
          <p:cNvSpPr/>
          <p:nvPr/>
        </p:nvSpPr>
        <p:spPr>
          <a:xfrm>
            <a:off x="5270500" y="4445000"/>
            <a:ext cx="1701800" cy="76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4B5563"/>
                </a:solidFill>
                <a:latin typeface="Noto Sans SC"/>
                <a:ea typeface="Noto Sans SC"/>
                <a:cs typeface="Noto Sans SC"/>
                <a:sym typeface="Noto Sans SC"/>
              </a:rPr>
              <a:t>将文本型预算（Budget/Midrange/Luxury）标准化映射为数值等级1-3，便于后续算法计算。</a:t>
            </a:r>
            <a:endParaRPr lang="en-US" sz="1100"/>
          </a:p>
        </p:txBody>
      </p:sp>
      <p:sp>
        <p:nvSpPr>
          <p:cNvPr id="25" name="AutoShape 25"/>
          <p:cNvSpPr/>
          <p:nvPr/>
        </p:nvSpPr>
        <p:spPr>
          <a:xfrm>
            <a:off x="7366000" y="2921000"/>
            <a:ext cx="2082800" cy="22860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7366000" y="2921000"/>
            <a:ext cx="2082800" cy="50800"/>
          </a:xfrm>
          <a:prstGeom prst="roundRect">
            <a:avLst>
              <a:gd name="adj" fmla="val 0"/>
            </a:avLst>
          </a:prstGeom>
          <a:solidFill>
            <a:srgbClr val="EC4899">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7" name="Picture 2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556500" y="3175000"/>
            <a:ext cx="406400" cy="406400"/>
          </a:xfrm>
          <a:prstGeom prst="rect">
            <a:avLst/>
          </a:prstGeom>
        </p:spPr>
      </p:pic>
      <p:sp>
        <p:nvSpPr>
          <p:cNvPr id="28" name="AutoShape 28"/>
          <p:cNvSpPr/>
          <p:nvPr/>
        </p:nvSpPr>
        <p:spPr>
          <a:xfrm>
            <a:off x="7556500" y="3810000"/>
            <a:ext cx="17018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04. 标签提取</a:t>
            </a:r>
            <a:endParaRPr lang="en-US" sz="1100"/>
          </a:p>
        </p:txBody>
      </p:sp>
      <p:cxnSp>
        <p:nvCxnSpPr>
          <p:cNvPr id="29" name="Connector 29"/>
          <p:cNvCxnSpPr/>
          <p:nvPr/>
        </p:nvCxnSpPr>
        <p:spPr>
          <a:xfrm rot="-25654">
            <a:off x="7556524" y="4311650"/>
            <a:ext cx="1701800" cy="12700"/>
          </a:xfrm>
          <a:prstGeom prst="straightConnector1">
            <a:avLst/>
          </a:prstGeom>
          <a:solidFill>
            <a:srgbClr val="DEE0E3">
              <a:alpha val="100000"/>
            </a:srgbClr>
          </a:solidFill>
          <a:ln w="12700" cap="flat" cmpd="sng">
            <a:solidFill>
              <a:srgbClr val="F3F4F6">
                <a:alpha val="100000"/>
              </a:srgbClr>
            </a:solidFill>
            <a:prstDash val="dash"/>
            <a:round/>
            <a:headEnd type="none" w="med" len="med"/>
            <a:tailEnd type="none" w="med" len="med"/>
          </a:ln>
        </p:spPr>
      </p:cxnSp>
      <p:sp>
        <p:nvSpPr>
          <p:cNvPr id="30" name="AutoShape 30"/>
          <p:cNvSpPr/>
          <p:nvPr/>
        </p:nvSpPr>
        <p:spPr>
          <a:xfrm>
            <a:off x="7556500" y="4445000"/>
            <a:ext cx="1701800" cy="76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4B5563"/>
                </a:solidFill>
                <a:latin typeface="Noto Sans SC"/>
                <a:ea typeface="Noto Sans SC"/>
                <a:cs typeface="Noto Sans SC"/>
                <a:sym typeface="Noto Sans SC"/>
              </a:rPr>
              <a:t>从城市描述文本中提取高频关键词，生成top_trait字段，凝练城市核心旅游特色。</a:t>
            </a:r>
            <a:endParaRPr lang="en-US" sz="1100"/>
          </a:p>
        </p:txBody>
      </p:sp>
      <p:sp>
        <p:nvSpPr>
          <p:cNvPr id="31" name="AutoShape 31"/>
          <p:cNvSpPr/>
          <p:nvPr/>
        </p:nvSpPr>
        <p:spPr>
          <a:xfrm>
            <a:off x="9601200" y="2921000"/>
            <a:ext cx="2082800" cy="22860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32" name="AutoShape 32"/>
          <p:cNvSpPr/>
          <p:nvPr/>
        </p:nvSpPr>
        <p:spPr>
          <a:xfrm>
            <a:off x="9601200" y="2921000"/>
            <a:ext cx="2082800" cy="50800"/>
          </a:xfrm>
          <a:prstGeom prst="roundRect">
            <a:avLst>
              <a:gd name="adj" fmla="val 0"/>
            </a:avLst>
          </a:prstGeom>
          <a:solidFill>
            <a:srgbClr val="8B5C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3" name="Picture 3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791700" y="3175000"/>
            <a:ext cx="406400" cy="406400"/>
          </a:xfrm>
          <a:prstGeom prst="rect">
            <a:avLst/>
          </a:prstGeom>
        </p:spPr>
      </p:pic>
      <p:sp>
        <p:nvSpPr>
          <p:cNvPr id="34" name="AutoShape 34"/>
          <p:cNvSpPr/>
          <p:nvPr/>
        </p:nvSpPr>
        <p:spPr>
          <a:xfrm>
            <a:off x="9791700" y="3810000"/>
            <a:ext cx="17018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05. 结构规整</a:t>
            </a:r>
            <a:endParaRPr lang="en-US" sz="1100"/>
          </a:p>
        </p:txBody>
      </p:sp>
      <p:cxnSp>
        <p:nvCxnSpPr>
          <p:cNvPr id="35" name="Connector 35"/>
          <p:cNvCxnSpPr/>
          <p:nvPr/>
        </p:nvCxnSpPr>
        <p:spPr>
          <a:xfrm rot="-25654">
            <a:off x="9791724" y="4311650"/>
            <a:ext cx="1701800" cy="12700"/>
          </a:xfrm>
          <a:prstGeom prst="straightConnector1">
            <a:avLst/>
          </a:prstGeom>
          <a:solidFill>
            <a:srgbClr val="DEE0E3">
              <a:alpha val="100000"/>
            </a:srgbClr>
          </a:solidFill>
          <a:ln w="12700" cap="flat" cmpd="sng">
            <a:solidFill>
              <a:srgbClr val="F3F4F6">
                <a:alpha val="100000"/>
              </a:srgbClr>
            </a:solidFill>
            <a:prstDash val="dash"/>
            <a:round/>
            <a:headEnd type="none" w="med" len="med"/>
            <a:tailEnd type="none" w="med" len="med"/>
          </a:ln>
        </p:spPr>
      </p:cxnSp>
      <p:sp>
        <p:nvSpPr>
          <p:cNvPr id="36" name="AutoShape 36"/>
          <p:cNvSpPr/>
          <p:nvPr/>
        </p:nvSpPr>
        <p:spPr>
          <a:xfrm>
            <a:off x="9791700" y="4445000"/>
            <a:ext cx="1701800" cy="76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4B5563"/>
                </a:solidFill>
                <a:latin typeface="Noto Sans SC"/>
                <a:ea typeface="Noto Sans SC"/>
                <a:cs typeface="Noto Sans SC"/>
                <a:sym typeface="Noto Sans SC"/>
              </a:rPr>
              <a:t>解析嵌套JSON数组字段，合并分散的城市描述文本，统一字段格式与编码。</a:t>
            </a:r>
            <a:endParaRPr lang="en-US" sz="1100"/>
          </a:p>
        </p:txBody>
      </p:sp>
      <p:sp>
        <p:nvSpPr>
          <p:cNvPr id="37" name="AutoShape 37"/>
          <p:cNvSpPr/>
          <p:nvPr/>
        </p:nvSpPr>
        <p:spPr>
          <a:xfrm>
            <a:off x="508000" y="5588000"/>
            <a:ext cx="11176000" cy="1016000"/>
          </a:xfrm>
          <a:prstGeom prst="roundRect">
            <a:avLst>
              <a:gd name="adj" fmla="val 0"/>
            </a:avLst>
          </a:prstGeom>
          <a:solidFill>
            <a:srgbClr val="1E3A8A">
              <a:alpha val="5000"/>
            </a:srgbClr>
          </a:solidFill>
          <a:ln w="12700" cap="flat" cmpd="sng">
            <a:solidFill>
              <a:srgbClr val="1E3A8A">
                <a:alpha val="10000"/>
              </a:srgbClr>
            </a:solidFill>
            <a:prstDash val="solid"/>
            <a:round/>
          </a:ln>
        </p:spPr>
        <p:txBody>
          <a:bodyPr vert="horz" wrap="square" lIns="63500" tIns="63500" rIns="63500" bIns="63500" rtlCol="0" anchor="ctr"/>
          <a:lstStyle/>
          <a:p>
            <a:pPr algn="ctr">
              <a:defRPr/>
            </a:pPr>
            <a:endParaRPr/>
          </a:p>
        </p:txBody>
      </p:sp>
      <p:sp>
        <p:nvSpPr>
          <p:cNvPr id="38" name="AutoShape 38"/>
          <p:cNvSpPr/>
          <p:nvPr/>
        </p:nvSpPr>
        <p:spPr>
          <a:xfrm>
            <a:off x="508000" y="5588000"/>
            <a:ext cx="101600" cy="1016000"/>
          </a:xfrm>
          <a:prstGeom prst="roundRect">
            <a:avLst>
              <a:gd name="adj" fmla="val 0"/>
            </a:avLst>
          </a:prstGeom>
          <a:solidFill>
            <a:srgbClr val="1E3A8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9" name="AutoShape 39"/>
          <p:cNvSpPr/>
          <p:nvPr/>
        </p:nvSpPr>
        <p:spPr>
          <a:xfrm>
            <a:off x="889000" y="5715000"/>
            <a:ext cx="5715000" cy="762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400" b="0" i="0" u="none" strike="noStrike">
                <a:solidFill>
                  <a:srgbClr val="374151"/>
                </a:solidFill>
                <a:latin typeface="Noto Sans SC"/>
                <a:ea typeface="Noto Sans SC"/>
                <a:cs typeface="Noto Sans SC"/>
                <a:sym typeface="Noto Sans SC"/>
              </a:rPr>
              <a:t>经过全流程清洗与标准化处理，成功构建了高质量的结构化旅游城市数据库，为后续推荐系统与可视化分析奠定坚实基础。</a:t>
            </a:r>
            <a:endParaRPr lang="en-US" sz="1100"/>
          </a:p>
        </p:txBody>
      </p:sp>
      <p:cxnSp>
        <p:nvCxnSpPr>
          <p:cNvPr id="40" name="Connector 40"/>
          <p:cNvCxnSpPr/>
          <p:nvPr/>
        </p:nvCxnSpPr>
        <p:spPr>
          <a:xfrm rot="5331254">
            <a:off x="6540500" y="6089713"/>
            <a:ext cx="6350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41" name="AutoShape 41"/>
          <p:cNvSpPr/>
          <p:nvPr/>
        </p:nvSpPr>
        <p:spPr>
          <a:xfrm>
            <a:off x="7112000" y="5651500"/>
            <a:ext cx="4318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B7280"/>
                </a:solidFill>
                <a:latin typeface="Noto Sans SC"/>
                <a:ea typeface="Noto Sans SC"/>
                <a:cs typeface="Noto Sans SC"/>
                <a:sym typeface="Noto Sans SC"/>
              </a:rPr>
              <a:t>最终沉淀有效样本：</a:t>
            </a:r>
            <a:r>
              <a:rPr lang="en-US" sz="2800" b="1" i="0" u="none" strike="noStrike">
                <a:solidFill>
                  <a:srgbClr val="2563EB"/>
                </a:solidFill>
                <a:latin typeface="Noto Sans SC"/>
                <a:ea typeface="Noto Sans SC"/>
                <a:cs typeface="Noto Sans SC"/>
                <a:sym typeface="Noto Sans SC"/>
              </a:rPr>
              <a:t>560</a:t>
            </a:r>
            <a:r>
              <a:rPr lang="en-US" sz="1400" b="0" i="0" u="none" strike="noStrike">
                <a:solidFill>
                  <a:srgbClr val="374151"/>
                </a:solidFill>
                <a:latin typeface="Noto Sans SC"/>
                <a:ea typeface="Noto Sans SC"/>
                <a:cs typeface="Noto Sans SC"/>
                <a:sym typeface="Noto Sans SC"/>
              </a:rPr>
              <a:t>个全球核心旅游城市数据资产</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3B82F6">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635000" y="5080000"/>
            <a:ext cx="2540000" cy="2540000"/>
          </a:xfrm>
          <a:prstGeom prst="ellipse">
            <a:avLst/>
          </a:prstGeom>
          <a:solidFill>
            <a:srgbClr val="3B82F6">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381000" y="381000"/>
            <a:ext cx="1143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E3A8A"/>
                </a:solidFill>
                <a:latin typeface="Noto Sans SC"/>
                <a:ea typeface="Noto Sans SC"/>
                <a:cs typeface="Noto Sans SC"/>
                <a:sym typeface="Noto Sans SC"/>
              </a:rPr>
              <a:t>数据分析与挖掘</a:t>
            </a:r>
            <a:endParaRPr lang="en-US" sz="1100"/>
          </a:p>
        </p:txBody>
      </p:sp>
      <p:cxnSp>
        <p:nvCxnSpPr>
          <p:cNvPr id="5" name="Connector 5"/>
          <p:cNvCxnSpPr/>
          <p:nvPr/>
        </p:nvCxnSpPr>
        <p:spPr>
          <a:xfrm rot="-3819">
            <a:off x="381004" y="1136650"/>
            <a:ext cx="11430000" cy="12700"/>
          </a:xfrm>
          <a:prstGeom prst="line">
            <a:avLst/>
          </a:prstGeom>
          <a:solidFill>
            <a:srgbClr val="DEE0E3">
              <a:alpha val="100000"/>
            </a:srgbClr>
          </a:solidFill>
          <a:ln w="12700" cap="flat" cmpd="sng">
            <a:solidFill>
              <a:srgbClr val="3B82F6">
                <a:alpha val="30000"/>
              </a:srgbClr>
            </a:solidFill>
            <a:prstDash val="solid"/>
            <a:round/>
            <a:headEnd type="none" w="med" len="med"/>
            <a:tailEnd type="none" w="med" len="med"/>
          </a:ln>
        </p:spPr>
      </p:cxnSp>
      <p:sp>
        <p:nvSpPr>
          <p:cNvPr id="6" name="AutoShape 6"/>
          <p:cNvSpPr/>
          <p:nvPr/>
        </p:nvSpPr>
        <p:spPr>
          <a:xfrm>
            <a:off x="381000" y="1397000"/>
            <a:ext cx="558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563EB"/>
                </a:solidFill>
                <a:latin typeface="Noto Sans SC"/>
                <a:ea typeface="Noto Sans SC"/>
                <a:cs typeface="Noto Sans SC"/>
                <a:sym typeface="Noto Sans SC"/>
              </a:rPr>
              <a:t>01. 多维统计分析：洞察基础数据特征</a:t>
            </a:r>
            <a:endParaRPr lang="en-US" sz="1100"/>
          </a:p>
        </p:txBody>
      </p:sp>
      <p:sp>
        <p:nvSpPr>
          <p:cNvPr id="7" name="AutoShape 7"/>
          <p:cNvSpPr/>
          <p:nvPr/>
        </p:nvSpPr>
        <p:spPr>
          <a:xfrm>
            <a:off x="381000" y="2032000"/>
            <a:ext cx="2730500" cy="19685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381000" y="2032000"/>
            <a:ext cx="50800" cy="19685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1500" y="2222500"/>
            <a:ext cx="355600" cy="355600"/>
          </a:xfrm>
          <a:prstGeom prst="rect">
            <a:avLst/>
          </a:prstGeom>
        </p:spPr>
      </p:pic>
      <p:sp>
        <p:nvSpPr>
          <p:cNvPr id="10" name="AutoShape 10"/>
          <p:cNvSpPr/>
          <p:nvPr/>
        </p:nvSpPr>
        <p:spPr>
          <a:xfrm>
            <a:off x="1016000" y="2184400"/>
            <a:ext cx="190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全域区域分布</a:t>
            </a:r>
            <a:endParaRPr lang="en-US" sz="1100"/>
          </a:p>
        </p:txBody>
      </p:sp>
      <p:cxnSp>
        <p:nvCxnSpPr>
          <p:cNvPr id="11" name="Connector 11"/>
          <p:cNvCxnSpPr/>
          <p:nvPr/>
        </p:nvCxnSpPr>
        <p:spPr>
          <a:xfrm rot="-18582">
            <a:off x="571517" y="2724150"/>
            <a:ext cx="2349500" cy="12700"/>
          </a:xfrm>
          <a:prstGeom prst="line">
            <a:avLst/>
          </a:prstGeom>
          <a:solidFill>
            <a:srgbClr val="DEE0E3">
              <a:alpha val="100000"/>
            </a:srgbClr>
          </a:solidFill>
          <a:ln w="12700" cap="flat" cmpd="sng">
            <a:solidFill>
              <a:srgbClr val="F3F4F6">
                <a:alpha val="100000"/>
              </a:srgbClr>
            </a:solidFill>
            <a:prstDash val="dash"/>
            <a:round/>
            <a:headEnd type="none" w="med" len="med"/>
            <a:tailEnd type="none" w="med" len="med"/>
          </a:ln>
        </p:spPr>
      </p:cxnSp>
      <p:sp>
        <p:nvSpPr>
          <p:cNvPr id="12" name="AutoShape 12"/>
          <p:cNvSpPr/>
          <p:nvPr/>
        </p:nvSpPr>
        <p:spPr>
          <a:xfrm>
            <a:off x="571500" y="2857500"/>
            <a:ext cx="24130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a:solidFill>
                  <a:srgbClr val="4B5563"/>
                </a:solidFill>
                <a:latin typeface="Noto Sans SC"/>
                <a:ea typeface="Noto Sans SC"/>
                <a:cs typeface="Noto Sans SC"/>
                <a:sym typeface="Noto Sans SC"/>
              </a:rPr>
              <a:t>基于经纬度坐标的地理空间聚类，分析热门目的地的集中度，识别出核心旅游圈与潜力发展区域的分布规律。</a:t>
            </a:r>
            <a:endParaRPr lang="en-US" sz="1100"/>
          </a:p>
        </p:txBody>
      </p:sp>
      <p:sp>
        <p:nvSpPr>
          <p:cNvPr id="13" name="AutoShape 13"/>
          <p:cNvSpPr/>
          <p:nvPr/>
        </p:nvSpPr>
        <p:spPr>
          <a:xfrm>
            <a:off x="3302000" y="2032000"/>
            <a:ext cx="2730500" cy="19685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3302000" y="2032000"/>
            <a:ext cx="50800" cy="1968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492500" y="2222500"/>
            <a:ext cx="355600" cy="355600"/>
          </a:xfrm>
          <a:prstGeom prst="rect">
            <a:avLst/>
          </a:prstGeom>
        </p:spPr>
      </p:pic>
      <p:sp>
        <p:nvSpPr>
          <p:cNvPr id="16" name="AutoShape 16"/>
          <p:cNvSpPr/>
          <p:nvPr/>
        </p:nvSpPr>
        <p:spPr>
          <a:xfrm>
            <a:off x="3937000" y="2184400"/>
            <a:ext cx="190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预算等级画像</a:t>
            </a:r>
            <a:endParaRPr lang="en-US" sz="1100"/>
          </a:p>
        </p:txBody>
      </p:sp>
      <p:cxnSp>
        <p:nvCxnSpPr>
          <p:cNvPr id="17" name="Connector 17"/>
          <p:cNvCxnSpPr/>
          <p:nvPr/>
        </p:nvCxnSpPr>
        <p:spPr>
          <a:xfrm rot="-18582">
            <a:off x="3492517" y="2724150"/>
            <a:ext cx="2349500" cy="12700"/>
          </a:xfrm>
          <a:prstGeom prst="line">
            <a:avLst/>
          </a:prstGeom>
          <a:solidFill>
            <a:srgbClr val="DEE0E3">
              <a:alpha val="100000"/>
            </a:srgbClr>
          </a:solidFill>
          <a:ln w="12700" cap="flat" cmpd="sng">
            <a:solidFill>
              <a:srgbClr val="F3F4F6">
                <a:alpha val="100000"/>
              </a:srgbClr>
            </a:solidFill>
            <a:prstDash val="dash"/>
            <a:round/>
            <a:headEnd type="none" w="med" len="med"/>
            <a:tailEnd type="none" w="med" len="med"/>
          </a:ln>
        </p:spPr>
      </p:cxnSp>
      <p:sp>
        <p:nvSpPr>
          <p:cNvPr id="18" name="AutoShape 18"/>
          <p:cNvSpPr/>
          <p:nvPr/>
        </p:nvSpPr>
        <p:spPr>
          <a:xfrm>
            <a:off x="3492500" y="2857500"/>
            <a:ext cx="24130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a:solidFill>
                  <a:srgbClr val="4B5563"/>
                </a:solidFill>
                <a:latin typeface="Noto Sans SC"/>
                <a:ea typeface="Noto Sans SC"/>
                <a:cs typeface="Noto Sans SC"/>
                <a:sym typeface="Noto Sans SC"/>
              </a:rPr>
              <a:t>量化用户消费能力分层，分析高、中、低不同预算等级用户的占比结构，为差异化产品定价策略提供数据支撑。</a:t>
            </a:r>
            <a:endParaRPr lang="en-US" sz="1100"/>
          </a:p>
        </p:txBody>
      </p:sp>
      <p:sp>
        <p:nvSpPr>
          <p:cNvPr id="19" name="AutoShape 19"/>
          <p:cNvSpPr/>
          <p:nvPr/>
        </p:nvSpPr>
        <p:spPr>
          <a:xfrm>
            <a:off x="381000" y="4318000"/>
            <a:ext cx="2730500" cy="19685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381000" y="4318000"/>
            <a:ext cx="50800" cy="1968500"/>
          </a:xfrm>
          <a:prstGeom prst="roundRect">
            <a:avLst>
              <a:gd name="adj" fmla="val 0"/>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1500" y="4508500"/>
            <a:ext cx="355600" cy="355600"/>
          </a:xfrm>
          <a:prstGeom prst="rect">
            <a:avLst/>
          </a:prstGeom>
        </p:spPr>
      </p:pic>
      <p:sp>
        <p:nvSpPr>
          <p:cNvPr id="22" name="AutoShape 22"/>
          <p:cNvSpPr/>
          <p:nvPr/>
        </p:nvSpPr>
        <p:spPr>
          <a:xfrm>
            <a:off x="1016000" y="4470400"/>
            <a:ext cx="190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核心特质偏好</a:t>
            </a:r>
            <a:endParaRPr lang="en-US" sz="1100"/>
          </a:p>
        </p:txBody>
      </p:sp>
      <p:cxnSp>
        <p:nvCxnSpPr>
          <p:cNvPr id="23" name="Connector 23"/>
          <p:cNvCxnSpPr/>
          <p:nvPr/>
        </p:nvCxnSpPr>
        <p:spPr>
          <a:xfrm rot="-18582">
            <a:off x="571517" y="5010150"/>
            <a:ext cx="2349500" cy="12700"/>
          </a:xfrm>
          <a:prstGeom prst="line">
            <a:avLst/>
          </a:prstGeom>
          <a:solidFill>
            <a:srgbClr val="DEE0E3">
              <a:alpha val="100000"/>
            </a:srgbClr>
          </a:solidFill>
          <a:ln w="12700" cap="flat" cmpd="sng">
            <a:solidFill>
              <a:srgbClr val="F3F4F6">
                <a:alpha val="100000"/>
              </a:srgbClr>
            </a:solidFill>
            <a:prstDash val="dash"/>
            <a:round/>
            <a:headEnd type="none" w="med" len="med"/>
            <a:tailEnd type="none" w="med" len="med"/>
          </a:ln>
        </p:spPr>
      </p:cxnSp>
      <p:sp>
        <p:nvSpPr>
          <p:cNvPr id="24" name="AutoShape 24"/>
          <p:cNvSpPr/>
          <p:nvPr/>
        </p:nvSpPr>
        <p:spPr>
          <a:xfrm>
            <a:off x="571500" y="5143500"/>
            <a:ext cx="24130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a:solidFill>
                  <a:srgbClr val="4B5563"/>
                </a:solidFill>
                <a:latin typeface="Noto Sans SC"/>
                <a:ea typeface="Noto Sans SC"/>
                <a:cs typeface="Noto Sans SC"/>
                <a:sym typeface="Noto Sans SC"/>
              </a:rPr>
              <a:t>提取“文化体验”与“自然风光”为用户最关注的核心标签，构建二元特质矩阵，明确内容运营的重点方向。</a:t>
            </a:r>
            <a:endParaRPr lang="en-US" sz="1100"/>
          </a:p>
        </p:txBody>
      </p:sp>
      <p:sp>
        <p:nvSpPr>
          <p:cNvPr id="25" name="AutoShape 25"/>
          <p:cNvSpPr/>
          <p:nvPr/>
        </p:nvSpPr>
        <p:spPr>
          <a:xfrm>
            <a:off x="3302000" y="4318000"/>
            <a:ext cx="2730500" cy="19685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3302000" y="4318000"/>
            <a:ext cx="50800" cy="1968500"/>
          </a:xfrm>
          <a:prstGeom prst="roundRect">
            <a:avLst>
              <a:gd name="adj" fmla="val 0"/>
            </a:avLst>
          </a:prstGeom>
          <a:solidFill>
            <a:srgbClr val="EC4899">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7" name="Picture 2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492500" y="4508500"/>
            <a:ext cx="355600" cy="355600"/>
          </a:xfrm>
          <a:prstGeom prst="rect">
            <a:avLst/>
          </a:prstGeom>
        </p:spPr>
      </p:pic>
      <p:sp>
        <p:nvSpPr>
          <p:cNvPr id="28" name="AutoShape 28"/>
          <p:cNvSpPr/>
          <p:nvPr/>
        </p:nvSpPr>
        <p:spPr>
          <a:xfrm>
            <a:off x="3937000" y="4470400"/>
            <a:ext cx="190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综合热度排行</a:t>
            </a:r>
            <a:endParaRPr lang="en-US" sz="1100"/>
          </a:p>
        </p:txBody>
      </p:sp>
      <p:cxnSp>
        <p:nvCxnSpPr>
          <p:cNvPr id="29" name="Connector 29"/>
          <p:cNvCxnSpPr/>
          <p:nvPr/>
        </p:nvCxnSpPr>
        <p:spPr>
          <a:xfrm rot="-18582">
            <a:off x="3492517" y="5010150"/>
            <a:ext cx="2349500" cy="12700"/>
          </a:xfrm>
          <a:prstGeom prst="line">
            <a:avLst/>
          </a:prstGeom>
          <a:solidFill>
            <a:srgbClr val="DEE0E3">
              <a:alpha val="100000"/>
            </a:srgbClr>
          </a:solidFill>
          <a:ln w="12700" cap="flat" cmpd="sng">
            <a:solidFill>
              <a:srgbClr val="F3F4F6">
                <a:alpha val="100000"/>
              </a:srgbClr>
            </a:solidFill>
            <a:prstDash val="dash"/>
            <a:round/>
            <a:headEnd type="none" w="med" len="med"/>
            <a:tailEnd type="none" w="med" len="med"/>
          </a:ln>
        </p:spPr>
      </p:cxnSp>
      <p:sp>
        <p:nvSpPr>
          <p:cNvPr id="30" name="AutoShape 30"/>
          <p:cNvSpPr/>
          <p:nvPr/>
        </p:nvSpPr>
        <p:spPr>
          <a:xfrm>
            <a:off x="3492500" y="5143500"/>
            <a:ext cx="24130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a:solidFill>
                  <a:srgbClr val="4B5563"/>
                </a:solidFill>
                <a:latin typeface="Noto Sans SC"/>
                <a:ea typeface="Noto Sans SC"/>
                <a:cs typeface="Noto Sans SC"/>
                <a:sym typeface="Noto Sans SC"/>
              </a:rPr>
              <a:t>结合用户评分、访问量与转化率构建综合指数，输出TOP10标杆目的地，提炼爆款目的地的共性成功要素。</a:t>
            </a:r>
            <a:endParaRPr lang="en-US" sz="1100"/>
          </a:p>
        </p:txBody>
      </p:sp>
      <p:cxnSp>
        <p:nvCxnSpPr>
          <p:cNvPr id="31" name="Connector 31"/>
          <p:cNvCxnSpPr/>
          <p:nvPr/>
        </p:nvCxnSpPr>
        <p:spPr>
          <a:xfrm rot="5389738">
            <a:off x="4222750" y="4152909"/>
            <a:ext cx="4254500" cy="12700"/>
          </a:xfrm>
          <a:prstGeom prst="line">
            <a:avLst/>
          </a:prstGeom>
          <a:solidFill>
            <a:srgbClr val="DEE0E3">
              <a:alpha val="100000"/>
            </a:srgbClr>
          </a:solidFill>
          <a:ln w="12700" cap="flat" cmpd="sng">
            <a:solidFill>
              <a:srgbClr val="D1D5DB">
                <a:alpha val="100000"/>
              </a:srgbClr>
            </a:solidFill>
            <a:prstDash val="dash"/>
            <a:round/>
            <a:headEnd type="none" w="med" len="med"/>
            <a:tailEnd type="none" w="med" len="med"/>
          </a:ln>
        </p:spPr>
      </p:cxnSp>
      <p:sp>
        <p:nvSpPr>
          <p:cNvPr id="32" name="AutoShape 32"/>
          <p:cNvSpPr/>
          <p:nvPr/>
        </p:nvSpPr>
        <p:spPr>
          <a:xfrm>
            <a:off x="6604000" y="1397000"/>
            <a:ext cx="533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563EB"/>
                </a:solidFill>
                <a:latin typeface="Noto Sans SC"/>
                <a:ea typeface="Noto Sans SC"/>
                <a:cs typeface="Noto Sans SC"/>
                <a:sym typeface="Noto Sans SC"/>
              </a:rPr>
              <a:t>02. 智能挖掘算法：驱动业务价值延伸</a:t>
            </a:r>
            <a:endParaRPr lang="en-US" sz="1100"/>
          </a:p>
        </p:txBody>
      </p:sp>
      <p:sp>
        <p:nvSpPr>
          <p:cNvPr id="33" name="AutoShape 33"/>
          <p:cNvSpPr/>
          <p:nvPr/>
        </p:nvSpPr>
        <p:spPr>
          <a:xfrm>
            <a:off x="6604000" y="2032000"/>
            <a:ext cx="5207000" cy="1460500"/>
          </a:xfrm>
          <a:prstGeom prst="roundRect">
            <a:avLst>
              <a:gd name="adj" fmla="val 0"/>
            </a:avLst>
          </a:prstGeom>
          <a:solidFill>
            <a:srgbClr val="EFF6FF">
              <a:alpha val="8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pic>
        <p:nvPicPr>
          <p:cNvPr id="34" name="Picture 3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94500" y="2222500"/>
            <a:ext cx="457200" cy="457200"/>
          </a:xfrm>
          <a:prstGeom prst="rect">
            <a:avLst/>
          </a:prstGeom>
        </p:spPr>
      </p:pic>
      <p:sp>
        <p:nvSpPr>
          <p:cNvPr id="35" name="AutoShape 35"/>
          <p:cNvSpPr/>
          <p:nvPr/>
        </p:nvSpPr>
        <p:spPr>
          <a:xfrm>
            <a:off x="7429500" y="21590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E3A8A"/>
                </a:solidFill>
                <a:latin typeface="Noto Sans SC"/>
                <a:ea typeface="Noto Sans SC"/>
                <a:cs typeface="Noto Sans SC"/>
                <a:sym typeface="Noto Sans SC"/>
              </a:rPr>
              <a:t>协同过滤推荐引擎</a:t>
            </a:r>
            <a:endParaRPr lang="en-US" sz="1100"/>
          </a:p>
        </p:txBody>
      </p:sp>
      <p:cxnSp>
        <p:nvCxnSpPr>
          <p:cNvPr id="36" name="Connector 36"/>
          <p:cNvCxnSpPr/>
          <p:nvPr/>
        </p:nvCxnSpPr>
        <p:spPr>
          <a:xfrm rot="-9046">
            <a:off x="6794508" y="2787650"/>
            <a:ext cx="4826000" cy="12700"/>
          </a:xfrm>
          <a:prstGeom prst="line">
            <a:avLst/>
          </a:prstGeom>
          <a:solidFill>
            <a:srgbClr val="DEE0E3">
              <a:alpha val="100000"/>
            </a:srgbClr>
          </a:solidFill>
          <a:ln w="12700" cap="flat" cmpd="sng">
            <a:solidFill>
              <a:srgbClr val="BFDBFE">
                <a:alpha val="100000"/>
              </a:srgbClr>
            </a:solidFill>
            <a:prstDash val="solid"/>
            <a:round/>
            <a:headEnd type="none" w="med" len="med"/>
            <a:tailEnd type="none" w="med" len="med"/>
          </a:ln>
        </p:spPr>
      </p:cxnSp>
      <p:sp>
        <p:nvSpPr>
          <p:cNvPr id="37" name="AutoShape 37"/>
          <p:cNvSpPr/>
          <p:nvPr/>
        </p:nvSpPr>
        <p:spPr>
          <a:xfrm>
            <a:off x="6794500" y="2857500"/>
            <a:ext cx="4826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a:solidFill>
                  <a:srgbClr val="374151"/>
                </a:solidFill>
                <a:latin typeface="Noto Sans SC"/>
                <a:ea typeface="Noto Sans SC"/>
                <a:cs typeface="Noto Sans SC"/>
                <a:sym typeface="Noto Sans SC"/>
              </a:rPr>
              <a:t>构建用户-项目评分矩阵，计算用户偏好向量，利用余弦相似度算法匹配相似用户群体，实现“千人千面”的个性化内容与产品推荐。</a:t>
            </a:r>
            <a:endParaRPr lang="en-US" sz="1100"/>
          </a:p>
        </p:txBody>
      </p:sp>
      <p:sp>
        <p:nvSpPr>
          <p:cNvPr id="38" name="AutoShape 38"/>
          <p:cNvSpPr/>
          <p:nvPr/>
        </p:nvSpPr>
        <p:spPr>
          <a:xfrm>
            <a:off x="6604000" y="3683000"/>
            <a:ext cx="5207000" cy="1460500"/>
          </a:xfrm>
          <a:prstGeom prst="roundRect">
            <a:avLst>
              <a:gd name="adj" fmla="val 0"/>
            </a:avLst>
          </a:prstGeom>
          <a:solidFill>
            <a:srgbClr val="ECFDF5">
              <a:alpha val="80000"/>
            </a:srgbClr>
          </a:solidFill>
          <a:ln w="12700" cap="flat" cmpd="sng">
            <a:solidFill>
              <a:srgbClr val="A7F3D0">
                <a:alpha val="100000"/>
              </a:srgbClr>
            </a:solidFill>
            <a:prstDash val="solid"/>
            <a:round/>
          </a:ln>
        </p:spPr>
        <p:txBody>
          <a:bodyPr vert="horz" wrap="square" lIns="63500" tIns="63500" rIns="63500" bIns="63500" rtlCol="0" anchor="ctr"/>
          <a:lstStyle/>
          <a:p>
            <a:pPr algn="ctr">
              <a:defRPr/>
            </a:pPr>
            <a:endParaRPr/>
          </a:p>
        </p:txBody>
      </p:sp>
      <p:pic>
        <p:nvPicPr>
          <p:cNvPr id="39" name="Picture 3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794500" y="3873500"/>
            <a:ext cx="457200" cy="457200"/>
          </a:xfrm>
          <a:prstGeom prst="rect">
            <a:avLst/>
          </a:prstGeom>
        </p:spPr>
      </p:pic>
      <p:sp>
        <p:nvSpPr>
          <p:cNvPr id="40" name="AutoShape 40"/>
          <p:cNvSpPr/>
          <p:nvPr/>
        </p:nvSpPr>
        <p:spPr>
          <a:xfrm>
            <a:off x="7429500" y="38100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64E3B"/>
                </a:solidFill>
                <a:latin typeface="Noto Sans SC"/>
                <a:ea typeface="Noto Sans SC"/>
                <a:cs typeface="Noto Sans SC"/>
                <a:sym typeface="Noto Sans SC"/>
              </a:rPr>
              <a:t>大圆弧最优路线规划</a:t>
            </a:r>
            <a:endParaRPr lang="en-US" sz="1100"/>
          </a:p>
        </p:txBody>
      </p:sp>
      <p:cxnSp>
        <p:nvCxnSpPr>
          <p:cNvPr id="41" name="Connector 41"/>
          <p:cNvCxnSpPr/>
          <p:nvPr/>
        </p:nvCxnSpPr>
        <p:spPr>
          <a:xfrm rot="-9046">
            <a:off x="6794508" y="4438650"/>
            <a:ext cx="4826000" cy="12700"/>
          </a:xfrm>
          <a:prstGeom prst="line">
            <a:avLst/>
          </a:prstGeom>
          <a:solidFill>
            <a:srgbClr val="DEE0E3">
              <a:alpha val="100000"/>
            </a:srgbClr>
          </a:solidFill>
          <a:ln w="12700" cap="flat" cmpd="sng">
            <a:solidFill>
              <a:srgbClr val="A7F3D0">
                <a:alpha val="100000"/>
              </a:srgbClr>
            </a:solidFill>
            <a:prstDash val="solid"/>
            <a:round/>
            <a:headEnd type="none" w="med" len="med"/>
            <a:tailEnd type="none" w="med" len="med"/>
          </a:ln>
        </p:spPr>
      </p:cxnSp>
      <p:sp>
        <p:nvSpPr>
          <p:cNvPr id="42" name="AutoShape 42"/>
          <p:cNvSpPr/>
          <p:nvPr/>
        </p:nvSpPr>
        <p:spPr>
          <a:xfrm>
            <a:off x="6794500" y="4508500"/>
            <a:ext cx="4826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a:solidFill>
                  <a:srgbClr val="374151"/>
                </a:solidFill>
                <a:latin typeface="Noto Sans SC"/>
                <a:ea typeface="Noto Sans SC"/>
                <a:cs typeface="Noto Sans SC"/>
                <a:sym typeface="Noto Sans SC"/>
              </a:rPr>
              <a:t>基于球面几何约束筛选候选航线，结合实际航空管制与燃油成本数据，计算符合地球曲率的最短飞行轨迹，优化长途旅行路线方案。</a:t>
            </a:r>
            <a:endParaRPr lang="en-US" sz="1100"/>
          </a:p>
        </p:txBody>
      </p:sp>
      <p:sp>
        <p:nvSpPr>
          <p:cNvPr id="43" name="AutoShape 43"/>
          <p:cNvSpPr/>
          <p:nvPr/>
        </p:nvSpPr>
        <p:spPr>
          <a:xfrm>
            <a:off x="6604000" y="5270500"/>
            <a:ext cx="5207000" cy="1270000"/>
          </a:xfrm>
          <a:prstGeom prst="roundRect">
            <a:avLst>
              <a:gd name="adj" fmla="val 0"/>
            </a:avLst>
          </a:prstGeom>
          <a:solidFill>
            <a:srgbClr val="FFFBEB">
              <a:alpha val="80000"/>
            </a:srgbClr>
          </a:solidFill>
          <a:ln w="12700" cap="flat" cmpd="sng">
            <a:solidFill>
              <a:srgbClr val="FDE68A">
                <a:alpha val="100000"/>
              </a:srgbClr>
            </a:solidFill>
            <a:prstDash val="solid"/>
            <a:round/>
          </a:ln>
        </p:spPr>
        <p:txBody>
          <a:bodyPr vert="horz" wrap="square" lIns="63500" tIns="63500" rIns="63500" bIns="63500" rtlCol="0" anchor="ctr"/>
          <a:lstStyle/>
          <a:p>
            <a:pPr algn="ctr">
              <a:defRPr/>
            </a:pPr>
            <a:endParaRPr/>
          </a:p>
        </p:txBody>
      </p:sp>
      <p:pic>
        <p:nvPicPr>
          <p:cNvPr id="44" name="Picture 4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794500" y="5397500"/>
            <a:ext cx="406400" cy="406400"/>
          </a:xfrm>
          <a:prstGeom prst="rect">
            <a:avLst/>
          </a:prstGeom>
        </p:spPr>
      </p:pic>
      <p:sp>
        <p:nvSpPr>
          <p:cNvPr id="45" name="AutoShape 45"/>
          <p:cNvSpPr/>
          <p:nvPr/>
        </p:nvSpPr>
        <p:spPr>
          <a:xfrm>
            <a:off x="7429500" y="5397500"/>
            <a:ext cx="4191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92400E"/>
                </a:solidFill>
                <a:latin typeface="Noto Sans SC"/>
                <a:ea typeface="Noto Sans SC"/>
                <a:cs typeface="Noto Sans SC"/>
                <a:sym typeface="Noto Sans SC"/>
              </a:rPr>
              <a:t>未来规划：KMeans 城市聚类分析</a:t>
            </a:r>
            <a:endParaRPr lang="en-US" sz="1100"/>
          </a:p>
        </p:txBody>
      </p:sp>
      <p:sp>
        <p:nvSpPr>
          <p:cNvPr id="46" name="AutoShape 46"/>
          <p:cNvSpPr/>
          <p:nvPr/>
        </p:nvSpPr>
        <p:spPr>
          <a:xfrm>
            <a:off x="6794500" y="5842000"/>
            <a:ext cx="4826000" cy="571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a:solidFill>
                  <a:srgbClr val="374151"/>
                </a:solidFill>
                <a:latin typeface="Noto Sans SC"/>
                <a:ea typeface="Noto Sans SC"/>
                <a:cs typeface="Noto Sans SC"/>
                <a:sym typeface="Noto Sans SC"/>
              </a:rPr>
              <a:t>利用无监督学习KMeans算法对目的地城市进行多维特征分组，挖掘潜在的城市群关联，辅助战略布局决策。</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2286000"/>
          </a:xfrm>
          <a:prstGeom prst="roundRect">
            <a:avLst>
              <a:gd name="adj" fmla="val 0"/>
            </a:avLst>
          </a:prstGeom>
          <a:solidFill>
            <a:srgbClr val="2563EB">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381000" y="381000"/>
            <a:ext cx="1143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E3A8A"/>
                </a:solidFill>
                <a:latin typeface="Noto Sans SC"/>
                <a:ea typeface="Noto Sans SC"/>
                <a:cs typeface="Noto Sans SC"/>
                <a:sym typeface="Noto Sans SC"/>
              </a:rPr>
              <a:t>系统总体架构</a:t>
            </a:r>
            <a:endParaRPr lang="en-US" sz="1100"/>
          </a:p>
        </p:txBody>
      </p:sp>
      <p:sp>
        <p:nvSpPr>
          <p:cNvPr id="4" name="AutoShape 4"/>
          <p:cNvSpPr/>
          <p:nvPr/>
        </p:nvSpPr>
        <p:spPr>
          <a:xfrm>
            <a:off x="508000" y="1651000"/>
            <a:ext cx="11176000" cy="1397000"/>
          </a:xfrm>
          <a:prstGeom prst="roundRect">
            <a:avLst>
              <a:gd name="adj" fmla="val 0"/>
            </a:avLst>
          </a:prstGeom>
          <a:solidFill>
            <a:srgbClr val="FFFFFF">
              <a:alpha val="100000"/>
            </a:srgbClr>
          </a:solidFill>
          <a:ln w="12700" cap="flat" cmpd="sng">
            <a:solidFill>
              <a:srgbClr val="3B82F6">
                <a:alpha val="3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508000" y="1651000"/>
            <a:ext cx="101600" cy="13970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89000" y="2044700"/>
            <a:ext cx="609600" cy="609600"/>
          </a:xfrm>
          <a:prstGeom prst="rect">
            <a:avLst/>
          </a:prstGeom>
        </p:spPr>
      </p:pic>
      <p:sp>
        <p:nvSpPr>
          <p:cNvPr id="7" name="AutoShape 7"/>
          <p:cNvSpPr/>
          <p:nvPr/>
        </p:nvSpPr>
        <p:spPr>
          <a:xfrm>
            <a:off x="1778000" y="1841500"/>
            <a:ext cx="2794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前端交互层 (Presentation)</a:t>
            </a:r>
            <a:endParaRPr lang="en-US" sz="1100"/>
          </a:p>
          <a:p>
            <a:pPr indent="0" algn="l">
              <a:lnSpc>
                <a:spcPct val="100000"/>
              </a:lnSpc>
            </a:pPr>
            <a:r>
              <a:rPr lang="en-US" sz="1300" b="0" i="0" u="none" strike="noStrike">
                <a:solidFill>
                  <a:srgbClr val="6B7280"/>
                </a:solidFill>
                <a:latin typeface="Noto Sans SC"/>
                <a:ea typeface="Noto Sans SC"/>
                <a:cs typeface="Noto Sans SC"/>
                <a:sym typeface="Noto Sans SC"/>
              </a:rPr>
              <a:t>面向用户的交互门户，负责界面渲染与数据展示，实现可视化交互体验。</a:t>
            </a:r>
          </a:p>
        </p:txBody>
      </p:sp>
      <p:cxnSp>
        <p:nvCxnSpPr>
          <p:cNvPr id="8" name="Connector 8"/>
          <p:cNvCxnSpPr/>
          <p:nvPr/>
        </p:nvCxnSpPr>
        <p:spPr>
          <a:xfrm rot="5357030">
            <a:off x="4572000" y="2343190"/>
            <a:ext cx="1016000" cy="12700"/>
          </a:xfrm>
          <a:prstGeom prst="line">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9" name="AutoShape 9"/>
          <p:cNvSpPr/>
          <p:nvPr/>
        </p:nvSpPr>
        <p:spPr>
          <a:xfrm>
            <a:off x="5334000" y="1841500"/>
            <a:ext cx="6096000" cy="1016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400" b="1" i="0" u="none" strike="noStrike">
                <a:solidFill>
                  <a:srgbClr val="3B82F6"/>
                </a:solidFill>
                <a:latin typeface="Noto Sans SC"/>
                <a:ea typeface="Noto Sans SC"/>
                <a:cs typeface="Noto Sans SC"/>
                <a:sym typeface="Noto Sans SC"/>
              </a:rPr>
              <a:t>核心技术栈：</a:t>
            </a:r>
            <a:r>
              <a:rPr lang="en-US" sz="1300" b="0" i="0" u="none" strike="noStrike">
                <a:solidFill>
                  <a:srgbClr val="374151"/>
                </a:solidFill>
                <a:latin typeface="Noto Sans SC"/>
                <a:ea typeface="Noto Sans SC"/>
                <a:cs typeface="Noto Sans SC"/>
                <a:sym typeface="Noto Sans SC"/>
              </a:rPr>
              <a:t>采用 HTML5/CSS3/JavaScript 构建响应式界面；利用 Plotly.js 实现数据可视化图表绘制；通过 Fetch API 与后端进行异步数据通信，确保交互流畅。</a:t>
            </a:r>
            <a:endParaRPr lang="en-US" sz="1100"/>
          </a:p>
        </p:txBody>
      </p:sp>
      <p:cxnSp>
        <p:nvCxnSpPr>
          <p:cNvPr id="10" name="Connector 10"/>
          <p:cNvCxnSpPr/>
          <p:nvPr/>
        </p:nvCxnSpPr>
        <p:spPr>
          <a:xfrm rot="5228255">
            <a:off x="5969000" y="3295809"/>
            <a:ext cx="254000" cy="12700"/>
          </a:xfrm>
          <a:prstGeom prst="line">
            <a:avLst/>
          </a:prstGeom>
          <a:solidFill>
            <a:srgbClr val="DEE0E3">
              <a:alpha val="100000"/>
            </a:srgbClr>
          </a:solidFill>
          <a:ln w="25400" cap="flat" cmpd="sng">
            <a:solidFill>
              <a:srgbClr val="9CA3AF">
                <a:alpha val="100000"/>
              </a:srgbClr>
            </a:solidFill>
            <a:prstDash val="solid"/>
            <a:round/>
            <a:headEnd type="none" w="lg" len="lg"/>
            <a:tailEnd type="arrow" w="sm" len="sm"/>
          </a:ln>
        </p:spPr>
      </p:cxnSp>
      <p:sp>
        <p:nvSpPr>
          <p:cNvPr id="11" name="AutoShape 11"/>
          <p:cNvSpPr/>
          <p:nvPr/>
        </p:nvSpPr>
        <p:spPr>
          <a:xfrm>
            <a:off x="508000" y="3556000"/>
            <a:ext cx="11176000" cy="1397000"/>
          </a:xfrm>
          <a:prstGeom prst="roundRect">
            <a:avLst>
              <a:gd name="adj" fmla="val 0"/>
            </a:avLst>
          </a:prstGeom>
          <a:solidFill>
            <a:srgbClr val="FFFFFF">
              <a:alpha val="100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508000" y="3556000"/>
            <a:ext cx="101600" cy="13970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9000" y="3949700"/>
            <a:ext cx="609600" cy="609600"/>
          </a:xfrm>
          <a:prstGeom prst="rect">
            <a:avLst/>
          </a:prstGeom>
        </p:spPr>
      </p:pic>
      <p:sp>
        <p:nvSpPr>
          <p:cNvPr id="14" name="AutoShape 14"/>
          <p:cNvSpPr/>
          <p:nvPr/>
        </p:nvSpPr>
        <p:spPr>
          <a:xfrm>
            <a:off x="1778000" y="3746500"/>
            <a:ext cx="2794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后端服务层 (Application)</a:t>
            </a:r>
            <a:endParaRPr lang="en-US" sz="1100"/>
          </a:p>
          <a:p>
            <a:pPr indent="0" algn="l">
              <a:lnSpc>
                <a:spcPct val="100000"/>
              </a:lnSpc>
            </a:pPr>
            <a:r>
              <a:rPr lang="en-US" sz="1300" b="0" i="0" u="none" strike="noStrike">
                <a:solidFill>
                  <a:srgbClr val="6B7280"/>
                </a:solidFill>
                <a:latin typeface="Noto Sans SC"/>
                <a:ea typeface="Noto Sans SC"/>
                <a:cs typeface="Noto Sans SC"/>
                <a:sym typeface="Noto Sans SC"/>
              </a:rPr>
              <a:t>系统的核心逻辑中枢，负责业务处理、路由分发与接口服务提供。</a:t>
            </a:r>
          </a:p>
        </p:txBody>
      </p:sp>
      <p:cxnSp>
        <p:nvCxnSpPr>
          <p:cNvPr id="15" name="Connector 15"/>
          <p:cNvCxnSpPr/>
          <p:nvPr/>
        </p:nvCxnSpPr>
        <p:spPr>
          <a:xfrm rot="5357030">
            <a:off x="4572000" y="4248190"/>
            <a:ext cx="1016000" cy="12700"/>
          </a:xfrm>
          <a:prstGeom prst="line">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16" name="AutoShape 16"/>
          <p:cNvSpPr/>
          <p:nvPr/>
        </p:nvSpPr>
        <p:spPr>
          <a:xfrm>
            <a:off x="5334000" y="3746500"/>
            <a:ext cx="6096000" cy="1016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400" b="1" i="0" u="none" strike="noStrike">
                <a:solidFill>
                  <a:srgbClr val="10B981"/>
                </a:solidFill>
                <a:latin typeface="Noto Sans SC"/>
                <a:ea typeface="Noto Sans SC"/>
                <a:cs typeface="Noto Sans SC"/>
                <a:sym typeface="Noto Sans SC"/>
              </a:rPr>
              <a:t>核心技术栈：</a:t>
            </a:r>
            <a:r>
              <a:rPr lang="en-US" sz="1300" b="0" i="0" u="none" strike="noStrike">
                <a:solidFill>
                  <a:srgbClr val="374151"/>
                </a:solidFill>
                <a:latin typeface="Noto Sans SC"/>
                <a:ea typeface="Noto Sans SC"/>
                <a:cs typeface="Noto Sans SC"/>
                <a:sym typeface="Noto Sans SC"/>
              </a:rPr>
              <a:t>基于轻量级 Flask 框架搭建，处理 HTTP 路由与请求分发；封装推荐算法与路线规划核心业务逻辑；对外提供标准化 RESTful API 接口，支撑前端调用。</a:t>
            </a:r>
            <a:endParaRPr lang="en-US" sz="1100"/>
          </a:p>
        </p:txBody>
      </p:sp>
      <p:cxnSp>
        <p:nvCxnSpPr>
          <p:cNvPr id="17" name="Connector 17"/>
          <p:cNvCxnSpPr/>
          <p:nvPr/>
        </p:nvCxnSpPr>
        <p:spPr>
          <a:xfrm rot="5228255">
            <a:off x="5969000" y="5200809"/>
            <a:ext cx="254000" cy="12700"/>
          </a:xfrm>
          <a:prstGeom prst="line">
            <a:avLst/>
          </a:prstGeom>
          <a:solidFill>
            <a:srgbClr val="DEE0E3">
              <a:alpha val="100000"/>
            </a:srgbClr>
          </a:solidFill>
          <a:ln w="25400" cap="flat" cmpd="sng">
            <a:solidFill>
              <a:srgbClr val="9CA3AF">
                <a:alpha val="100000"/>
              </a:srgbClr>
            </a:solidFill>
            <a:prstDash val="solid"/>
            <a:round/>
            <a:headEnd type="none" w="lg" len="lg"/>
            <a:tailEnd type="arrow" w="sm" len="sm"/>
          </a:ln>
        </p:spPr>
      </p:cxnSp>
      <p:sp>
        <p:nvSpPr>
          <p:cNvPr id="18" name="AutoShape 18"/>
          <p:cNvSpPr/>
          <p:nvPr/>
        </p:nvSpPr>
        <p:spPr>
          <a:xfrm>
            <a:off x="508000" y="5461000"/>
            <a:ext cx="5524500" cy="1143000"/>
          </a:xfrm>
          <a:prstGeom prst="roundRect">
            <a:avLst>
              <a:gd name="adj" fmla="val 0"/>
            </a:avLst>
          </a:prstGeom>
          <a:solidFill>
            <a:srgbClr val="F59E0B">
              <a:alpha val="10000"/>
            </a:srgbClr>
          </a:solidFill>
          <a:ln w="12700" cap="flat" cmpd="sng">
            <a:solidFill>
              <a:srgbClr val="F59E0B">
                <a:alpha val="30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500" y="5803900"/>
            <a:ext cx="457200" cy="457200"/>
          </a:xfrm>
          <a:prstGeom prst="rect">
            <a:avLst/>
          </a:prstGeom>
        </p:spPr>
      </p:pic>
      <p:sp>
        <p:nvSpPr>
          <p:cNvPr id="20" name="AutoShape 20"/>
          <p:cNvSpPr/>
          <p:nvPr/>
        </p:nvSpPr>
        <p:spPr>
          <a:xfrm>
            <a:off x="1397000" y="5588000"/>
            <a:ext cx="4191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数据存储层 (MySQL)</a:t>
            </a:r>
            <a:endParaRPr lang="en-US" sz="1100"/>
          </a:p>
          <a:p>
            <a:pPr indent="0" algn="l">
              <a:lnSpc>
                <a:spcPct val="100000"/>
              </a:lnSpc>
            </a:pPr>
            <a:r>
              <a:rPr lang="en-US" sz="1200" b="0" i="0" u="none" strike="noStrike">
                <a:solidFill>
                  <a:srgbClr val="4B5563"/>
                </a:solidFill>
                <a:latin typeface="Noto Sans SC"/>
                <a:ea typeface="Noto Sans SC"/>
                <a:cs typeface="Noto Sans SC"/>
                <a:sym typeface="Noto Sans SC"/>
              </a:rPr>
              <a:t>采用高性能 MySQL 关系型数据库，负责存储用户信息、业务配置及历史轨迹数据，保障数据一致性与完整性。</a:t>
            </a:r>
          </a:p>
        </p:txBody>
      </p:sp>
      <p:sp>
        <p:nvSpPr>
          <p:cNvPr id="21" name="AutoShape 21"/>
          <p:cNvSpPr/>
          <p:nvPr/>
        </p:nvSpPr>
        <p:spPr>
          <a:xfrm>
            <a:off x="6159500" y="5461000"/>
            <a:ext cx="5524500" cy="1143000"/>
          </a:xfrm>
          <a:prstGeom prst="roundRect">
            <a:avLst>
              <a:gd name="adj" fmla="val 0"/>
            </a:avLst>
          </a:prstGeom>
          <a:solidFill>
            <a:srgbClr val="6366F1">
              <a:alpha val="10000"/>
            </a:srgbClr>
          </a:solidFill>
          <a:ln w="12700" cap="flat" cmpd="sng">
            <a:solidFill>
              <a:srgbClr val="6366F1">
                <a:alpha val="30000"/>
              </a:srgbClr>
            </a:solidFill>
            <a:prstDash val="solid"/>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50000" y="5803900"/>
            <a:ext cx="457200" cy="457200"/>
          </a:xfrm>
          <a:prstGeom prst="rect">
            <a:avLst/>
          </a:prstGeom>
        </p:spPr>
      </p:pic>
      <p:sp>
        <p:nvSpPr>
          <p:cNvPr id="23" name="AutoShape 23"/>
          <p:cNvSpPr/>
          <p:nvPr/>
        </p:nvSpPr>
        <p:spPr>
          <a:xfrm>
            <a:off x="7048500" y="5588000"/>
            <a:ext cx="4191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数据访问层 (PyMySQL)</a:t>
            </a:r>
            <a:endParaRPr lang="en-US" sz="1100"/>
          </a:p>
          <a:p>
            <a:pPr indent="0" algn="l">
              <a:lnSpc>
                <a:spcPct val="100000"/>
              </a:lnSpc>
            </a:pPr>
            <a:r>
              <a:rPr lang="en-US" sz="1200" b="0" i="0" u="none" strike="noStrike">
                <a:solidFill>
                  <a:srgbClr val="4B5563"/>
                </a:solidFill>
                <a:latin typeface="Noto Sans SC"/>
                <a:ea typeface="Noto Sans SC"/>
                <a:cs typeface="Noto Sans SC"/>
                <a:sym typeface="Noto Sans SC"/>
              </a:rPr>
              <a:t>通过 PyMySQL 驱动建立后端与数据库的高效连接，封装数据查询、插入与更新操作，实现业务逻辑与数据访问的解耦。</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270000" y="-1270000"/>
            <a:ext cx="3810000" cy="3810000"/>
          </a:xfrm>
          <a:prstGeom prst="ellipse">
            <a:avLst/>
          </a:prstGeom>
          <a:solidFill>
            <a:srgbClr val="3B82F6">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8890000" y="4445000"/>
            <a:ext cx="5080000" cy="5080000"/>
          </a:xfrm>
          <a:prstGeom prst="ellipse">
            <a:avLst/>
          </a:prstGeom>
          <a:solidFill>
            <a:srgbClr val="8B5CF6">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381000" y="381000"/>
            <a:ext cx="1143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1F2937"/>
                </a:solidFill>
                <a:latin typeface="Noto Sans SC"/>
                <a:ea typeface="Noto Sans SC"/>
                <a:cs typeface="Noto Sans SC"/>
                <a:sym typeface="Noto Sans SC"/>
              </a:rPr>
              <a:t>功能模块设计（一）</a:t>
            </a:r>
            <a:endParaRPr lang="en-US" sz="1100"/>
          </a:p>
        </p:txBody>
      </p:sp>
      <p:cxnSp>
        <p:nvCxnSpPr>
          <p:cNvPr id="5" name="Connector 5"/>
          <p:cNvCxnSpPr/>
          <p:nvPr/>
        </p:nvCxnSpPr>
        <p:spPr>
          <a:xfrm rot="-3819">
            <a:off x="381004" y="1136650"/>
            <a:ext cx="114300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6" name="AutoShape 6"/>
          <p:cNvSpPr/>
          <p:nvPr/>
        </p:nvSpPr>
        <p:spPr>
          <a:xfrm>
            <a:off x="381000" y="1524000"/>
            <a:ext cx="5651500" cy="2476500"/>
          </a:xfrm>
          <a:prstGeom prst="roundRect">
            <a:avLst>
              <a:gd name="adj" fmla="val 0"/>
            </a:avLst>
          </a:prstGeom>
          <a:solidFill>
            <a:srgbClr val="FFFFFF">
              <a:alpha val="100000"/>
            </a:srgbClr>
          </a:solidFill>
          <a:ln w="12700" cap="flat" cmpd="sng">
            <a:solidFill>
              <a:srgbClr val="3B82F6">
                <a:alpha val="2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381000" y="1524000"/>
            <a:ext cx="76200" cy="24765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8500" y="1714500"/>
            <a:ext cx="457200" cy="457200"/>
          </a:xfrm>
          <a:prstGeom prst="rect">
            <a:avLst/>
          </a:prstGeom>
        </p:spPr>
      </p:pic>
      <p:sp>
        <p:nvSpPr>
          <p:cNvPr id="9" name="AutoShape 9"/>
          <p:cNvSpPr/>
          <p:nvPr/>
        </p:nvSpPr>
        <p:spPr>
          <a:xfrm>
            <a:off x="1333500" y="1714500"/>
            <a:ext cx="4064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01. 首页大屏模块：全域数据可视化中枢</a:t>
            </a:r>
            <a:endParaRPr lang="en-US" sz="1100"/>
          </a:p>
        </p:txBody>
      </p:sp>
      <p:cxnSp>
        <p:nvCxnSpPr>
          <p:cNvPr id="10" name="Connector 10"/>
          <p:cNvCxnSpPr/>
          <p:nvPr/>
        </p:nvCxnSpPr>
        <p:spPr>
          <a:xfrm rot="-8594">
            <a:off x="698508" y="2343150"/>
            <a:ext cx="5080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11" name="AutoShape 11"/>
          <p:cNvSpPr/>
          <p:nvPr/>
        </p:nvSpPr>
        <p:spPr>
          <a:xfrm>
            <a:off x="698500" y="2540000"/>
            <a:ext cx="5207000" cy="1270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a:solidFill>
                  <a:srgbClr val="4B5563"/>
                </a:solidFill>
                <a:latin typeface="Noto Sans SC"/>
                <a:ea typeface="Noto Sans SC"/>
                <a:cs typeface="Noto Sans SC"/>
                <a:sym typeface="Noto Sans SC"/>
              </a:rPr>
              <a:t>以3D地球仪为视觉核心，整合实时统计卡片与TOP10数据排行，直观呈现区域分布热力。结合预算占比饼图与城市特质多维条形图，构建全景式、高交互性的数据驾驶舱，实现宏观数据的一屏掌控。</a:t>
            </a:r>
            <a:endParaRPr lang="en-US" sz="1100"/>
          </a:p>
        </p:txBody>
      </p:sp>
      <p:sp>
        <p:nvSpPr>
          <p:cNvPr id="12" name="AutoShape 12"/>
          <p:cNvSpPr/>
          <p:nvPr/>
        </p:nvSpPr>
        <p:spPr>
          <a:xfrm>
            <a:off x="6159500" y="1524000"/>
            <a:ext cx="5651500" cy="2476500"/>
          </a:xfrm>
          <a:prstGeom prst="roundRect">
            <a:avLst>
              <a:gd name="adj" fmla="val 0"/>
            </a:avLst>
          </a:prstGeom>
          <a:solidFill>
            <a:srgbClr val="FFFFFF">
              <a:alpha val="100000"/>
            </a:srgbClr>
          </a:solidFill>
          <a:ln w="12700" cap="flat" cmpd="sng">
            <a:solidFill>
              <a:srgbClr val="10B981">
                <a:alpha val="20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6159500" y="1524000"/>
            <a:ext cx="76200" cy="2476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77000" y="1714500"/>
            <a:ext cx="457200" cy="457200"/>
          </a:xfrm>
          <a:prstGeom prst="rect">
            <a:avLst/>
          </a:prstGeom>
        </p:spPr>
      </p:pic>
      <p:sp>
        <p:nvSpPr>
          <p:cNvPr id="15" name="AutoShape 15"/>
          <p:cNvSpPr/>
          <p:nvPr/>
        </p:nvSpPr>
        <p:spPr>
          <a:xfrm>
            <a:off x="7112000" y="1714500"/>
            <a:ext cx="4064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02. 城市探索模块：智能检索与多维筛选</a:t>
            </a:r>
            <a:endParaRPr lang="en-US" sz="1100"/>
          </a:p>
        </p:txBody>
      </p:sp>
      <p:cxnSp>
        <p:nvCxnSpPr>
          <p:cNvPr id="16" name="Connector 16"/>
          <p:cNvCxnSpPr/>
          <p:nvPr/>
        </p:nvCxnSpPr>
        <p:spPr>
          <a:xfrm rot="-8594">
            <a:off x="6477008" y="2343150"/>
            <a:ext cx="5080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17" name="AutoShape 17"/>
          <p:cNvSpPr/>
          <p:nvPr/>
        </p:nvSpPr>
        <p:spPr>
          <a:xfrm>
            <a:off x="6477000" y="2540000"/>
            <a:ext cx="5207000" cy="1270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a:solidFill>
                  <a:srgbClr val="4B5563"/>
                </a:solidFill>
                <a:latin typeface="Noto Sans SC"/>
                <a:ea typeface="Noto Sans SC"/>
                <a:cs typeface="Noto Sans SC"/>
                <a:sym typeface="Noto Sans SC"/>
              </a:rPr>
              <a:t>支持城市名称、核心特质关键词的精准检索，提供人口、经济、环境等多维度组合筛选功能。内置列表、网格、缩略图等视图切换模式，配合分页加载机制，让用户高效定位目标城市，快速浏览基础信息概览。</a:t>
            </a:r>
            <a:endParaRPr lang="en-US" sz="1100"/>
          </a:p>
        </p:txBody>
      </p:sp>
      <p:sp>
        <p:nvSpPr>
          <p:cNvPr id="18" name="AutoShape 18"/>
          <p:cNvSpPr/>
          <p:nvPr/>
        </p:nvSpPr>
        <p:spPr>
          <a:xfrm>
            <a:off x="381000" y="4191000"/>
            <a:ext cx="5651500" cy="2476500"/>
          </a:xfrm>
          <a:prstGeom prst="roundRect">
            <a:avLst>
              <a:gd name="adj" fmla="val 0"/>
            </a:avLst>
          </a:prstGeom>
          <a:solidFill>
            <a:srgbClr val="FFFFFF">
              <a:alpha val="100000"/>
            </a:srgbClr>
          </a:solidFill>
          <a:ln w="12700" cap="flat" cmpd="sng">
            <a:solidFill>
              <a:srgbClr val="F59E0B">
                <a:alpha val="20000"/>
              </a:srgbClr>
            </a:solid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381000" y="4191000"/>
            <a:ext cx="76200" cy="2476500"/>
          </a:xfrm>
          <a:prstGeom prst="roundRect">
            <a:avLst>
              <a:gd name="adj" fmla="val 0"/>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500" y="4381500"/>
            <a:ext cx="457200" cy="457200"/>
          </a:xfrm>
          <a:prstGeom prst="rect">
            <a:avLst/>
          </a:prstGeom>
        </p:spPr>
      </p:pic>
      <p:sp>
        <p:nvSpPr>
          <p:cNvPr id="21" name="AutoShape 21"/>
          <p:cNvSpPr/>
          <p:nvPr/>
        </p:nvSpPr>
        <p:spPr>
          <a:xfrm>
            <a:off x="1333500" y="4381500"/>
            <a:ext cx="4064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03. 城市详情模块：深度画像与特质解析</a:t>
            </a:r>
            <a:endParaRPr lang="en-US" sz="1100"/>
          </a:p>
        </p:txBody>
      </p:sp>
      <p:cxnSp>
        <p:nvCxnSpPr>
          <p:cNvPr id="22" name="Connector 22"/>
          <p:cNvCxnSpPr/>
          <p:nvPr/>
        </p:nvCxnSpPr>
        <p:spPr>
          <a:xfrm rot="-8594">
            <a:off x="698508" y="5010150"/>
            <a:ext cx="5080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23" name="AutoShape 23"/>
          <p:cNvSpPr/>
          <p:nvPr/>
        </p:nvSpPr>
        <p:spPr>
          <a:xfrm>
            <a:off x="698500" y="5143500"/>
            <a:ext cx="5207000" cy="1270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a:solidFill>
                  <a:srgbClr val="4B5563"/>
                </a:solidFill>
                <a:latin typeface="Noto Sans SC"/>
                <a:ea typeface="Noto Sans SC"/>
                <a:cs typeface="Noto Sans SC"/>
                <a:sym typeface="Noto Sans SC"/>
              </a:rPr>
              <a:t>聚焦单城深度展示，融合城市风貌图片与地理人文简介。核心通过9项特质雷达图直观呈现城市综合竞争力，辅以基础人口、GDP、产业结构等关键指标卡片，构建立体化、全方位的城市个体画像，辅助精准决策。</a:t>
            </a:r>
            <a:endParaRPr lang="en-US" sz="1100"/>
          </a:p>
        </p:txBody>
      </p:sp>
      <p:sp>
        <p:nvSpPr>
          <p:cNvPr id="24" name="AutoShape 24"/>
          <p:cNvSpPr/>
          <p:nvPr/>
        </p:nvSpPr>
        <p:spPr>
          <a:xfrm>
            <a:off x="6159500" y="4191000"/>
            <a:ext cx="5651500" cy="2476500"/>
          </a:xfrm>
          <a:prstGeom prst="roundRect">
            <a:avLst>
              <a:gd name="adj" fmla="val 0"/>
            </a:avLst>
          </a:prstGeom>
          <a:solidFill>
            <a:srgbClr val="FFFFFF">
              <a:alpha val="100000"/>
            </a:srgbClr>
          </a:solidFill>
          <a:ln w="12700" cap="flat" cmpd="sng">
            <a:solidFill>
              <a:srgbClr val="8B5CF6">
                <a:alpha val="20000"/>
              </a:srgbClr>
            </a:solid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6159500" y="4191000"/>
            <a:ext cx="76200" cy="2476500"/>
          </a:xfrm>
          <a:prstGeom prst="roundRect">
            <a:avLst>
              <a:gd name="adj" fmla="val 0"/>
            </a:avLst>
          </a:prstGeom>
          <a:solidFill>
            <a:srgbClr val="8B5C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6" name="Picture 2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77000" y="4381500"/>
            <a:ext cx="457200" cy="457200"/>
          </a:xfrm>
          <a:prstGeom prst="rect">
            <a:avLst/>
          </a:prstGeom>
        </p:spPr>
      </p:pic>
      <p:sp>
        <p:nvSpPr>
          <p:cNvPr id="27" name="AutoShape 27"/>
          <p:cNvSpPr/>
          <p:nvPr/>
        </p:nvSpPr>
        <p:spPr>
          <a:xfrm>
            <a:off x="7112000" y="4381500"/>
            <a:ext cx="4064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04. 对比分析模块：多城竞合差异洞察</a:t>
            </a:r>
            <a:endParaRPr lang="en-US" sz="1100"/>
          </a:p>
        </p:txBody>
      </p:sp>
      <p:cxnSp>
        <p:nvCxnSpPr>
          <p:cNvPr id="28" name="Connector 28"/>
          <p:cNvCxnSpPr/>
          <p:nvPr/>
        </p:nvCxnSpPr>
        <p:spPr>
          <a:xfrm rot="-8594">
            <a:off x="6477008" y="5010150"/>
            <a:ext cx="5080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29" name="AutoShape 29"/>
          <p:cNvSpPr/>
          <p:nvPr/>
        </p:nvSpPr>
        <p:spPr>
          <a:xfrm>
            <a:off x="6477000" y="5143500"/>
            <a:ext cx="5207000" cy="1270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a:solidFill>
                  <a:srgbClr val="4B5563"/>
                </a:solidFill>
                <a:latin typeface="Noto Sans SC"/>
                <a:ea typeface="Noto Sans SC"/>
                <a:cs typeface="Noto Sans SC"/>
                <a:sym typeface="Noto Sans SC"/>
              </a:rPr>
              <a:t>支持2-4个城市的核心指标横向对比，利用雷达图重叠渲染技术高亮展示各项特质的优势与短板差异。自动计算相似度与互补性指数，为区域联动、产业布局及资源配置提供科学的数据支撑与决策依据。</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890000" y="-1905000"/>
            <a:ext cx="5080000" cy="5080000"/>
          </a:xfrm>
          <a:prstGeom prst="ellipse">
            <a:avLst/>
          </a:prstGeom>
          <a:solidFill>
            <a:srgbClr val="3B82F6">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270000" y="4445000"/>
            <a:ext cx="3810000" cy="3810000"/>
          </a:xfrm>
          <a:prstGeom prst="ellipse">
            <a:avLst/>
          </a:prstGeom>
          <a:solidFill>
            <a:srgbClr val="F59E0B">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508000" y="508000"/>
            <a:ext cx="1143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F172A"/>
                </a:solidFill>
                <a:latin typeface="Noto Sans SC"/>
                <a:ea typeface="Noto Sans SC"/>
                <a:cs typeface="Noto Sans SC"/>
                <a:sym typeface="Noto Sans SC"/>
              </a:rPr>
              <a:t>功能模块设计（二）</a:t>
            </a:r>
            <a:endParaRPr lang="en-US" sz="1100"/>
          </a:p>
        </p:txBody>
      </p:sp>
      <p:cxnSp>
        <p:nvCxnSpPr>
          <p:cNvPr id="5" name="Connector 5"/>
          <p:cNvCxnSpPr/>
          <p:nvPr/>
        </p:nvCxnSpPr>
        <p:spPr>
          <a:xfrm rot="-3906">
            <a:off x="508004" y="1390650"/>
            <a:ext cx="11176000" cy="12700"/>
          </a:xfrm>
          <a:prstGeom prst="line">
            <a:avLst/>
          </a:prstGeom>
          <a:solidFill>
            <a:srgbClr val="DEE0E3">
              <a:alpha val="100000"/>
            </a:srgbClr>
          </a:solidFill>
          <a:ln w="12700" cap="flat" cmpd="sng">
            <a:solidFill>
              <a:srgbClr val="CBD5E1">
                <a:alpha val="80000"/>
              </a:srgbClr>
            </a:solidFill>
            <a:prstDash val="solid"/>
            <a:round/>
            <a:headEnd type="none" w="med" len="med"/>
            <a:tailEnd type="none" w="med" len="med"/>
          </a:ln>
        </p:spPr>
      </p:cxnSp>
      <p:sp>
        <p:nvSpPr>
          <p:cNvPr id="6" name="AutoShape 6"/>
          <p:cNvSpPr/>
          <p:nvPr/>
        </p:nvSpPr>
        <p:spPr>
          <a:xfrm>
            <a:off x="508000" y="1905000"/>
            <a:ext cx="3632200" cy="4445000"/>
          </a:xfrm>
          <a:prstGeom prst="roundRect">
            <a:avLst>
              <a:gd name="adj" fmla="val 0"/>
            </a:avLst>
          </a:prstGeom>
          <a:solidFill>
            <a:srgbClr val="FFFFFF">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508000" y="1905000"/>
            <a:ext cx="3632200" cy="762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762000" y="2222500"/>
            <a:ext cx="508000" cy="508000"/>
          </a:xfrm>
          <a:prstGeom prst="ellipse">
            <a:avLst/>
          </a:prstGeom>
          <a:solidFill>
            <a:srgbClr val="3B82F6">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762000" y="2222500"/>
            <a:ext cx="50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3B82F6"/>
                </a:solidFill>
                <a:latin typeface="Noto Sans SC"/>
                <a:ea typeface="Noto Sans SC"/>
                <a:cs typeface="Noto Sans SC"/>
                <a:sym typeface="Noto Sans SC"/>
              </a:rPr>
              <a:t>05</a:t>
            </a:r>
            <a:endParaRPr lang="en-US" sz="1100"/>
          </a:p>
        </p:txBody>
      </p:sp>
      <p:sp>
        <p:nvSpPr>
          <p:cNvPr id="10" name="AutoShape 10"/>
          <p:cNvSpPr/>
          <p:nvPr/>
        </p:nvSpPr>
        <p:spPr>
          <a:xfrm>
            <a:off x="1460500" y="2222500"/>
            <a:ext cx="228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E293B"/>
                </a:solidFill>
                <a:latin typeface="Noto Sans SC"/>
                <a:ea typeface="Noto Sans SC"/>
                <a:cs typeface="Noto Sans SC"/>
                <a:sym typeface="Noto Sans SC"/>
              </a:rPr>
              <a:t>智能推荐模块</a:t>
            </a:r>
            <a:endParaRPr lang="en-US" sz="1100"/>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2000" y="3302000"/>
            <a:ext cx="609600" cy="609600"/>
          </a:xfrm>
          <a:prstGeom prst="rect">
            <a:avLst/>
          </a:prstGeom>
        </p:spPr>
      </p:pic>
      <p:cxnSp>
        <p:nvCxnSpPr>
          <p:cNvPr id="12" name="Connector 12"/>
          <p:cNvCxnSpPr/>
          <p:nvPr/>
        </p:nvCxnSpPr>
        <p:spPr>
          <a:xfrm rot="-13974">
            <a:off x="762013" y="4184650"/>
            <a:ext cx="3124200" cy="12700"/>
          </a:xfrm>
          <a:prstGeom prst="line">
            <a:avLst/>
          </a:prstGeom>
          <a:solidFill>
            <a:srgbClr val="DEE0E3">
              <a:alpha val="100000"/>
            </a:srgbClr>
          </a:solidFill>
          <a:ln w="12700" cap="flat" cmpd="sng">
            <a:solidFill>
              <a:srgbClr val="F1F5F9">
                <a:alpha val="100000"/>
              </a:srgbClr>
            </a:solidFill>
            <a:prstDash val="dash"/>
            <a:round/>
            <a:headEnd type="none" w="med" len="med"/>
            <a:tailEnd type="none" w="med" len="med"/>
          </a:ln>
        </p:spPr>
      </p:cxnSp>
      <p:sp>
        <p:nvSpPr>
          <p:cNvPr id="13" name="AutoShape 13"/>
          <p:cNvSpPr/>
          <p:nvPr/>
        </p:nvSpPr>
        <p:spPr>
          <a:xfrm>
            <a:off x="762000" y="4445000"/>
            <a:ext cx="3124200" cy="1778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1" i="0" u="none" strike="noStrike">
                <a:solidFill>
                  <a:srgbClr val="334155"/>
                </a:solidFill>
                <a:latin typeface="Noto Sans SC"/>
                <a:ea typeface="Noto Sans SC"/>
                <a:cs typeface="Noto Sans SC"/>
                <a:sym typeface="Noto Sans SC"/>
              </a:rPr>
              <a:t>双模式精准匹配：</a:t>
            </a:r>
            <a:r>
              <a:rPr lang="en-US" sz="1300" b="0" i="0" u="none" strike="noStrike">
                <a:solidFill>
                  <a:srgbClr val="475569"/>
                </a:solidFill>
                <a:latin typeface="Noto Sans SC"/>
                <a:ea typeface="Noto Sans SC"/>
                <a:cs typeface="Noto Sans SC"/>
                <a:sym typeface="Noto Sans SC"/>
              </a:rPr>
              <a:t>支持“基于城市偏好”与“基于多维权重”两种推荐引擎，结合用户历史行为与实时热点动态调整。</a:t>
            </a:r>
            <a:endParaRPr lang="en-US" sz="1100"/>
          </a:p>
          <a:p>
            <a:pPr indent="0" algn="l">
              <a:lnSpc>
                <a:spcPct val="108333"/>
              </a:lnSpc>
            </a:pPr>
            <a:r>
              <a:rPr lang="en-US" sz="1400" b="1" i="0" u="none" strike="noStrike">
                <a:solidFill>
                  <a:srgbClr val="334155"/>
                </a:solidFill>
                <a:latin typeface="Noto Sans SC"/>
                <a:ea typeface="Noto Sans SC"/>
                <a:cs typeface="Noto Sans SC"/>
                <a:sym typeface="Noto Sans SC"/>
              </a:rPr>
              <a:t>可视化匹配度：</a:t>
            </a:r>
            <a:r>
              <a:rPr lang="en-US" sz="1300" b="0" i="0" u="none" strike="noStrike">
                <a:solidFill>
                  <a:srgbClr val="475569"/>
                </a:solidFill>
                <a:latin typeface="Noto Sans SC"/>
                <a:ea typeface="Noto Sans SC"/>
                <a:cs typeface="Noto Sans SC"/>
                <a:sym typeface="Noto Sans SC"/>
              </a:rPr>
              <a:t>以进度条形式直观展示推荐结果与用户需求的契合度，提供可解释性的推荐理由说明。</a:t>
            </a:r>
          </a:p>
        </p:txBody>
      </p:sp>
      <p:sp>
        <p:nvSpPr>
          <p:cNvPr id="14" name="AutoShape 14"/>
          <p:cNvSpPr/>
          <p:nvPr/>
        </p:nvSpPr>
        <p:spPr>
          <a:xfrm>
            <a:off x="4394200" y="1905000"/>
            <a:ext cx="3632200" cy="4445000"/>
          </a:xfrm>
          <a:prstGeom prst="roundRect">
            <a:avLst>
              <a:gd name="adj" fmla="val 0"/>
            </a:avLst>
          </a:prstGeom>
          <a:solidFill>
            <a:srgbClr val="FFFFFF">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4394200" y="1905000"/>
            <a:ext cx="3632200" cy="76200"/>
          </a:xfrm>
          <a:prstGeom prst="roundRect">
            <a:avLst>
              <a:gd name="adj" fmla="val 0"/>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4648200" y="2222500"/>
            <a:ext cx="508000" cy="508000"/>
          </a:xfrm>
          <a:prstGeom prst="ellipse">
            <a:avLst/>
          </a:prstGeom>
          <a:solidFill>
            <a:srgbClr val="F59E0B">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4648200" y="2222500"/>
            <a:ext cx="50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F59E0B"/>
                </a:solidFill>
                <a:latin typeface="Noto Sans SC"/>
                <a:ea typeface="Noto Sans SC"/>
                <a:cs typeface="Noto Sans SC"/>
                <a:sym typeface="Noto Sans SC"/>
              </a:rPr>
              <a:t>06</a:t>
            </a:r>
            <a:endParaRPr lang="en-US" sz="1100"/>
          </a:p>
        </p:txBody>
      </p:sp>
      <p:sp>
        <p:nvSpPr>
          <p:cNvPr id="18" name="AutoShape 18"/>
          <p:cNvSpPr/>
          <p:nvPr/>
        </p:nvSpPr>
        <p:spPr>
          <a:xfrm>
            <a:off x="5346700" y="2222500"/>
            <a:ext cx="228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E293B"/>
                </a:solidFill>
                <a:latin typeface="Noto Sans SC"/>
                <a:ea typeface="Noto Sans SC"/>
                <a:cs typeface="Noto Sans SC"/>
                <a:sym typeface="Noto Sans SC"/>
              </a:rPr>
              <a:t>旅行规划器模块</a:t>
            </a:r>
            <a:endParaRPr lang="en-US" sz="1100"/>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48200" y="3302000"/>
            <a:ext cx="609600" cy="609600"/>
          </a:xfrm>
          <a:prstGeom prst="rect">
            <a:avLst/>
          </a:prstGeom>
        </p:spPr>
      </p:pic>
      <p:cxnSp>
        <p:nvCxnSpPr>
          <p:cNvPr id="20" name="Connector 20"/>
          <p:cNvCxnSpPr/>
          <p:nvPr/>
        </p:nvCxnSpPr>
        <p:spPr>
          <a:xfrm rot="-13974">
            <a:off x="4648213" y="4184650"/>
            <a:ext cx="3124200" cy="12700"/>
          </a:xfrm>
          <a:prstGeom prst="line">
            <a:avLst/>
          </a:prstGeom>
          <a:solidFill>
            <a:srgbClr val="DEE0E3">
              <a:alpha val="100000"/>
            </a:srgbClr>
          </a:solidFill>
          <a:ln w="12700" cap="flat" cmpd="sng">
            <a:solidFill>
              <a:srgbClr val="F1F5F9">
                <a:alpha val="100000"/>
              </a:srgbClr>
            </a:solidFill>
            <a:prstDash val="dash"/>
            <a:round/>
            <a:headEnd type="none" w="med" len="med"/>
            <a:tailEnd type="none" w="med" len="med"/>
          </a:ln>
        </p:spPr>
      </p:cxnSp>
      <p:sp>
        <p:nvSpPr>
          <p:cNvPr id="21" name="AutoShape 21"/>
          <p:cNvSpPr/>
          <p:nvPr/>
        </p:nvSpPr>
        <p:spPr>
          <a:xfrm>
            <a:off x="4648200" y="4445000"/>
            <a:ext cx="3124200" cy="1778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1" i="0" u="none" strike="noStrike">
                <a:solidFill>
                  <a:srgbClr val="334155"/>
                </a:solidFill>
                <a:latin typeface="Noto Sans SC"/>
                <a:ea typeface="Noto Sans SC"/>
                <a:cs typeface="Noto Sans SC"/>
                <a:sym typeface="Noto Sans SC"/>
              </a:rPr>
              <a:t>核心参数输入：</a:t>
            </a:r>
            <a:r>
              <a:rPr lang="en-US" sz="1300" b="0" i="0" u="none" strike="noStrike">
                <a:solidFill>
                  <a:srgbClr val="475569"/>
                </a:solidFill>
                <a:latin typeface="Noto Sans SC"/>
                <a:ea typeface="Noto Sans SC"/>
                <a:cs typeface="Noto Sans SC"/>
                <a:sym typeface="Noto Sans SC"/>
              </a:rPr>
              <a:t>用户可自由设定目的地城市、出行天数及预算上限，系统自动解析核心需求。</a:t>
            </a:r>
            <a:endParaRPr lang="en-US" sz="1100"/>
          </a:p>
          <a:p>
            <a:pPr indent="0" algn="l">
              <a:lnSpc>
                <a:spcPct val="108333"/>
              </a:lnSpc>
            </a:pPr>
            <a:r>
              <a:rPr lang="en-US" sz="1400" b="1" i="0" u="none" strike="noStrike">
                <a:solidFill>
                  <a:srgbClr val="334155"/>
                </a:solidFill>
                <a:latin typeface="Noto Sans SC"/>
                <a:ea typeface="Noto Sans SC"/>
                <a:cs typeface="Noto Sans SC"/>
                <a:sym typeface="Noto Sans SC"/>
              </a:rPr>
              <a:t>自动生成方案：</a:t>
            </a:r>
            <a:r>
              <a:rPr lang="en-US" sz="1300" b="0" i="0" u="none" strike="noStrike">
                <a:solidFill>
                  <a:srgbClr val="475569"/>
                </a:solidFill>
                <a:latin typeface="Noto Sans SC"/>
                <a:ea typeface="Noto Sans SC"/>
                <a:cs typeface="Noto Sans SC"/>
                <a:sym typeface="Noto Sans SC"/>
              </a:rPr>
              <a:t>基于POI数据与交通耗时，智能编排每日行程建议，并实时核算总费用明细，提供预算预警功能。</a:t>
            </a:r>
          </a:p>
        </p:txBody>
      </p:sp>
      <p:sp>
        <p:nvSpPr>
          <p:cNvPr id="22" name="AutoShape 22"/>
          <p:cNvSpPr/>
          <p:nvPr/>
        </p:nvSpPr>
        <p:spPr>
          <a:xfrm>
            <a:off x="8153400" y="1905000"/>
            <a:ext cx="3632200" cy="4445000"/>
          </a:xfrm>
          <a:prstGeom prst="roundRect">
            <a:avLst>
              <a:gd name="adj" fmla="val 0"/>
            </a:avLst>
          </a:prstGeom>
          <a:solidFill>
            <a:srgbClr val="FFFFFF">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8153400" y="1905000"/>
            <a:ext cx="3632200" cy="762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8407400" y="2222500"/>
            <a:ext cx="508000" cy="508000"/>
          </a:xfrm>
          <a:prstGeom prst="ellipse">
            <a:avLst/>
          </a:prstGeom>
          <a:solidFill>
            <a:srgbClr val="10B981">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8407400" y="2222500"/>
            <a:ext cx="50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10B981"/>
                </a:solidFill>
                <a:latin typeface="Noto Sans SC"/>
                <a:ea typeface="Noto Sans SC"/>
                <a:cs typeface="Noto Sans SC"/>
                <a:sym typeface="Noto Sans SC"/>
              </a:rPr>
              <a:t>07</a:t>
            </a:r>
            <a:endParaRPr lang="en-US" sz="1100"/>
          </a:p>
        </p:txBody>
      </p:sp>
      <p:sp>
        <p:nvSpPr>
          <p:cNvPr id="26" name="AutoShape 26"/>
          <p:cNvSpPr/>
          <p:nvPr/>
        </p:nvSpPr>
        <p:spPr>
          <a:xfrm>
            <a:off x="9105900" y="2222500"/>
            <a:ext cx="228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E293B"/>
                </a:solidFill>
                <a:latin typeface="Noto Sans SC"/>
                <a:ea typeface="Noto Sans SC"/>
                <a:cs typeface="Noto Sans SC"/>
                <a:sym typeface="Noto Sans SC"/>
              </a:rPr>
              <a:t>路线规划模块</a:t>
            </a:r>
            <a:endParaRPr lang="en-US" sz="1100"/>
          </a:p>
        </p:txBody>
      </p:sp>
      <p:pic>
        <p:nvPicPr>
          <p:cNvPr id="27" name="Picture 2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407400" y="3302000"/>
            <a:ext cx="609600" cy="609600"/>
          </a:xfrm>
          <a:prstGeom prst="rect">
            <a:avLst/>
          </a:prstGeom>
        </p:spPr>
      </p:pic>
      <p:cxnSp>
        <p:nvCxnSpPr>
          <p:cNvPr id="28" name="Connector 28"/>
          <p:cNvCxnSpPr/>
          <p:nvPr/>
        </p:nvCxnSpPr>
        <p:spPr>
          <a:xfrm rot="-13974">
            <a:off x="8407413" y="4184650"/>
            <a:ext cx="3124200" cy="12700"/>
          </a:xfrm>
          <a:prstGeom prst="line">
            <a:avLst/>
          </a:prstGeom>
          <a:solidFill>
            <a:srgbClr val="DEE0E3">
              <a:alpha val="100000"/>
            </a:srgbClr>
          </a:solidFill>
          <a:ln w="12700" cap="flat" cmpd="sng">
            <a:solidFill>
              <a:srgbClr val="F1F5F9">
                <a:alpha val="100000"/>
              </a:srgbClr>
            </a:solidFill>
            <a:prstDash val="dash"/>
            <a:round/>
            <a:headEnd type="none" w="med" len="med"/>
            <a:tailEnd type="none" w="med" len="med"/>
          </a:ln>
        </p:spPr>
      </p:cxnSp>
      <p:sp>
        <p:nvSpPr>
          <p:cNvPr id="29" name="AutoShape 29"/>
          <p:cNvSpPr/>
          <p:nvPr/>
        </p:nvSpPr>
        <p:spPr>
          <a:xfrm>
            <a:off x="8407400" y="4445000"/>
            <a:ext cx="3124200" cy="1778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1" i="0" u="none" strike="noStrike">
                <a:solidFill>
                  <a:srgbClr val="334155"/>
                </a:solidFill>
                <a:latin typeface="Noto Sans SC"/>
                <a:ea typeface="Noto Sans SC"/>
                <a:cs typeface="Noto Sans SC"/>
                <a:sym typeface="Noto Sans SC"/>
              </a:rPr>
              <a:t>灵活路径设置：</a:t>
            </a:r>
            <a:r>
              <a:rPr lang="en-US" sz="1300" b="0" i="0" u="none" strike="noStrike">
                <a:solidFill>
                  <a:srgbClr val="475569"/>
                </a:solidFill>
                <a:latin typeface="Noto Sans SC"/>
                <a:ea typeface="Noto Sans SC"/>
                <a:cs typeface="Noto Sans SC"/>
                <a:sym typeface="Noto Sans SC"/>
              </a:rPr>
              <a:t>支持起点、终点及途经城市数量的自定义设置，满足多城市串联的复杂出行需求。</a:t>
            </a:r>
            <a:endParaRPr lang="en-US" sz="1100"/>
          </a:p>
          <a:p>
            <a:pPr indent="0" algn="l">
              <a:lnSpc>
                <a:spcPct val="108333"/>
              </a:lnSpc>
            </a:pPr>
            <a:r>
              <a:rPr lang="en-US" sz="1400" b="1" i="0" u="none" strike="noStrike">
                <a:solidFill>
                  <a:srgbClr val="334155"/>
                </a:solidFill>
                <a:latin typeface="Noto Sans SC"/>
                <a:ea typeface="Noto Sans SC"/>
                <a:cs typeface="Noto Sans SC"/>
                <a:sym typeface="Noto Sans SC"/>
              </a:rPr>
              <a:t>动态可视化呈现：</a:t>
            </a:r>
            <a:r>
              <a:rPr lang="en-US" sz="1300" b="0" i="0" u="none" strike="noStrike">
                <a:solidFill>
                  <a:srgbClr val="475569"/>
                </a:solidFill>
                <a:latin typeface="Noto Sans SC"/>
                <a:ea typeface="Noto Sans SC"/>
                <a:cs typeface="Noto Sans SC"/>
                <a:sym typeface="Noto Sans SC"/>
              </a:rPr>
              <a:t>采用大圆弧算法生成最优航线，通过地球仪动态绘制路线轨迹，直观展示飞行或自驾的地理路径。</a:t>
            </a:r>
          </a:p>
        </p:txBody>
      </p:sp>
      <p:sp>
        <p:nvSpPr>
          <p:cNvPr id="30" name="AutoShape 30"/>
          <p:cNvSpPr/>
          <p:nvPr/>
        </p:nvSpPr>
        <p:spPr>
          <a:xfrm>
            <a:off x="381000" y="6350000"/>
            <a:ext cx="11430000" cy="508000"/>
          </a:xfrm>
          <a:prstGeom prst="roundRect">
            <a:avLst>
              <a:gd name="adj" fmla="val 0"/>
            </a:avLst>
          </a:prstGeom>
          <a:solidFill>
            <a:srgbClr val="F1F5F9">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AutoShape 31"/>
          <p:cNvSpPr/>
          <p:nvPr/>
        </p:nvSpPr>
        <p:spPr>
          <a:xfrm>
            <a:off x="508000" y="6413500"/>
            <a:ext cx="1117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64748B"/>
                </a:solidFill>
                <a:latin typeface="Noto Sans SC"/>
                <a:ea typeface="Noto Sans SC"/>
                <a:cs typeface="Noto Sans SC"/>
                <a:sym typeface="Noto Sans SC"/>
              </a:rPr>
              <a:t>核心价值：通过智能推荐与自动化规划，将复杂的旅行决策过程转化为可视化、可交互的智能服务体验。</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524000"/>
          </a:xfrm>
          <a:prstGeom prst="roundRect">
            <a:avLst>
              <a:gd name="adj" fmla="val 0"/>
            </a:avLst>
          </a:prstGeom>
          <a:solidFill>
            <a:srgbClr val="2563EB">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508000" y="381000"/>
            <a:ext cx="762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E3A8A"/>
                </a:solidFill>
                <a:latin typeface="Noto Sans SC"/>
                <a:ea typeface="Noto Sans SC"/>
                <a:cs typeface="Noto Sans SC"/>
                <a:sym typeface="Noto Sans SC"/>
              </a:rPr>
              <a:t>数据库设计</a:t>
            </a:r>
            <a:endParaRPr lang="en-US" sz="1100"/>
          </a:p>
        </p:txBody>
      </p:sp>
      <p:sp>
        <p:nvSpPr>
          <p:cNvPr id="4" name="AutoShape 4"/>
          <p:cNvSpPr/>
          <p:nvPr/>
        </p:nvSpPr>
        <p:spPr>
          <a:xfrm>
            <a:off x="8382000" y="508000"/>
            <a:ext cx="3302000" cy="457200"/>
          </a:xfrm>
          <a:prstGeom prst="roundRect">
            <a:avLst>
              <a:gd name="adj" fmla="val 0"/>
            </a:avLst>
          </a:prstGeom>
          <a:solidFill>
            <a:srgbClr val="2563EB">
              <a:alpha val="10000"/>
            </a:srgbClr>
          </a:solidFill>
          <a:ln w="12700" cap="flat" cmpd="sng">
            <a:solidFill>
              <a:srgbClr val="2563EB">
                <a:alpha val="3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8509000" y="584200"/>
            <a:ext cx="3048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1E3A8A"/>
                </a:solidFill>
                <a:latin typeface="Noto Sans SC"/>
                <a:ea typeface="Noto Sans SC"/>
                <a:cs typeface="Noto Sans SC"/>
                <a:sym typeface="Noto Sans SC"/>
              </a:rPr>
              <a:t>DB: travel_db | Core Table: cities</a:t>
            </a:r>
            <a:endParaRPr lang="en-US" sz="1100"/>
          </a:p>
        </p:txBody>
      </p:sp>
      <p:cxnSp>
        <p:nvCxnSpPr>
          <p:cNvPr id="6" name="Connector 6"/>
          <p:cNvCxnSpPr/>
          <p:nvPr/>
        </p:nvCxnSpPr>
        <p:spPr>
          <a:xfrm rot="-3906">
            <a:off x="508004" y="1644650"/>
            <a:ext cx="11176000" cy="12700"/>
          </a:xfrm>
          <a:prstGeom prst="straightConnector1">
            <a:avLst/>
          </a:prstGeom>
          <a:solidFill>
            <a:srgbClr val="DEE0E3">
              <a:alpha val="100000"/>
            </a:srgbClr>
          </a:solidFill>
          <a:ln w="12700" cap="flat" cmpd="sng">
            <a:solidFill>
              <a:srgbClr val="94A3B8">
                <a:alpha val="50000"/>
              </a:srgbClr>
            </a:solidFill>
            <a:prstDash val="solid"/>
            <a:round/>
            <a:headEnd type="none" w="med" len="med"/>
            <a:tailEnd type="none" w="med" len="med"/>
          </a:ln>
        </p:spPr>
      </p:cxnSp>
      <p:sp>
        <p:nvSpPr>
          <p:cNvPr id="7" name="AutoShape 7"/>
          <p:cNvSpPr/>
          <p:nvPr/>
        </p:nvSpPr>
        <p:spPr>
          <a:xfrm>
            <a:off x="508000" y="1905000"/>
            <a:ext cx="685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4155"/>
                </a:solidFill>
                <a:latin typeface="Noto Sans SC"/>
                <a:ea typeface="Noto Sans SC"/>
                <a:cs typeface="Noto Sans SC"/>
                <a:sym typeface="Noto Sans SC"/>
              </a:rPr>
              <a:t>核心字段结构定义</a:t>
            </a:r>
            <a:endParaRPr lang="en-US" sz="1100"/>
          </a:p>
        </p:txBody>
      </p:sp>
      <p:graphicFrame>
        <p:nvGraphicFramePr>
          <p:cNvPr id="8" name="Table 8"/>
          <p:cNvGraphicFramePr>
            <a:graphicFrameLocks noGrp="1"/>
          </p:cNvGraphicFramePr>
          <p:nvPr/>
        </p:nvGraphicFramePr>
        <p:xfrm>
          <a:off x="508000" y="2540000"/>
          <a:ext cx="6858000" cy="3271520"/>
        </p:xfrm>
        <a:graphic>
          <a:graphicData uri="http://schemas.openxmlformats.org/drawingml/2006/table">
            <a:tbl>
              <a:tblPr>
                <a:effectLst/>
              </a:tblPr>
              <a:tblGrid>
                <a:gridCol w="1778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3556000">
                  <a:extLst>
                    <a:ext uri="{9D8B030D-6E8A-4147-A177-3AD203B41FA5}">
                      <a16:colId xmlns:a16="http://schemas.microsoft.com/office/drawing/2014/main" val="20002"/>
                    </a:ext>
                  </a:extLst>
                </a:gridCol>
              </a:tblGrid>
              <a:tr h="508000">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字段名 (Field)</a:t>
                      </a:r>
                      <a:endParaRPr lang="en-US" sz="1100"/>
                    </a:p>
                  </a:txBody>
                  <a:tcPr marL="101600" marR="101600" marT="101600" marB="101600" anchor="ctr">
                    <a:lnL>
                      <a:noFill/>
                    </a:lnL>
                    <a:lnR>
                      <a:noFill/>
                    </a:lnR>
                    <a:lnT>
                      <a:noFill/>
                    </a:lnT>
                    <a:lnB>
                      <a:noFill/>
                    </a:lnB>
                    <a:solidFill>
                      <a:srgbClr val="1E3A8A">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数据类型 (Type)</a:t>
                      </a:r>
                      <a:endParaRPr lang="en-US" sz="1100"/>
                    </a:p>
                  </a:txBody>
                  <a:tcPr marL="101600" marR="101600" marT="101600" marB="101600" anchor="ctr">
                    <a:lnL>
                      <a:noFill/>
                    </a:lnL>
                    <a:lnR>
                      <a:noFill/>
                    </a:lnR>
                    <a:lnT>
                      <a:noFill/>
                    </a:lnT>
                    <a:lnB>
                      <a:noFill/>
                    </a:lnB>
                    <a:solidFill>
                      <a:srgbClr val="1E3A8A">
                        <a:alpha val="100000"/>
                      </a:srgbClr>
                    </a:solidFill>
                  </a:tcPr>
                </a:tc>
                <a:tc>
                  <a:txBody>
                    <a:bodyPr/>
                    <a:lstStyle/>
                    <a:p>
                      <a:pPr marL="127000" indent="0" algn="l">
                        <a:lnSpc>
                          <a:spcPct val="100000"/>
                        </a:lnSpc>
                        <a:defRPr/>
                      </a:pPr>
                      <a:r>
                        <a:rPr lang="en-US" sz="1400" b="1" i="0" u="none" strike="noStrike">
                          <a:solidFill>
                            <a:srgbClr val="FFFFFF"/>
                          </a:solidFill>
                          <a:latin typeface="Noto Sans SC"/>
                          <a:ea typeface="Noto Sans SC"/>
                          <a:cs typeface="Noto Sans SC"/>
                          <a:sym typeface="Noto Sans SC"/>
                        </a:rPr>
                        <a:t>业务说明与约束 (Description)</a:t>
                      </a:r>
                      <a:endParaRPr lang="en-US" sz="1100"/>
                    </a:p>
                  </a:txBody>
                  <a:tcPr marL="101600" marR="101600" marT="101600" marB="101600" anchor="ctr">
                    <a:lnL>
                      <a:noFill/>
                    </a:lnL>
                    <a:lnR>
                      <a:noFill/>
                    </a:lnR>
                    <a:lnT>
                      <a:noFill/>
                    </a:lnT>
                    <a:lnB>
                      <a:noFill/>
                    </a:lnB>
                    <a:solidFill>
                      <a:srgbClr val="1E3A8A">
                        <a:alpha val="100000"/>
                      </a:srgbClr>
                    </a:solidFill>
                  </a:tcPr>
                </a:tc>
                <a:extLst>
                  <a:ext uri="{0D108BD9-81ED-4DB2-BD59-A6C34878D82A}">
                    <a16:rowId xmlns:a16="http://schemas.microsoft.com/office/drawing/2014/main" val="10000"/>
                  </a:ext>
                </a:extLst>
              </a:tr>
              <a:tr h="635000">
                <a:tc>
                  <a:txBody>
                    <a:bodyPr/>
                    <a:lstStyle/>
                    <a:p>
                      <a:pPr indent="0" algn="ctr">
                        <a:lnSpc>
                          <a:spcPct val="100000"/>
                        </a:lnSpc>
                        <a:defRPr/>
                      </a:pPr>
                      <a:r>
                        <a:rPr lang="en-US" sz="1600" b="1" i="0" u="none" strike="noStrike">
                          <a:solidFill>
                            <a:srgbClr val="0F172A"/>
                          </a:solidFill>
                          <a:latin typeface="Noto Sans SC"/>
                          <a:ea typeface="Noto Sans SC"/>
                          <a:cs typeface="Noto Sans SC"/>
                          <a:sym typeface="Noto Sans SC"/>
                        </a:rPr>
                        <a:t>id</a:t>
                      </a:r>
                      <a:endParaRPr lang="en-US" sz="1100"/>
                    </a:p>
                  </a:txBody>
                  <a:tcPr marL="101600" marR="101600" marT="101600" marB="101600" anchor="ctr">
                    <a:lnL>
                      <a:noFill/>
                    </a:lnL>
                    <a:lnR>
                      <a:noFill/>
                    </a:lnR>
                    <a:lnT>
                      <a:noFill/>
                    </a:lnT>
                    <a:lnB>
                      <a:noFill/>
                    </a:lnB>
                    <a:solidFill>
                      <a:srgbClr val="DBEAFE">
                        <a:alpha val="50000"/>
                      </a:srgbClr>
                    </a:solidFill>
                  </a:tcPr>
                </a:tc>
                <a:tc>
                  <a:txBody>
                    <a:bodyPr/>
                    <a:lstStyle/>
                    <a:p>
                      <a:pPr indent="0" algn="ctr">
                        <a:lnSpc>
                          <a:spcPct val="100000"/>
                        </a:lnSpc>
                        <a:defRPr/>
                      </a:pPr>
                      <a:r>
                        <a:rPr lang="en-US" sz="1600" b="0" i="0" u="none" strike="noStrike">
                          <a:solidFill>
                            <a:srgbClr val="475569"/>
                          </a:solidFill>
                          <a:latin typeface="Noto Sans SC"/>
                          <a:ea typeface="Noto Sans SC"/>
                          <a:cs typeface="Noto Sans SC"/>
                          <a:sym typeface="Noto Sans SC"/>
                        </a:rPr>
                        <a:t>INT (PK)</a:t>
                      </a:r>
                      <a:endParaRPr lang="en-US" sz="1100"/>
                    </a:p>
                  </a:txBody>
                  <a:tcPr marL="101600" marR="101600" marT="101600" marB="101600" anchor="ctr">
                    <a:lnL>
                      <a:noFill/>
                    </a:lnL>
                    <a:lnR>
                      <a:noFill/>
                    </a:lnR>
                    <a:lnT>
                      <a:noFill/>
                    </a:lnT>
                    <a:lnB>
                      <a:noFill/>
                    </a:lnB>
                    <a:solidFill>
                      <a:srgbClr val="DBEAFE">
                        <a:alpha val="50000"/>
                      </a:srgbClr>
                    </a:solidFill>
                  </a:tcPr>
                </a:tc>
                <a:tc>
                  <a:txBody>
                    <a:bodyPr/>
                    <a:lstStyle/>
                    <a:p>
                      <a:pPr marL="127000" indent="0" algn="l">
                        <a:lnSpc>
                          <a:spcPct val="100000"/>
                        </a:lnSpc>
                        <a:defRPr/>
                      </a:pPr>
                      <a:r>
                        <a:rPr lang="en-US" sz="1600" b="0" i="0" u="none" strike="noStrike">
                          <a:solidFill>
                            <a:srgbClr val="334155"/>
                          </a:solidFill>
                          <a:latin typeface="Noto Sans SC"/>
                          <a:ea typeface="Noto Sans SC"/>
                          <a:cs typeface="Noto Sans SC"/>
                          <a:sym typeface="Noto Sans SC"/>
                        </a:rPr>
                        <a:t>城市唯一标识主键，自增非空，作为关联其他表的核心外键基础。</a:t>
                      </a:r>
                      <a:endParaRPr lang="en-US" sz="1100"/>
                    </a:p>
                  </a:txBody>
                  <a:tcPr marL="101600" marR="101600" marT="101600" marB="101600" anchor="ctr">
                    <a:lnL>
                      <a:noFill/>
                    </a:lnL>
                    <a:lnR>
                      <a:noFill/>
                    </a:lnR>
                    <a:lnT>
                      <a:noFill/>
                    </a:lnT>
                    <a:lnB>
                      <a:noFill/>
                    </a:lnB>
                    <a:solidFill>
                      <a:srgbClr val="DBEAFE">
                        <a:alpha val="50000"/>
                      </a:srgbClr>
                    </a:solidFill>
                  </a:tcPr>
                </a:tc>
                <a:extLst>
                  <a:ext uri="{0D108BD9-81ED-4DB2-BD59-A6C34878D82A}">
                    <a16:rowId xmlns:a16="http://schemas.microsoft.com/office/drawing/2014/main" val="10001"/>
                  </a:ext>
                </a:extLst>
              </a:tr>
              <a:tr h="635000">
                <a:tc>
                  <a:txBody>
                    <a:bodyPr/>
                    <a:lstStyle/>
                    <a:p>
                      <a:pPr indent="0" algn="ctr">
                        <a:lnSpc>
                          <a:spcPct val="100000"/>
                        </a:lnSpc>
                        <a:defRPr/>
                      </a:pPr>
                      <a:r>
                        <a:rPr lang="en-US" sz="1600" b="0" i="0" u="none" strike="noStrike">
                          <a:solidFill>
                            <a:srgbClr val="0F172A"/>
                          </a:solidFill>
                          <a:latin typeface="Noto Sans SC"/>
                          <a:ea typeface="Noto Sans SC"/>
                          <a:cs typeface="Noto Sans SC"/>
                          <a:sym typeface="Noto Sans SC"/>
                        </a:rPr>
                        <a:t>city / country</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600" b="0" i="0" u="none" strike="noStrike">
                          <a:solidFill>
                            <a:srgbClr val="475569"/>
                          </a:solidFill>
                          <a:latin typeface="Noto Sans SC"/>
                          <a:ea typeface="Noto Sans SC"/>
                          <a:cs typeface="Noto Sans SC"/>
                          <a:sym typeface="Noto Sans SC"/>
                        </a:rPr>
                        <a:t>VARCHAR(64)</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marL="127000" indent="0" algn="l">
                        <a:lnSpc>
                          <a:spcPct val="100000"/>
                        </a:lnSpc>
                        <a:defRPr/>
                      </a:pPr>
                      <a:r>
                        <a:rPr lang="en-US" sz="1600" b="0" i="0" u="none" strike="noStrike">
                          <a:solidFill>
                            <a:srgbClr val="334155"/>
                          </a:solidFill>
                          <a:latin typeface="Noto Sans SC"/>
                          <a:ea typeface="Noto Sans SC"/>
                          <a:cs typeface="Noto Sans SC"/>
                          <a:sym typeface="Noto Sans SC"/>
                        </a:rPr>
                        <a:t>存储城市名称与所属国家全称，支持多语言检索与地域聚合分析。</a:t>
                      </a:r>
                      <a:endParaRPr lang="en-US" sz="1100"/>
                    </a:p>
                  </a:txBody>
                  <a:tcPr marL="101600" marR="101600" marT="101600" marB="101600" anchor="ctr">
                    <a:lnL>
                      <a:noFill/>
                    </a:lnL>
                    <a:lnR>
                      <a:noFill/>
                    </a:lnR>
                    <a:lnT>
                      <a:noFill/>
                    </a:lnT>
                    <a:lnB>
                      <a:noFill/>
                    </a:lnB>
                    <a:solidFill>
                      <a:srgbClr val="FFFFFF">
                        <a:alpha val="100000"/>
                      </a:srgbClr>
                    </a:solidFill>
                  </a:tcPr>
                </a:tc>
                <a:extLst>
                  <a:ext uri="{0D108BD9-81ED-4DB2-BD59-A6C34878D82A}">
                    <a16:rowId xmlns:a16="http://schemas.microsoft.com/office/drawing/2014/main" val="10002"/>
                  </a:ext>
                </a:extLst>
              </a:tr>
              <a:tr h="635000">
                <a:tc>
                  <a:txBody>
                    <a:bodyPr/>
                    <a:lstStyle/>
                    <a:p>
                      <a:pPr indent="0" algn="ctr">
                        <a:lnSpc>
                          <a:spcPct val="100000"/>
                        </a:lnSpc>
                        <a:defRPr/>
                      </a:pPr>
                      <a:r>
                        <a:rPr lang="en-US" sz="1600" b="0" i="0" u="none" strike="noStrike">
                          <a:solidFill>
                            <a:srgbClr val="0F172A"/>
                          </a:solidFill>
                          <a:latin typeface="Noto Sans SC"/>
                          <a:ea typeface="Noto Sans SC"/>
                          <a:cs typeface="Noto Sans SC"/>
                          <a:sym typeface="Noto Sans SC"/>
                        </a:rPr>
                        <a:t>latitude / lng</a:t>
                      </a:r>
                      <a:endParaRPr lang="en-US" sz="1100"/>
                    </a:p>
                  </a:txBody>
                  <a:tcPr marL="101600" marR="101600" marT="101600" marB="101600" anchor="ctr">
                    <a:lnL>
                      <a:noFill/>
                    </a:lnL>
                    <a:lnR>
                      <a:noFill/>
                    </a:lnR>
                    <a:lnT>
                      <a:noFill/>
                    </a:lnT>
                    <a:lnB>
                      <a:noFill/>
                    </a:lnB>
                    <a:solidFill>
                      <a:srgbClr val="DBEAFE">
                        <a:alpha val="50000"/>
                      </a:srgbClr>
                    </a:solidFill>
                  </a:tcPr>
                </a:tc>
                <a:tc>
                  <a:txBody>
                    <a:bodyPr/>
                    <a:lstStyle/>
                    <a:p>
                      <a:pPr indent="0" algn="ctr">
                        <a:lnSpc>
                          <a:spcPct val="100000"/>
                        </a:lnSpc>
                        <a:defRPr/>
                      </a:pPr>
                      <a:r>
                        <a:rPr lang="en-US" sz="1600" b="0" i="0" u="none" strike="noStrike">
                          <a:solidFill>
                            <a:srgbClr val="475569"/>
                          </a:solidFill>
                          <a:latin typeface="Noto Sans SC"/>
                          <a:ea typeface="Noto Sans SC"/>
                          <a:cs typeface="Noto Sans SC"/>
                          <a:sym typeface="Noto Sans SC"/>
                        </a:rPr>
                        <a:t>DECIMAL(10,6)</a:t>
                      </a:r>
                      <a:endParaRPr lang="en-US" sz="1100"/>
                    </a:p>
                  </a:txBody>
                  <a:tcPr marL="101600" marR="101600" marT="101600" marB="101600" anchor="ctr">
                    <a:lnL>
                      <a:noFill/>
                    </a:lnL>
                    <a:lnR>
                      <a:noFill/>
                    </a:lnR>
                    <a:lnT>
                      <a:noFill/>
                    </a:lnT>
                    <a:lnB>
                      <a:noFill/>
                    </a:lnB>
                    <a:solidFill>
                      <a:srgbClr val="DBEAFE">
                        <a:alpha val="50000"/>
                      </a:srgbClr>
                    </a:solidFill>
                  </a:tcPr>
                </a:tc>
                <a:tc>
                  <a:txBody>
                    <a:bodyPr/>
                    <a:lstStyle/>
                    <a:p>
                      <a:pPr marL="127000" indent="0" algn="l">
                        <a:lnSpc>
                          <a:spcPct val="100000"/>
                        </a:lnSpc>
                        <a:defRPr/>
                      </a:pPr>
                      <a:r>
                        <a:rPr lang="en-US" sz="1600" b="0" i="0" u="none" strike="noStrike">
                          <a:solidFill>
                            <a:srgbClr val="334155"/>
                          </a:solidFill>
                          <a:latin typeface="Noto Sans SC"/>
                          <a:ea typeface="Noto Sans SC"/>
                          <a:cs typeface="Noto Sans SC"/>
                          <a:sym typeface="Noto Sans SC"/>
                        </a:rPr>
                        <a:t>高精度存储经纬度坐标，用于计算地理位置距离与地图可视化展示。</a:t>
                      </a:r>
                      <a:endParaRPr lang="en-US" sz="1100"/>
                    </a:p>
                  </a:txBody>
                  <a:tcPr marL="101600" marR="101600" marT="101600" marB="101600" anchor="ctr">
                    <a:lnL>
                      <a:noFill/>
                    </a:lnL>
                    <a:lnR>
                      <a:noFill/>
                    </a:lnR>
                    <a:lnT>
                      <a:noFill/>
                    </a:lnT>
                    <a:lnB>
                      <a:noFill/>
                    </a:lnB>
                    <a:solidFill>
                      <a:srgbClr val="DBEAFE">
                        <a:alpha val="50000"/>
                      </a:srgbClr>
                    </a:solidFill>
                  </a:tcPr>
                </a:tc>
                <a:extLst>
                  <a:ext uri="{0D108BD9-81ED-4DB2-BD59-A6C34878D82A}">
                    <a16:rowId xmlns:a16="http://schemas.microsoft.com/office/drawing/2014/main" val="10003"/>
                  </a:ext>
                </a:extLst>
              </a:tr>
              <a:tr h="635000">
                <a:tc>
                  <a:txBody>
                    <a:bodyPr/>
                    <a:lstStyle/>
                    <a:p>
                      <a:pPr indent="0" algn="ctr">
                        <a:lnSpc>
                          <a:spcPct val="100000"/>
                        </a:lnSpc>
                        <a:defRPr/>
                      </a:pPr>
                      <a:r>
                        <a:rPr lang="en-US" sz="1600" b="0" i="0" u="none" strike="noStrike">
                          <a:solidFill>
                            <a:srgbClr val="0F172A"/>
                          </a:solidFill>
                          <a:latin typeface="Noto Sans SC"/>
                          <a:ea typeface="Noto Sans SC"/>
                          <a:cs typeface="Noto Sans SC"/>
                          <a:sym typeface="Noto Sans SC"/>
                        </a:rPr>
                        <a:t>budget_score</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600" b="0" i="0" u="none" strike="noStrike">
                          <a:solidFill>
                            <a:srgbClr val="475569"/>
                          </a:solidFill>
                          <a:latin typeface="Noto Sans SC"/>
                          <a:ea typeface="Noto Sans SC"/>
                          <a:cs typeface="Noto Sans SC"/>
                          <a:sym typeface="Noto Sans SC"/>
                        </a:rPr>
                        <a:t>TINYINT / FLOAT</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marL="127000" indent="0" algn="l">
                        <a:lnSpc>
                          <a:spcPct val="100000"/>
                        </a:lnSpc>
                        <a:defRPr/>
                      </a:pPr>
                      <a:r>
                        <a:rPr lang="en-US" sz="1600" b="0" i="0" u="none" strike="noStrike">
                          <a:solidFill>
                            <a:srgbClr val="334155"/>
                          </a:solidFill>
                          <a:latin typeface="Noto Sans SC"/>
                          <a:ea typeface="Noto Sans SC"/>
                          <a:cs typeface="Noto Sans SC"/>
                          <a:sym typeface="Noto Sans SC"/>
                        </a:rPr>
                        <a:t>量化城市消费水平（1-5级），结合用户预算偏好进行智能推荐排序。</a:t>
                      </a:r>
                      <a:endParaRPr lang="en-US" sz="1100"/>
                    </a:p>
                  </a:txBody>
                  <a:tcPr marL="101600" marR="101600" marT="101600" marB="101600" anchor="ctr">
                    <a:lnL>
                      <a:noFill/>
                    </a:lnL>
                    <a:lnR>
                      <a:noFill/>
                    </a:lnR>
                    <a:lnT>
                      <a:noFill/>
                    </a:lnT>
                    <a:lnB>
                      <a:noFill/>
                    </a:lnB>
                    <a:solidFill>
                      <a:srgbClr val="FFFFFF">
                        <a:alpha val="100000"/>
                      </a:srgbClr>
                    </a:solidFill>
                  </a:tcPr>
                </a:tc>
                <a:extLst>
                  <a:ext uri="{0D108BD9-81ED-4DB2-BD59-A6C34878D82A}">
                    <a16:rowId xmlns:a16="http://schemas.microsoft.com/office/drawing/2014/main" val="10004"/>
                  </a:ext>
                </a:extLst>
              </a:tr>
            </a:tbl>
          </a:graphicData>
        </a:graphic>
      </p:graphicFrame>
      <p:cxnSp>
        <p:nvCxnSpPr>
          <p:cNvPr id="9" name="Connector 9"/>
          <p:cNvCxnSpPr/>
          <p:nvPr/>
        </p:nvCxnSpPr>
        <p:spPr>
          <a:xfrm rot="5389257">
            <a:off x="5715000" y="4057660"/>
            <a:ext cx="4064000" cy="12700"/>
          </a:xfrm>
          <a:prstGeom prst="straightConnector1">
            <a:avLst/>
          </a:prstGeom>
          <a:solidFill>
            <a:srgbClr val="DEE0E3">
              <a:alpha val="100000"/>
            </a:srgbClr>
          </a:solidFill>
          <a:ln w="12700" cap="flat" cmpd="sng">
            <a:solidFill>
              <a:srgbClr val="CBD5E1">
                <a:alpha val="60000"/>
              </a:srgbClr>
            </a:solidFill>
            <a:prstDash val="dash"/>
            <a:round/>
            <a:headEnd type="none" w="med" len="med"/>
            <a:tailEnd type="none" w="med" len="med"/>
          </a:ln>
        </p:spPr>
      </p:cxnSp>
      <p:sp>
        <p:nvSpPr>
          <p:cNvPr id="10" name="AutoShape 10"/>
          <p:cNvSpPr/>
          <p:nvPr/>
        </p:nvSpPr>
        <p:spPr>
          <a:xfrm>
            <a:off x="8001000" y="2032000"/>
            <a:ext cx="3683000" cy="1333500"/>
          </a:xfrm>
          <a:prstGeom prst="roundRect">
            <a:avLst>
              <a:gd name="adj" fmla="val 0"/>
            </a:avLst>
          </a:prstGeom>
          <a:solidFill>
            <a:srgbClr val="FFF7ED">
              <a:alpha val="100000"/>
            </a:srgbClr>
          </a:solidFill>
          <a:ln w="12700" cap="flat" cmpd="sng">
            <a:solidFill>
              <a:srgbClr val="FDBA74">
                <a:alpha val="5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28000" y="2159000"/>
            <a:ext cx="406400" cy="406400"/>
          </a:xfrm>
          <a:prstGeom prst="rect">
            <a:avLst/>
          </a:prstGeom>
        </p:spPr>
      </p:pic>
      <p:sp>
        <p:nvSpPr>
          <p:cNvPr id="12" name="AutoShape 12"/>
          <p:cNvSpPr/>
          <p:nvPr/>
        </p:nvSpPr>
        <p:spPr>
          <a:xfrm>
            <a:off x="8636000" y="21590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9A3412"/>
                </a:solidFill>
                <a:latin typeface="Noto Sans SC"/>
                <a:ea typeface="Noto Sans SC"/>
                <a:cs typeface="Noto Sans SC"/>
                <a:sym typeface="Noto Sans SC"/>
              </a:rPr>
              <a:t>9维体验特质评分体系</a:t>
            </a:r>
            <a:endParaRPr lang="en-US" sz="1100"/>
          </a:p>
        </p:txBody>
      </p:sp>
      <p:cxnSp>
        <p:nvCxnSpPr>
          <p:cNvPr id="13" name="Connector 13"/>
          <p:cNvCxnSpPr/>
          <p:nvPr/>
        </p:nvCxnSpPr>
        <p:spPr>
          <a:xfrm rot="-13222">
            <a:off x="8128012" y="2660650"/>
            <a:ext cx="3302000" cy="12700"/>
          </a:xfrm>
          <a:prstGeom prst="straightConnector1">
            <a:avLst/>
          </a:prstGeom>
          <a:solidFill>
            <a:srgbClr val="DEE0E3">
              <a:alpha val="100000"/>
            </a:srgbClr>
          </a:solidFill>
          <a:ln w="12700" cap="flat" cmpd="sng">
            <a:solidFill>
              <a:srgbClr val="FDBA74">
                <a:alpha val="30000"/>
              </a:srgbClr>
            </a:solidFill>
            <a:prstDash val="solid"/>
            <a:round/>
            <a:headEnd type="none" w="med" len="med"/>
            <a:tailEnd type="none" w="med" len="med"/>
          </a:ln>
        </p:spPr>
      </p:cxnSp>
      <p:sp>
        <p:nvSpPr>
          <p:cNvPr id="14" name="AutoShape 14"/>
          <p:cNvSpPr/>
          <p:nvPr/>
        </p:nvSpPr>
        <p:spPr>
          <a:xfrm>
            <a:off x="8128000" y="2730500"/>
            <a:ext cx="3429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575858"/>
                </a:solidFill>
                <a:latin typeface="Noto Sans SC"/>
                <a:ea typeface="Noto Sans SC"/>
                <a:cs typeface="Noto Sans SC"/>
                <a:sym typeface="Noto Sans SC"/>
              </a:rPr>
              <a:t>涵盖文化、冒险、自然、海滩等9个核心维度的评分字段，构建城市画像标签，精准匹配用户旅行偏好。</a:t>
            </a:r>
            <a:endParaRPr lang="en-US" sz="1100"/>
          </a:p>
        </p:txBody>
      </p:sp>
      <p:sp>
        <p:nvSpPr>
          <p:cNvPr id="15" name="AutoShape 15"/>
          <p:cNvSpPr/>
          <p:nvPr/>
        </p:nvSpPr>
        <p:spPr>
          <a:xfrm>
            <a:off x="8001000" y="3556000"/>
            <a:ext cx="3683000" cy="1333500"/>
          </a:xfrm>
          <a:prstGeom prst="roundRect">
            <a:avLst>
              <a:gd name="adj" fmla="val 0"/>
            </a:avLst>
          </a:prstGeom>
          <a:solidFill>
            <a:srgbClr val="ECFDF5">
              <a:alpha val="100000"/>
            </a:srgbClr>
          </a:solidFill>
          <a:ln w="12700" cap="flat" cmpd="sng">
            <a:solidFill>
              <a:srgbClr val="6EE7B7">
                <a:alpha val="5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128000" y="3683000"/>
            <a:ext cx="406400" cy="406400"/>
          </a:xfrm>
          <a:prstGeom prst="rect">
            <a:avLst/>
          </a:prstGeom>
        </p:spPr>
      </p:pic>
      <p:sp>
        <p:nvSpPr>
          <p:cNvPr id="17" name="AutoShape 17"/>
          <p:cNvSpPr/>
          <p:nvPr/>
        </p:nvSpPr>
        <p:spPr>
          <a:xfrm>
            <a:off x="8636000" y="36830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65F46"/>
                </a:solidFill>
                <a:latin typeface="Noto Sans SC"/>
                <a:ea typeface="Noto Sans SC"/>
                <a:cs typeface="Noto Sans SC"/>
                <a:sym typeface="Noto Sans SC"/>
              </a:rPr>
              <a:t>智能标签与时长推荐</a:t>
            </a:r>
            <a:endParaRPr lang="en-US" sz="1100"/>
          </a:p>
        </p:txBody>
      </p:sp>
      <p:cxnSp>
        <p:nvCxnSpPr>
          <p:cNvPr id="18" name="Connector 18"/>
          <p:cNvCxnSpPr/>
          <p:nvPr/>
        </p:nvCxnSpPr>
        <p:spPr>
          <a:xfrm rot="-13222">
            <a:off x="8128012" y="4184650"/>
            <a:ext cx="3302000" cy="12700"/>
          </a:xfrm>
          <a:prstGeom prst="straightConnector1">
            <a:avLst/>
          </a:prstGeom>
          <a:solidFill>
            <a:srgbClr val="DEE0E3">
              <a:alpha val="100000"/>
            </a:srgbClr>
          </a:solidFill>
          <a:ln w="12700" cap="flat" cmpd="sng">
            <a:solidFill>
              <a:srgbClr val="6EE7B7">
                <a:alpha val="30000"/>
              </a:srgbClr>
            </a:solidFill>
            <a:prstDash val="solid"/>
            <a:round/>
            <a:headEnd type="none" w="med" len="med"/>
            <a:tailEnd type="none" w="med" len="med"/>
          </a:ln>
        </p:spPr>
      </p:cxnSp>
      <p:sp>
        <p:nvSpPr>
          <p:cNvPr id="19" name="AutoShape 19"/>
          <p:cNvSpPr/>
          <p:nvPr/>
        </p:nvSpPr>
        <p:spPr>
          <a:xfrm>
            <a:off x="8128000" y="4254500"/>
            <a:ext cx="3429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575858"/>
                </a:solidFill>
                <a:latin typeface="Noto Sans SC"/>
                <a:ea typeface="Noto Sans SC"/>
                <a:cs typeface="Noto Sans SC"/>
                <a:sym typeface="Noto Sans SC"/>
              </a:rPr>
              <a:t>通过 top_trait 标记核心亮点，ideal_durations 预设最佳游玩时长，为行程规划提供结构化数据支持。</a:t>
            </a:r>
            <a:endParaRPr lang="en-US" sz="1100"/>
          </a:p>
        </p:txBody>
      </p:sp>
      <p:sp>
        <p:nvSpPr>
          <p:cNvPr id="20" name="AutoShape 20"/>
          <p:cNvSpPr/>
          <p:nvPr/>
        </p:nvSpPr>
        <p:spPr>
          <a:xfrm>
            <a:off x="8001000" y="5080000"/>
            <a:ext cx="3683000" cy="1143000"/>
          </a:xfrm>
          <a:prstGeom prst="roundRect">
            <a:avLst>
              <a:gd name="adj" fmla="val 0"/>
            </a:avLst>
          </a:prstGeom>
          <a:solidFill>
            <a:srgbClr val="EFF6FF">
              <a:alpha val="100000"/>
            </a:srgbClr>
          </a:solidFill>
          <a:ln w="12700" cap="flat" cmpd="sng">
            <a:solidFill>
              <a:srgbClr val="93C5FD">
                <a:alpha val="50000"/>
              </a:srgbClr>
            </a:solid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128000" y="5207000"/>
            <a:ext cx="355600" cy="355600"/>
          </a:xfrm>
          <a:prstGeom prst="rect">
            <a:avLst/>
          </a:prstGeom>
        </p:spPr>
      </p:pic>
      <p:sp>
        <p:nvSpPr>
          <p:cNvPr id="22" name="AutoShape 22"/>
          <p:cNvSpPr/>
          <p:nvPr/>
        </p:nvSpPr>
        <p:spPr>
          <a:xfrm>
            <a:off x="8636000" y="52070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E40AF"/>
                </a:solidFill>
                <a:latin typeface="Noto Sans SC"/>
                <a:ea typeface="Noto Sans SC"/>
                <a:cs typeface="Noto Sans SC"/>
                <a:sym typeface="Noto Sans SC"/>
              </a:rPr>
              <a:t>高扩展性架构设计</a:t>
            </a:r>
            <a:endParaRPr lang="en-US" sz="1100"/>
          </a:p>
        </p:txBody>
      </p:sp>
      <p:sp>
        <p:nvSpPr>
          <p:cNvPr id="23" name="AutoShape 23"/>
          <p:cNvSpPr/>
          <p:nvPr/>
        </p:nvSpPr>
        <p:spPr>
          <a:xfrm>
            <a:off x="8128000" y="5651500"/>
            <a:ext cx="3429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575858"/>
                </a:solidFill>
                <a:latin typeface="Noto Sans SC"/>
                <a:ea typeface="Noto Sans SC"/>
                <a:cs typeface="Noto Sans SC"/>
                <a:sym typeface="Noto Sans SC"/>
              </a:rPr>
              <a:t>字段设计兼顾当前业务与未来扩展，预留接口便于接入实时天气、交通等外部数据。</a:t>
            </a:r>
            <a:endParaRPr lang="en-US" sz="1100"/>
          </a:p>
        </p:txBody>
      </p:sp>
      <p:sp>
        <p:nvSpPr>
          <p:cNvPr id="24" name="AutoShape 24"/>
          <p:cNvSpPr/>
          <p:nvPr/>
        </p:nvSpPr>
        <p:spPr>
          <a:xfrm>
            <a:off x="508000" y="5715000"/>
            <a:ext cx="7112000" cy="762000"/>
          </a:xfrm>
          <a:prstGeom prst="roundRect">
            <a:avLst>
              <a:gd name="adj" fmla="val 0"/>
            </a:avLst>
          </a:prstGeom>
          <a:solidFill>
            <a:srgbClr val="F1F5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635000" y="5778500"/>
            <a:ext cx="685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334155"/>
                </a:solidFill>
                <a:latin typeface="Noto Sans SC"/>
                <a:ea typeface="Noto Sans SC"/>
                <a:cs typeface="Noto Sans SC"/>
                <a:sym typeface="Noto Sans SC"/>
              </a:rPr>
              <a:t>设计总结：采用规范化设计（3NF），将城市基础信息、量化评分与描述性文本分离，既保证了数据的一致性，又通过特质评分字段实现了灵活的数据分析与个性化推荐需求。</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016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508000" y="254000"/>
            <a:ext cx="11176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F172A"/>
                </a:solidFill>
                <a:latin typeface="Noto Sans SC"/>
                <a:ea typeface="Noto Sans SC"/>
                <a:cs typeface="Noto Sans SC"/>
                <a:sym typeface="Noto Sans SC"/>
              </a:rPr>
              <a:t>核心功能实现</a:t>
            </a:r>
            <a:endParaRPr lang="en-US" sz="1100"/>
          </a:p>
        </p:txBody>
      </p:sp>
      <p:cxnSp>
        <p:nvCxnSpPr>
          <p:cNvPr id="4" name="Connector 4"/>
          <p:cNvCxnSpPr/>
          <p:nvPr/>
        </p:nvCxnSpPr>
        <p:spPr>
          <a:xfrm rot="-3906">
            <a:off x="508004" y="1009650"/>
            <a:ext cx="11176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5" name="AutoShape 5"/>
          <p:cNvSpPr/>
          <p:nvPr/>
        </p:nvSpPr>
        <p:spPr>
          <a:xfrm>
            <a:off x="508000" y="1397000"/>
            <a:ext cx="2667000" cy="4826000"/>
          </a:xfrm>
          <a:prstGeom prst="roundRect">
            <a:avLst>
              <a:gd name="adj" fmla="val 0"/>
            </a:avLst>
          </a:prstGeom>
          <a:solidFill>
            <a:srgbClr val="FFFFFF">
              <a:alpha val="100000"/>
            </a:srgbClr>
          </a:solidFill>
          <a:ln w="12700" cap="flat" cmpd="sng">
            <a:solidFill>
              <a:srgbClr val="3B82F6">
                <a:alpha val="2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508000" y="1397000"/>
            <a:ext cx="2667000" cy="762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8500" y="1714500"/>
            <a:ext cx="406400" cy="406400"/>
          </a:xfrm>
          <a:prstGeom prst="rect">
            <a:avLst/>
          </a:prstGeom>
        </p:spPr>
      </p:pic>
      <p:sp>
        <p:nvSpPr>
          <p:cNvPr id="8" name="AutoShape 8"/>
          <p:cNvSpPr/>
          <p:nvPr/>
        </p:nvSpPr>
        <p:spPr>
          <a:xfrm>
            <a:off x="1206500" y="1714500"/>
            <a:ext cx="177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E293B"/>
                </a:solidFill>
                <a:latin typeface="Noto Sans SC"/>
                <a:ea typeface="Noto Sans SC"/>
                <a:cs typeface="Noto Sans SC"/>
                <a:sym typeface="Noto Sans SC"/>
              </a:rPr>
              <a:t>3D地球可视化交互</a:t>
            </a:r>
            <a:endParaRPr lang="en-US" sz="1100"/>
          </a:p>
        </p:txBody>
      </p:sp>
      <p:cxnSp>
        <p:nvCxnSpPr>
          <p:cNvPr id="9" name="Connector 9"/>
          <p:cNvCxnSpPr/>
          <p:nvPr/>
        </p:nvCxnSpPr>
        <p:spPr>
          <a:xfrm rot="-19098">
            <a:off x="698518" y="2343150"/>
            <a:ext cx="2286000" cy="12700"/>
          </a:xfrm>
          <a:prstGeom prst="straightConnector1">
            <a:avLst/>
          </a:prstGeom>
          <a:solidFill>
            <a:srgbClr val="DEE0E3">
              <a:alpha val="100000"/>
            </a:srgbClr>
          </a:solidFill>
          <a:ln w="12700" cap="flat" cmpd="sng">
            <a:solidFill>
              <a:srgbClr val="F1F5F9">
                <a:alpha val="100000"/>
              </a:srgbClr>
            </a:solidFill>
            <a:prstDash val="dash"/>
            <a:round/>
            <a:headEnd type="none" w="med" len="med"/>
            <a:tailEnd type="none" w="med" len="med"/>
          </a:ln>
        </p:spPr>
      </p:cxnSp>
      <p:sp>
        <p:nvSpPr>
          <p:cNvPr id="10" name="AutoShape 10"/>
          <p:cNvSpPr/>
          <p:nvPr/>
        </p:nvSpPr>
        <p:spPr>
          <a:xfrm>
            <a:off x="698500" y="2540000"/>
            <a:ext cx="2286000" cy="1270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475569"/>
                </a:solidFill>
                <a:latin typeface="Noto Sans SC"/>
                <a:ea typeface="Noto Sans SC"/>
                <a:cs typeface="Noto Sans SC"/>
                <a:sym typeface="Noto Sans SC"/>
              </a:rPr>
              <a:t>基于 Plotly scattergeo 构建全球点位分布模型，实现点击目标点位触发视角平滑飞入与聚焦动画，强化地理空间的沉浸感与交互性。</a:t>
            </a:r>
            <a:endParaRPr lang="en-US" sz="1100"/>
          </a:p>
        </p:txBody>
      </p:sp>
      <p:sp>
        <p:nvSpPr>
          <p:cNvPr id="11" name="AutoShape 11"/>
          <p:cNvSpPr/>
          <p:nvPr/>
        </p:nvSpPr>
        <p:spPr>
          <a:xfrm>
            <a:off x="698500" y="4572000"/>
            <a:ext cx="2286000" cy="1143000"/>
          </a:xfrm>
          <a:prstGeom prst="roundRect">
            <a:avLst>
              <a:gd name="adj" fmla="val 0"/>
            </a:avLst>
          </a:prstGeom>
          <a:solidFill>
            <a:srgbClr val="3B82F6">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762000" y="4635500"/>
            <a:ext cx="2159000" cy="1016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2563EB"/>
                </a:solidFill>
                <a:latin typeface="Consolas"/>
                <a:ea typeface="Consolas"/>
                <a:cs typeface="Consolas"/>
                <a:sym typeface="Consolas"/>
              </a:rPr>
              <a:t>fig = px.scattergeo(df, lat='lat', lon='lon')</a:t>
            </a:r>
            <a:br>
              <a:rPr lang="en-US" sz="1100" b="0" i="0" u="none" strike="noStrike">
                <a:solidFill>
                  <a:srgbClr val="2563EB"/>
                </a:solidFill>
                <a:latin typeface="Consolas"/>
                <a:ea typeface="Consolas"/>
                <a:cs typeface="Consolas"/>
                <a:sym typeface="Consolas"/>
              </a:rPr>
            </a:br>
            <a:r>
              <a:rPr lang="en-US" sz="1100" b="0" i="0" u="none" strike="noStrike">
                <a:solidFill>
                  <a:srgbClr val="2563EB"/>
                </a:solidFill>
                <a:latin typeface="Consolas"/>
                <a:ea typeface="Consolas"/>
                <a:cs typeface="Consolas"/>
                <a:sym typeface="Consolas"/>
              </a:rPr>
              <a:t>fig.update_layout(</a:t>
            </a:r>
            <a:br>
              <a:rPr lang="en-US" sz="1100" b="0" i="0" u="none" strike="noStrike">
                <a:solidFill>
                  <a:srgbClr val="2563EB"/>
                </a:solidFill>
                <a:latin typeface="Consolas"/>
                <a:ea typeface="Consolas"/>
                <a:cs typeface="Consolas"/>
                <a:sym typeface="Consolas"/>
              </a:rPr>
            </a:br>
            <a:r>
              <a:rPr lang="en-US" sz="1100" b="0" i="0" u="none" strike="noStrike">
                <a:solidFill>
                  <a:srgbClr val="2563EB"/>
                </a:solidFill>
                <a:latin typeface="Consolas"/>
                <a:ea typeface="Consolas"/>
                <a:cs typeface="Consolas"/>
                <a:sym typeface="Consolas"/>
              </a:rPr>
              <a:t>geo=dict(projection_type='orthographic')</a:t>
            </a:r>
            <a:br>
              <a:rPr lang="en-US" sz="1100" b="0" i="0" u="none" strike="noStrike">
                <a:solidFill>
                  <a:srgbClr val="2563EB"/>
                </a:solidFill>
                <a:latin typeface="Consolas"/>
                <a:ea typeface="Consolas"/>
                <a:cs typeface="Consolas"/>
                <a:sym typeface="Consolas"/>
              </a:rPr>
            </a:br>
            <a:r>
              <a:rPr lang="en-US" sz="1100" b="0" i="0" u="none" strike="noStrike">
                <a:solidFill>
                  <a:srgbClr val="2563EB"/>
                </a:solidFill>
                <a:latin typeface="Consolas"/>
                <a:ea typeface="Consolas"/>
                <a:cs typeface="Consolas"/>
                <a:sym typeface="Consolas"/>
              </a:rPr>
              <a:t>)</a:t>
            </a:r>
            <a:endParaRPr lang="en-US" sz="1100"/>
          </a:p>
        </p:txBody>
      </p:sp>
      <p:sp>
        <p:nvSpPr>
          <p:cNvPr id="13" name="AutoShape 13"/>
          <p:cNvSpPr/>
          <p:nvPr/>
        </p:nvSpPr>
        <p:spPr>
          <a:xfrm>
            <a:off x="3429000" y="1397000"/>
            <a:ext cx="2667000" cy="4826000"/>
          </a:xfrm>
          <a:prstGeom prst="roundRect">
            <a:avLst>
              <a:gd name="adj" fmla="val 0"/>
            </a:avLst>
          </a:prstGeom>
          <a:solidFill>
            <a:srgbClr val="FFFFFF">
              <a:alpha val="100000"/>
            </a:srgbClr>
          </a:solidFill>
          <a:ln w="12700" cap="flat" cmpd="sng">
            <a:solidFill>
              <a:srgbClr val="10B981">
                <a:alpha val="2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3429000" y="1397000"/>
            <a:ext cx="2667000" cy="762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19500" y="1714500"/>
            <a:ext cx="406400" cy="406400"/>
          </a:xfrm>
          <a:prstGeom prst="rect">
            <a:avLst/>
          </a:prstGeom>
        </p:spPr>
      </p:pic>
      <p:sp>
        <p:nvSpPr>
          <p:cNvPr id="16" name="AutoShape 16"/>
          <p:cNvSpPr/>
          <p:nvPr/>
        </p:nvSpPr>
        <p:spPr>
          <a:xfrm>
            <a:off x="4127500" y="1714500"/>
            <a:ext cx="177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E293B"/>
                </a:solidFill>
                <a:latin typeface="Noto Sans SC"/>
                <a:ea typeface="Noto Sans SC"/>
                <a:cs typeface="Noto Sans SC"/>
                <a:sym typeface="Noto Sans SC"/>
              </a:rPr>
              <a:t>余弦相似度推荐引擎</a:t>
            </a:r>
            <a:endParaRPr lang="en-US" sz="1100"/>
          </a:p>
        </p:txBody>
      </p:sp>
      <p:cxnSp>
        <p:nvCxnSpPr>
          <p:cNvPr id="17" name="Connector 17"/>
          <p:cNvCxnSpPr/>
          <p:nvPr/>
        </p:nvCxnSpPr>
        <p:spPr>
          <a:xfrm rot="-19098">
            <a:off x="3619518" y="2343150"/>
            <a:ext cx="2286000" cy="12700"/>
          </a:xfrm>
          <a:prstGeom prst="straightConnector1">
            <a:avLst/>
          </a:prstGeom>
          <a:solidFill>
            <a:srgbClr val="DEE0E3">
              <a:alpha val="100000"/>
            </a:srgbClr>
          </a:solidFill>
          <a:ln w="12700" cap="flat" cmpd="sng">
            <a:solidFill>
              <a:srgbClr val="F1F5F9">
                <a:alpha val="100000"/>
              </a:srgbClr>
            </a:solidFill>
            <a:prstDash val="dash"/>
            <a:round/>
            <a:headEnd type="none" w="med" len="med"/>
            <a:tailEnd type="none" w="med" len="med"/>
          </a:ln>
        </p:spPr>
      </p:cxnSp>
      <p:sp>
        <p:nvSpPr>
          <p:cNvPr id="18" name="AutoShape 18"/>
          <p:cNvSpPr/>
          <p:nvPr/>
        </p:nvSpPr>
        <p:spPr>
          <a:xfrm>
            <a:off x="3619500" y="2540000"/>
            <a:ext cx="2286000" cy="1270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475569"/>
                </a:solidFill>
                <a:latin typeface="Noto Sans SC"/>
                <a:ea typeface="Noto Sans SC"/>
                <a:cs typeface="Noto Sans SC"/>
                <a:sym typeface="Noto Sans SC"/>
              </a:rPr>
              <a:t>封装 recommend.py 核心模块，基于物品协同过滤机制，利用余弦相似度精准计算用户兴趣向量与内容特征的匹配度，实现个性化推荐。</a:t>
            </a:r>
            <a:endParaRPr lang="en-US" sz="1100"/>
          </a:p>
        </p:txBody>
      </p:sp>
      <p:sp>
        <p:nvSpPr>
          <p:cNvPr id="19" name="AutoShape 19"/>
          <p:cNvSpPr/>
          <p:nvPr/>
        </p:nvSpPr>
        <p:spPr>
          <a:xfrm>
            <a:off x="3619500" y="4572000"/>
            <a:ext cx="2286000" cy="1143000"/>
          </a:xfrm>
          <a:prstGeom prst="roundRect">
            <a:avLst>
              <a:gd name="adj" fmla="val 0"/>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3683000" y="4635500"/>
            <a:ext cx="2159000" cy="1016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059669"/>
                </a:solidFill>
                <a:latin typeface="Consolas"/>
                <a:ea typeface="Consolas"/>
                <a:cs typeface="Consolas"/>
                <a:sym typeface="Consolas"/>
              </a:rPr>
              <a:t>def cos_sim(v1, v2):</a:t>
            </a:r>
            <a:br>
              <a:rPr lang="en-US" sz="1100" b="0" i="0" u="none" strike="noStrike">
                <a:solidFill>
                  <a:srgbClr val="059669"/>
                </a:solidFill>
                <a:latin typeface="Consolas"/>
                <a:ea typeface="Consolas"/>
                <a:cs typeface="Consolas"/>
                <a:sym typeface="Consolas"/>
              </a:rPr>
            </a:br>
            <a:r>
              <a:rPr lang="en-US" sz="1100" b="0" i="0" u="none" strike="noStrike">
                <a:solidFill>
                  <a:srgbClr val="059669"/>
                </a:solidFill>
                <a:latin typeface="Consolas"/>
                <a:ea typeface="Consolas"/>
                <a:cs typeface="Consolas"/>
                <a:sym typeface="Consolas"/>
              </a:rPr>
              <a:t>dot = np.dot(v1, v2)</a:t>
            </a:r>
            <a:br>
              <a:rPr lang="en-US" sz="1100" b="0" i="0" u="none" strike="noStrike">
                <a:solidFill>
                  <a:srgbClr val="059669"/>
                </a:solidFill>
                <a:latin typeface="Consolas"/>
                <a:ea typeface="Consolas"/>
                <a:cs typeface="Consolas"/>
                <a:sym typeface="Consolas"/>
              </a:rPr>
            </a:br>
            <a:r>
              <a:rPr lang="en-US" sz="1100" b="0" i="0" u="none" strike="noStrike">
                <a:solidFill>
                  <a:srgbClr val="059669"/>
                </a:solidFill>
                <a:latin typeface="Consolas"/>
                <a:ea typeface="Consolas"/>
                <a:cs typeface="Consolas"/>
                <a:sym typeface="Consolas"/>
              </a:rPr>
              <a:t>norm = np.linalg.norm</a:t>
            </a:r>
            <a:br>
              <a:rPr lang="en-US" sz="1100" b="0" i="0" u="none" strike="noStrike">
                <a:solidFill>
                  <a:srgbClr val="059669"/>
                </a:solidFill>
                <a:latin typeface="Consolas"/>
                <a:ea typeface="Consolas"/>
                <a:cs typeface="Consolas"/>
                <a:sym typeface="Consolas"/>
              </a:rPr>
            </a:br>
            <a:r>
              <a:rPr lang="en-US" sz="1100" b="0" i="0" u="none" strike="noStrike">
                <a:solidFill>
                  <a:srgbClr val="059669"/>
                </a:solidFill>
                <a:latin typeface="Consolas"/>
                <a:ea typeface="Consolas"/>
                <a:cs typeface="Consolas"/>
                <a:sym typeface="Consolas"/>
              </a:rPr>
              <a:t>return dot / (norm(v1)*norm(v2))</a:t>
            </a:r>
            <a:endParaRPr lang="en-US" sz="1100"/>
          </a:p>
        </p:txBody>
      </p:sp>
      <p:sp>
        <p:nvSpPr>
          <p:cNvPr id="21" name="AutoShape 21"/>
          <p:cNvSpPr/>
          <p:nvPr/>
        </p:nvSpPr>
        <p:spPr>
          <a:xfrm>
            <a:off x="6350000" y="1397000"/>
            <a:ext cx="2667000" cy="4826000"/>
          </a:xfrm>
          <a:prstGeom prst="roundRect">
            <a:avLst>
              <a:gd name="adj" fmla="val 0"/>
            </a:avLst>
          </a:prstGeom>
          <a:solidFill>
            <a:srgbClr val="FFFFFF">
              <a:alpha val="100000"/>
            </a:srgbClr>
          </a:solidFill>
          <a:ln w="12700" cap="flat" cmpd="sng">
            <a:solidFill>
              <a:srgbClr val="F59E0B">
                <a:alpha val="20000"/>
              </a:srgbClr>
            </a:solid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6350000" y="1397000"/>
            <a:ext cx="2667000" cy="76200"/>
          </a:xfrm>
          <a:prstGeom prst="roundRect">
            <a:avLst>
              <a:gd name="adj" fmla="val 0"/>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40500" y="1714500"/>
            <a:ext cx="406400" cy="406400"/>
          </a:xfrm>
          <a:prstGeom prst="rect">
            <a:avLst/>
          </a:prstGeom>
        </p:spPr>
      </p:pic>
      <p:sp>
        <p:nvSpPr>
          <p:cNvPr id="24" name="AutoShape 24"/>
          <p:cNvSpPr/>
          <p:nvPr/>
        </p:nvSpPr>
        <p:spPr>
          <a:xfrm>
            <a:off x="7048500" y="1714500"/>
            <a:ext cx="177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E293B"/>
                </a:solidFill>
                <a:latin typeface="Noto Sans SC"/>
                <a:ea typeface="Noto Sans SC"/>
                <a:cs typeface="Noto Sans SC"/>
                <a:sym typeface="Noto Sans SC"/>
              </a:rPr>
              <a:t>大圆弧动态路径规划</a:t>
            </a:r>
            <a:endParaRPr lang="en-US" sz="1100"/>
          </a:p>
        </p:txBody>
      </p:sp>
      <p:cxnSp>
        <p:nvCxnSpPr>
          <p:cNvPr id="25" name="Connector 25"/>
          <p:cNvCxnSpPr/>
          <p:nvPr/>
        </p:nvCxnSpPr>
        <p:spPr>
          <a:xfrm rot="-19098">
            <a:off x="6540518" y="2343150"/>
            <a:ext cx="2286000" cy="12700"/>
          </a:xfrm>
          <a:prstGeom prst="straightConnector1">
            <a:avLst/>
          </a:prstGeom>
          <a:solidFill>
            <a:srgbClr val="DEE0E3">
              <a:alpha val="100000"/>
            </a:srgbClr>
          </a:solidFill>
          <a:ln w="12700" cap="flat" cmpd="sng">
            <a:solidFill>
              <a:srgbClr val="F1F5F9">
                <a:alpha val="100000"/>
              </a:srgbClr>
            </a:solidFill>
            <a:prstDash val="dash"/>
            <a:round/>
            <a:headEnd type="none" w="med" len="med"/>
            <a:tailEnd type="none" w="med" len="med"/>
          </a:ln>
        </p:spPr>
      </p:cxnSp>
      <p:sp>
        <p:nvSpPr>
          <p:cNvPr id="26" name="AutoShape 26"/>
          <p:cNvSpPr/>
          <p:nvPr/>
        </p:nvSpPr>
        <p:spPr>
          <a:xfrm>
            <a:off x="6540500" y="2540000"/>
            <a:ext cx="2286000" cy="1270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475569"/>
                </a:solidFill>
                <a:latin typeface="Noto Sans SC"/>
                <a:ea typeface="Noto Sans SC"/>
                <a:cs typeface="Noto Sans SC"/>
                <a:sym typeface="Noto Sans SC"/>
              </a:rPr>
              <a:t>实现 plan_route_with_mid_cities 算法，结合球面大圆弧距离公式与投影参数采样策略，智能规划含多点中转的最优地理路线。</a:t>
            </a:r>
            <a:endParaRPr lang="en-US" sz="1100"/>
          </a:p>
        </p:txBody>
      </p:sp>
      <p:sp>
        <p:nvSpPr>
          <p:cNvPr id="27" name="AutoShape 27"/>
          <p:cNvSpPr/>
          <p:nvPr/>
        </p:nvSpPr>
        <p:spPr>
          <a:xfrm>
            <a:off x="6540500" y="4572000"/>
            <a:ext cx="2286000" cy="1143000"/>
          </a:xfrm>
          <a:prstGeom prst="roundRect">
            <a:avLst>
              <a:gd name="adj" fmla="val 0"/>
            </a:avLst>
          </a:prstGeom>
          <a:solidFill>
            <a:srgbClr val="F59E0B">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8"/>
          <p:cNvSpPr/>
          <p:nvPr/>
        </p:nvSpPr>
        <p:spPr>
          <a:xfrm>
            <a:off x="6604000" y="4635500"/>
            <a:ext cx="2159000" cy="1016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D97706"/>
                </a:solidFill>
                <a:latin typeface="Consolas"/>
                <a:ea typeface="Consolas"/>
                <a:cs typeface="Consolas"/>
                <a:sym typeface="Consolas"/>
              </a:rPr>
              <a:t>def plan_route(s, e, m):</a:t>
            </a:r>
            <a:br>
              <a:rPr lang="en-US" sz="1100" b="0" i="0" u="none" strike="noStrike">
                <a:solidFill>
                  <a:srgbClr val="D97706"/>
                </a:solidFill>
                <a:latin typeface="Consolas"/>
                <a:ea typeface="Consolas"/>
                <a:cs typeface="Consolas"/>
                <a:sym typeface="Consolas"/>
              </a:rPr>
            </a:br>
            <a:r>
              <a:rPr lang="en-US" sz="1100" b="0" i="0" u="none" strike="noStrike">
                <a:solidFill>
                  <a:srgbClr val="D97706"/>
                </a:solidFill>
                <a:latin typeface="Consolas"/>
                <a:ea typeface="Consolas"/>
                <a:cs typeface="Consolas"/>
                <a:sym typeface="Consolas"/>
              </a:rPr>
              <a:t>gc_route = great_circle(s, e)</a:t>
            </a:r>
            <a:br>
              <a:rPr lang="en-US" sz="1100" b="0" i="0" u="none" strike="noStrike">
                <a:solidFill>
                  <a:srgbClr val="D97706"/>
                </a:solidFill>
                <a:latin typeface="Consolas"/>
                <a:ea typeface="Consolas"/>
                <a:cs typeface="Consolas"/>
                <a:sym typeface="Consolas"/>
              </a:rPr>
            </a:br>
            <a:r>
              <a:rPr lang="en-US" sz="1100" b="0" i="0" u="none" strike="noStrike">
                <a:solidFill>
                  <a:srgbClr val="D97706"/>
                </a:solidFill>
                <a:latin typeface="Consolas"/>
                <a:ea typeface="Consolas"/>
                <a:cs typeface="Consolas"/>
                <a:sym typeface="Consolas"/>
              </a:rPr>
              <a:t>return sample_projection(gc_route, m)</a:t>
            </a:r>
            <a:endParaRPr lang="en-US" sz="1100"/>
          </a:p>
        </p:txBody>
      </p:sp>
      <p:sp>
        <p:nvSpPr>
          <p:cNvPr id="29" name="AutoShape 29"/>
          <p:cNvSpPr/>
          <p:nvPr/>
        </p:nvSpPr>
        <p:spPr>
          <a:xfrm>
            <a:off x="9144000" y="1397000"/>
            <a:ext cx="2667000" cy="4826000"/>
          </a:xfrm>
          <a:prstGeom prst="roundRect">
            <a:avLst>
              <a:gd name="adj" fmla="val 0"/>
            </a:avLst>
          </a:prstGeom>
          <a:solidFill>
            <a:srgbClr val="FFFFFF">
              <a:alpha val="100000"/>
            </a:srgbClr>
          </a:solidFill>
          <a:ln w="12700" cap="flat" cmpd="sng">
            <a:solidFill>
              <a:srgbClr val="8B5CF6">
                <a:alpha val="20000"/>
              </a:srgbClr>
            </a:solidFill>
            <a:prstDash val="solid"/>
            <a:round/>
          </a:ln>
        </p:spPr>
        <p:txBody>
          <a:bodyPr vert="horz" wrap="square" lIns="63500" tIns="63500" rIns="63500" bIns="63500" rtlCol="0" anchor="ctr"/>
          <a:lstStyle/>
          <a:p>
            <a:pPr algn="ctr">
              <a:defRPr/>
            </a:pPr>
            <a:endParaRPr/>
          </a:p>
        </p:txBody>
      </p:sp>
      <p:sp>
        <p:nvSpPr>
          <p:cNvPr id="30" name="AutoShape 30"/>
          <p:cNvSpPr/>
          <p:nvPr/>
        </p:nvSpPr>
        <p:spPr>
          <a:xfrm>
            <a:off x="9144000" y="1397000"/>
            <a:ext cx="2667000" cy="76200"/>
          </a:xfrm>
          <a:prstGeom prst="roundRect">
            <a:avLst>
              <a:gd name="adj" fmla="val 0"/>
            </a:avLst>
          </a:prstGeom>
          <a:solidFill>
            <a:srgbClr val="8B5C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1" name="Picture 3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334500" y="1714500"/>
            <a:ext cx="406400" cy="406400"/>
          </a:xfrm>
          <a:prstGeom prst="rect">
            <a:avLst/>
          </a:prstGeom>
        </p:spPr>
      </p:pic>
      <p:sp>
        <p:nvSpPr>
          <p:cNvPr id="32" name="AutoShape 32"/>
          <p:cNvSpPr/>
          <p:nvPr/>
        </p:nvSpPr>
        <p:spPr>
          <a:xfrm>
            <a:off x="9842500" y="1714500"/>
            <a:ext cx="177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E293B"/>
                </a:solidFill>
                <a:latin typeface="Noto Sans SC"/>
                <a:ea typeface="Noto Sans SC"/>
                <a:cs typeface="Noto Sans SC"/>
                <a:sym typeface="Noto Sans SC"/>
              </a:rPr>
              <a:t>沉浸式主题交互体系</a:t>
            </a:r>
            <a:endParaRPr lang="en-US" sz="1100"/>
          </a:p>
        </p:txBody>
      </p:sp>
      <p:cxnSp>
        <p:nvCxnSpPr>
          <p:cNvPr id="33" name="Connector 33"/>
          <p:cNvCxnSpPr/>
          <p:nvPr/>
        </p:nvCxnSpPr>
        <p:spPr>
          <a:xfrm rot="-19098">
            <a:off x="9334518" y="2343150"/>
            <a:ext cx="2286000" cy="12700"/>
          </a:xfrm>
          <a:prstGeom prst="straightConnector1">
            <a:avLst/>
          </a:prstGeom>
          <a:solidFill>
            <a:srgbClr val="DEE0E3">
              <a:alpha val="100000"/>
            </a:srgbClr>
          </a:solidFill>
          <a:ln w="12700" cap="flat" cmpd="sng">
            <a:solidFill>
              <a:srgbClr val="F1F5F9">
                <a:alpha val="100000"/>
              </a:srgbClr>
            </a:solidFill>
            <a:prstDash val="dash"/>
            <a:round/>
            <a:headEnd type="none" w="med" len="med"/>
            <a:tailEnd type="none" w="med" len="med"/>
          </a:ln>
        </p:spPr>
      </p:cxnSp>
      <p:sp>
        <p:nvSpPr>
          <p:cNvPr id="34" name="AutoShape 34"/>
          <p:cNvSpPr/>
          <p:nvPr/>
        </p:nvSpPr>
        <p:spPr>
          <a:xfrm>
            <a:off x="9334500" y="2540000"/>
            <a:ext cx="2286000" cy="1270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475569"/>
                </a:solidFill>
                <a:latin typeface="Noto Sans SC"/>
                <a:ea typeface="Noto Sans SC"/>
                <a:cs typeface="Noto Sans SC"/>
                <a:sym typeface="Noto Sans SC"/>
              </a:rPr>
              <a:t>利用 CSS 变量统一管理色彩体系，结合 localStorage 实现亮色/暗色主题的实时切换与持久化存储，适配不同使用场景。</a:t>
            </a:r>
            <a:endParaRPr lang="en-US" sz="1100"/>
          </a:p>
        </p:txBody>
      </p:sp>
      <p:sp>
        <p:nvSpPr>
          <p:cNvPr id="35" name="AutoShape 35"/>
          <p:cNvSpPr/>
          <p:nvPr/>
        </p:nvSpPr>
        <p:spPr>
          <a:xfrm>
            <a:off x="9334500" y="4572000"/>
            <a:ext cx="2286000" cy="1143000"/>
          </a:xfrm>
          <a:prstGeom prst="roundRect">
            <a:avLst>
              <a:gd name="adj" fmla="val 0"/>
            </a:avLst>
          </a:prstGeom>
          <a:solidFill>
            <a:srgbClr val="8B5CF6">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36" name="AutoShape 36"/>
          <p:cNvSpPr/>
          <p:nvPr/>
        </p:nvSpPr>
        <p:spPr>
          <a:xfrm>
            <a:off x="9398000" y="4635500"/>
            <a:ext cx="2159000" cy="1016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7C3AED"/>
                </a:solidFill>
                <a:latin typeface="Consolas"/>
                <a:ea typeface="Consolas"/>
                <a:cs typeface="Consolas"/>
                <a:sym typeface="Consolas"/>
              </a:rPr>
              <a:t>:root { --bg: #fff; --tx: #1e293b; }</a:t>
            </a:r>
            <a:br>
              <a:rPr lang="en-US" sz="1100" b="0" i="0" u="none" strike="noStrike">
                <a:solidFill>
                  <a:srgbClr val="7C3AED"/>
                </a:solidFill>
                <a:latin typeface="Consolas"/>
                <a:ea typeface="Consolas"/>
                <a:cs typeface="Consolas"/>
                <a:sym typeface="Consolas"/>
              </a:rPr>
            </a:br>
            <a:r>
              <a:rPr lang="en-US" sz="1100" b="0" i="0" u="none" strike="noStrike">
                <a:solidFill>
                  <a:srgbClr val="7C3AED"/>
                </a:solidFill>
                <a:latin typeface="Consolas"/>
                <a:ea typeface="Consolas"/>
                <a:cs typeface="Consolas"/>
                <a:sym typeface="Consolas"/>
              </a:rPr>
              <a:t>localStorage.setItem('thm', 'dark');</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01600"/>
          </a:xfrm>
          <a:prstGeom prst="roundRect">
            <a:avLst>
              <a:gd name="adj" fmla="val 0"/>
            </a:avLst>
          </a:prstGeom>
          <a:gradFill rotWithShape="1">
            <a:gsLst>
              <a:gs pos="0">
                <a:srgbClr val="3B82F6">
                  <a:alpha val="100000"/>
                </a:srgbClr>
              </a:gs>
              <a:gs pos="100000">
                <a:srgbClr val="2563EB">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381000" y="381000"/>
            <a:ext cx="1143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F172A"/>
                </a:solidFill>
                <a:latin typeface="Noto Sans SC"/>
                <a:ea typeface="Noto Sans SC"/>
                <a:cs typeface="Noto Sans SC"/>
                <a:sym typeface="Noto Sans SC"/>
              </a:rPr>
              <a:t>系统界面展示</a:t>
            </a:r>
            <a:endParaRPr lang="en-US" sz="1100"/>
          </a:p>
        </p:txBody>
      </p:sp>
      <p:sp>
        <p:nvSpPr>
          <p:cNvPr id="4" name="AutoShape 4"/>
          <p:cNvSpPr/>
          <p:nvPr/>
        </p:nvSpPr>
        <p:spPr>
          <a:xfrm>
            <a:off x="381000" y="1397000"/>
            <a:ext cx="3683000" cy="2413000"/>
          </a:xfrm>
          <a:prstGeom prst="roundRect">
            <a:avLst>
              <a:gd name="adj" fmla="val 0"/>
            </a:avLst>
          </a:prstGeom>
          <a:solidFill>
            <a:srgbClr val="FFFFFF">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381000" y="1397000"/>
            <a:ext cx="76200" cy="24130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35000" y="1587500"/>
            <a:ext cx="508000" cy="508000"/>
          </a:xfrm>
          <a:prstGeom prst="ellipse">
            <a:avLst/>
          </a:prstGeom>
          <a:solidFill>
            <a:srgbClr val="3B82F6">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6600" y="1689100"/>
            <a:ext cx="304800" cy="304800"/>
          </a:xfrm>
          <a:prstGeom prst="rect">
            <a:avLst/>
          </a:prstGeom>
        </p:spPr>
      </p:pic>
      <p:sp>
        <p:nvSpPr>
          <p:cNvPr id="8" name="AutoShape 8"/>
          <p:cNvSpPr/>
          <p:nvPr/>
        </p:nvSpPr>
        <p:spPr>
          <a:xfrm>
            <a:off x="1397000" y="1651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E293B"/>
                </a:solidFill>
                <a:latin typeface="Noto Sans SC"/>
                <a:ea typeface="Noto Sans SC"/>
                <a:cs typeface="Noto Sans SC"/>
                <a:sym typeface="Noto Sans SC"/>
              </a:rPr>
              <a:t>首页全景大屏</a:t>
            </a:r>
            <a:endParaRPr lang="en-US" sz="1100"/>
          </a:p>
        </p:txBody>
      </p:sp>
      <p:cxnSp>
        <p:nvCxnSpPr>
          <p:cNvPr id="9" name="Connector 9"/>
          <p:cNvCxnSpPr/>
          <p:nvPr/>
        </p:nvCxnSpPr>
        <p:spPr>
          <a:xfrm rot="-13750">
            <a:off x="635013" y="2279650"/>
            <a:ext cx="3175000" cy="12700"/>
          </a:xfrm>
          <a:prstGeom prst="line">
            <a:avLst/>
          </a:prstGeom>
          <a:solidFill>
            <a:srgbClr val="DEE0E3">
              <a:alpha val="100000"/>
            </a:srgbClr>
          </a:solidFill>
          <a:ln w="12700" cap="flat" cmpd="sng">
            <a:solidFill>
              <a:srgbClr val="F1F5F9">
                <a:alpha val="100000"/>
              </a:srgbClr>
            </a:solidFill>
            <a:prstDash val="solid"/>
            <a:round/>
            <a:headEnd type="none" w="med" len="med"/>
            <a:tailEnd type="none" w="med" len="med"/>
          </a:ln>
        </p:spPr>
      </p:cxnSp>
      <p:sp>
        <p:nvSpPr>
          <p:cNvPr id="10" name="AutoShape 10"/>
          <p:cNvSpPr/>
          <p:nvPr/>
        </p:nvSpPr>
        <p:spPr>
          <a:xfrm>
            <a:off x="635000" y="2413000"/>
            <a:ext cx="3238500" cy="1206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a:solidFill>
                  <a:srgbClr val="475569"/>
                </a:solidFill>
                <a:latin typeface="Noto Sans SC"/>
                <a:ea typeface="Noto Sans SC"/>
                <a:cs typeface="Noto Sans SC"/>
                <a:sym typeface="Noto Sans SC"/>
              </a:rPr>
              <a:t>集成3D地球仪全景底座，融合实时统计数据卡片与动态图表组件。支持宏观数据总览与微观指标下钻，构建沉浸式数据可视化门户，提供全局业务态势感知。</a:t>
            </a:r>
            <a:endParaRPr lang="en-US" sz="1100"/>
          </a:p>
        </p:txBody>
      </p:sp>
      <p:sp>
        <p:nvSpPr>
          <p:cNvPr id="11" name="AutoShape 11"/>
          <p:cNvSpPr/>
          <p:nvPr/>
        </p:nvSpPr>
        <p:spPr>
          <a:xfrm>
            <a:off x="4254500" y="1397000"/>
            <a:ext cx="3683000" cy="2413000"/>
          </a:xfrm>
          <a:prstGeom prst="roundRect">
            <a:avLst>
              <a:gd name="adj" fmla="val 0"/>
            </a:avLst>
          </a:prstGeom>
          <a:solidFill>
            <a:srgbClr val="FFFFFF">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4254500" y="1397000"/>
            <a:ext cx="76200" cy="24130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4508500" y="1587500"/>
            <a:ext cx="508000" cy="508000"/>
          </a:xfrm>
          <a:prstGeom prst="ellipse">
            <a:avLst/>
          </a:prstGeom>
          <a:solidFill>
            <a:srgbClr val="10B981">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10100" y="1689100"/>
            <a:ext cx="304800" cy="304800"/>
          </a:xfrm>
          <a:prstGeom prst="rect">
            <a:avLst/>
          </a:prstGeom>
        </p:spPr>
      </p:pic>
      <p:sp>
        <p:nvSpPr>
          <p:cNvPr id="15" name="AutoShape 15"/>
          <p:cNvSpPr/>
          <p:nvPr/>
        </p:nvSpPr>
        <p:spPr>
          <a:xfrm>
            <a:off x="5270500" y="1651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E293B"/>
                </a:solidFill>
                <a:latin typeface="Noto Sans SC"/>
                <a:ea typeface="Noto Sans SC"/>
                <a:cs typeface="Noto Sans SC"/>
                <a:sym typeface="Noto Sans SC"/>
              </a:rPr>
              <a:t>城市多维探索</a:t>
            </a:r>
            <a:endParaRPr lang="en-US" sz="1100"/>
          </a:p>
        </p:txBody>
      </p:sp>
      <p:cxnSp>
        <p:nvCxnSpPr>
          <p:cNvPr id="16" name="Connector 16"/>
          <p:cNvCxnSpPr/>
          <p:nvPr/>
        </p:nvCxnSpPr>
        <p:spPr>
          <a:xfrm rot="-13750">
            <a:off x="4508513" y="2279650"/>
            <a:ext cx="3175000" cy="12700"/>
          </a:xfrm>
          <a:prstGeom prst="line">
            <a:avLst/>
          </a:prstGeom>
          <a:solidFill>
            <a:srgbClr val="DEE0E3">
              <a:alpha val="100000"/>
            </a:srgbClr>
          </a:solidFill>
          <a:ln w="12700" cap="flat" cmpd="sng">
            <a:solidFill>
              <a:srgbClr val="F1F5F9">
                <a:alpha val="100000"/>
              </a:srgbClr>
            </a:solidFill>
            <a:prstDash val="solid"/>
            <a:round/>
            <a:headEnd type="none" w="med" len="med"/>
            <a:tailEnd type="none" w="med" len="med"/>
          </a:ln>
        </p:spPr>
      </p:cxnSp>
      <p:sp>
        <p:nvSpPr>
          <p:cNvPr id="17" name="AutoShape 17"/>
          <p:cNvSpPr/>
          <p:nvPr/>
        </p:nvSpPr>
        <p:spPr>
          <a:xfrm>
            <a:off x="4508500" y="2413000"/>
            <a:ext cx="3238500" cy="1206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a:solidFill>
                  <a:srgbClr val="475569"/>
                </a:solidFill>
                <a:latin typeface="Noto Sans SC"/>
                <a:ea typeface="Noto Sans SC"/>
                <a:cs typeface="Noto Sans SC"/>
                <a:sym typeface="Noto Sans SC"/>
              </a:rPr>
              <a:t>提供多条件组合筛选引擎，采用网格卡片化布局展示城市核心信息。支持按区域、属性、热度等维度快速检索，卡片悬浮展示关键参数，提升信息获取效率。</a:t>
            </a:r>
            <a:endParaRPr lang="en-US" sz="1100"/>
          </a:p>
        </p:txBody>
      </p:sp>
      <p:sp>
        <p:nvSpPr>
          <p:cNvPr id="18" name="AutoShape 18"/>
          <p:cNvSpPr/>
          <p:nvPr/>
        </p:nvSpPr>
        <p:spPr>
          <a:xfrm>
            <a:off x="8128000" y="1397000"/>
            <a:ext cx="3683000" cy="2413000"/>
          </a:xfrm>
          <a:prstGeom prst="roundRect">
            <a:avLst>
              <a:gd name="adj" fmla="val 0"/>
            </a:avLst>
          </a:prstGeom>
          <a:solidFill>
            <a:srgbClr val="FFFFFF">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8128000" y="1397000"/>
            <a:ext cx="76200" cy="2413000"/>
          </a:xfrm>
          <a:prstGeom prst="roundRect">
            <a:avLst>
              <a:gd name="adj" fmla="val 0"/>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8382000" y="1587500"/>
            <a:ext cx="508000" cy="508000"/>
          </a:xfrm>
          <a:prstGeom prst="ellipse">
            <a:avLst/>
          </a:prstGeom>
          <a:solidFill>
            <a:srgbClr val="F59E0B">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483600" y="1689100"/>
            <a:ext cx="304800" cy="304800"/>
          </a:xfrm>
          <a:prstGeom prst="rect">
            <a:avLst/>
          </a:prstGeom>
        </p:spPr>
      </p:pic>
      <p:sp>
        <p:nvSpPr>
          <p:cNvPr id="22" name="AutoShape 22"/>
          <p:cNvSpPr/>
          <p:nvPr/>
        </p:nvSpPr>
        <p:spPr>
          <a:xfrm>
            <a:off x="9144000" y="1651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E293B"/>
                </a:solidFill>
                <a:latin typeface="Noto Sans SC"/>
                <a:ea typeface="Noto Sans SC"/>
                <a:cs typeface="Noto Sans SC"/>
                <a:sym typeface="Noto Sans SC"/>
              </a:rPr>
              <a:t>城市深度画像</a:t>
            </a:r>
            <a:endParaRPr lang="en-US" sz="1100"/>
          </a:p>
        </p:txBody>
      </p:sp>
      <p:cxnSp>
        <p:nvCxnSpPr>
          <p:cNvPr id="23" name="Connector 23"/>
          <p:cNvCxnSpPr/>
          <p:nvPr/>
        </p:nvCxnSpPr>
        <p:spPr>
          <a:xfrm rot="-13750">
            <a:off x="8382013" y="2279650"/>
            <a:ext cx="3175000" cy="12700"/>
          </a:xfrm>
          <a:prstGeom prst="line">
            <a:avLst/>
          </a:prstGeom>
          <a:solidFill>
            <a:srgbClr val="DEE0E3">
              <a:alpha val="100000"/>
            </a:srgbClr>
          </a:solidFill>
          <a:ln w="12700" cap="flat" cmpd="sng">
            <a:solidFill>
              <a:srgbClr val="F1F5F9">
                <a:alpha val="100000"/>
              </a:srgbClr>
            </a:solidFill>
            <a:prstDash val="solid"/>
            <a:round/>
            <a:headEnd type="none" w="med" len="med"/>
            <a:tailEnd type="none" w="med" len="med"/>
          </a:ln>
        </p:spPr>
      </p:cxnSp>
      <p:sp>
        <p:nvSpPr>
          <p:cNvPr id="24" name="AutoShape 24"/>
          <p:cNvSpPr/>
          <p:nvPr/>
        </p:nvSpPr>
        <p:spPr>
          <a:xfrm>
            <a:off x="8382000" y="2413000"/>
            <a:ext cx="3238500" cy="1206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a:solidFill>
                  <a:srgbClr val="475569"/>
                </a:solidFill>
                <a:latin typeface="Noto Sans SC"/>
                <a:ea typeface="Noto Sans SC"/>
                <a:cs typeface="Noto Sans SC"/>
                <a:sym typeface="Noto Sans SC"/>
              </a:rPr>
              <a:t>通过雷达图可视化呈现城市经济、交通、环境等多维指标评分。结合柱状图与详情文本，构建立体化的城市评估模型，为决策提供数据支撑与科学依据。</a:t>
            </a:r>
            <a:endParaRPr lang="en-US" sz="1100"/>
          </a:p>
        </p:txBody>
      </p:sp>
      <p:sp>
        <p:nvSpPr>
          <p:cNvPr id="25" name="AutoShape 25"/>
          <p:cNvSpPr/>
          <p:nvPr/>
        </p:nvSpPr>
        <p:spPr>
          <a:xfrm>
            <a:off x="381000" y="4191000"/>
            <a:ext cx="5588000" cy="2222500"/>
          </a:xfrm>
          <a:prstGeom prst="roundRect">
            <a:avLst>
              <a:gd name="adj" fmla="val 0"/>
            </a:avLst>
          </a:prstGeom>
          <a:solidFill>
            <a:srgbClr val="FFFFFF">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381000" y="4191000"/>
            <a:ext cx="76200" cy="2222500"/>
          </a:xfrm>
          <a:prstGeom prst="roundRect">
            <a:avLst>
              <a:gd name="adj" fmla="val 0"/>
            </a:avLst>
          </a:prstGeom>
          <a:solidFill>
            <a:srgbClr val="8B5C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AutoShape 27"/>
          <p:cNvSpPr/>
          <p:nvPr/>
        </p:nvSpPr>
        <p:spPr>
          <a:xfrm>
            <a:off x="635000" y="4381500"/>
            <a:ext cx="508000" cy="508000"/>
          </a:xfrm>
          <a:prstGeom prst="ellipse">
            <a:avLst/>
          </a:prstGeom>
          <a:solidFill>
            <a:srgbClr val="8B5CF6">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8" name="Picture 2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36600" y="4483100"/>
            <a:ext cx="304800" cy="304800"/>
          </a:xfrm>
          <a:prstGeom prst="rect">
            <a:avLst/>
          </a:prstGeom>
        </p:spPr>
      </p:pic>
      <p:sp>
        <p:nvSpPr>
          <p:cNvPr id="29" name="AutoShape 29"/>
          <p:cNvSpPr/>
          <p:nvPr/>
        </p:nvSpPr>
        <p:spPr>
          <a:xfrm>
            <a:off x="1397000" y="44450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E293B"/>
                </a:solidFill>
                <a:latin typeface="Noto Sans SC"/>
                <a:ea typeface="Noto Sans SC"/>
                <a:cs typeface="Noto Sans SC"/>
                <a:sym typeface="Noto Sans SC"/>
              </a:rPr>
              <a:t>双模式智能推荐引擎</a:t>
            </a:r>
            <a:endParaRPr lang="en-US" sz="1100"/>
          </a:p>
        </p:txBody>
      </p:sp>
      <p:cxnSp>
        <p:nvCxnSpPr>
          <p:cNvPr id="30" name="Connector 30"/>
          <p:cNvCxnSpPr/>
          <p:nvPr/>
        </p:nvCxnSpPr>
        <p:spPr>
          <a:xfrm rot="-8594">
            <a:off x="635008" y="5073650"/>
            <a:ext cx="5080000" cy="12700"/>
          </a:xfrm>
          <a:prstGeom prst="line">
            <a:avLst/>
          </a:prstGeom>
          <a:solidFill>
            <a:srgbClr val="DEE0E3">
              <a:alpha val="100000"/>
            </a:srgbClr>
          </a:solidFill>
          <a:ln w="12700" cap="flat" cmpd="sng">
            <a:solidFill>
              <a:srgbClr val="F1F5F9">
                <a:alpha val="100000"/>
              </a:srgbClr>
            </a:solidFill>
            <a:prstDash val="solid"/>
            <a:round/>
            <a:headEnd type="none" w="med" len="med"/>
            <a:tailEnd type="none" w="med" len="med"/>
          </a:ln>
        </p:spPr>
      </p:cxnSp>
      <p:sp>
        <p:nvSpPr>
          <p:cNvPr id="31" name="AutoShape 31"/>
          <p:cNvSpPr/>
          <p:nvPr/>
        </p:nvSpPr>
        <p:spPr>
          <a:xfrm>
            <a:off x="635000" y="5207000"/>
            <a:ext cx="5016500" cy="10795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475569"/>
                </a:solidFill>
                <a:latin typeface="Noto Sans SC"/>
                <a:ea typeface="Noto Sans SC"/>
                <a:cs typeface="Noto Sans SC"/>
                <a:sym typeface="Noto Sans SC"/>
              </a:rPr>
              <a:t>界面融合“个性化推荐”与“场景化推荐”双模式。基于用户行为偏好生成专属内容流，同时支持“商务出行”、“休闲旅游”等场景一键切换，利用AI算法实时优化推荐结果，实现千人千面的交互体验。</a:t>
            </a:r>
            <a:endParaRPr lang="en-US" sz="1100"/>
          </a:p>
        </p:txBody>
      </p:sp>
      <p:sp>
        <p:nvSpPr>
          <p:cNvPr id="32" name="AutoShape 32"/>
          <p:cNvSpPr/>
          <p:nvPr/>
        </p:nvSpPr>
        <p:spPr>
          <a:xfrm>
            <a:off x="6223000" y="4191000"/>
            <a:ext cx="5588000" cy="2222500"/>
          </a:xfrm>
          <a:prstGeom prst="roundRect">
            <a:avLst>
              <a:gd name="adj" fmla="val 0"/>
            </a:avLst>
          </a:prstGeom>
          <a:solidFill>
            <a:srgbClr val="FFFFFF">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sp>
        <p:nvSpPr>
          <p:cNvPr id="33" name="AutoShape 33"/>
          <p:cNvSpPr/>
          <p:nvPr/>
        </p:nvSpPr>
        <p:spPr>
          <a:xfrm>
            <a:off x="6223000" y="4191000"/>
            <a:ext cx="76200" cy="2222500"/>
          </a:xfrm>
          <a:prstGeom prst="roundRect">
            <a:avLst>
              <a:gd name="adj" fmla="val 0"/>
            </a:avLst>
          </a:prstGeom>
          <a:solidFill>
            <a:srgbClr val="EC489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4" name="AutoShape 34"/>
          <p:cNvSpPr/>
          <p:nvPr/>
        </p:nvSpPr>
        <p:spPr>
          <a:xfrm>
            <a:off x="6477000" y="4381500"/>
            <a:ext cx="508000" cy="508000"/>
          </a:xfrm>
          <a:prstGeom prst="ellipse">
            <a:avLst/>
          </a:prstGeom>
          <a:solidFill>
            <a:srgbClr val="EC4899">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5" name="Picture 3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78600" y="4483100"/>
            <a:ext cx="304800" cy="304800"/>
          </a:xfrm>
          <a:prstGeom prst="rect">
            <a:avLst/>
          </a:prstGeom>
        </p:spPr>
      </p:pic>
      <p:sp>
        <p:nvSpPr>
          <p:cNvPr id="36" name="AutoShape 36"/>
          <p:cNvSpPr/>
          <p:nvPr/>
        </p:nvSpPr>
        <p:spPr>
          <a:xfrm>
            <a:off x="7239000" y="44450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E293B"/>
                </a:solidFill>
                <a:latin typeface="Noto Sans SC"/>
                <a:ea typeface="Noto Sans SC"/>
                <a:cs typeface="Noto Sans SC"/>
                <a:sym typeface="Noto Sans SC"/>
              </a:rPr>
              <a:t>动态轨迹路线规划</a:t>
            </a:r>
            <a:endParaRPr lang="en-US" sz="1100"/>
          </a:p>
        </p:txBody>
      </p:sp>
      <p:cxnSp>
        <p:nvCxnSpPr>
          <p:cNvPr id="37" name="Connector 37"/>
          <p:cNvCxnSpPr/>
          <p:nvPr/>
        </p:nvCxnSpPr>
        <p:spPr>
          <a:xfrm rot="-8594">
            <a:off x="6477008" y="5073650"/>
            <a:ext cx="5080000" cy="12700"/>
          </a:xfrm>
          <a:prstGeom prst="line">
            <a:avLst/>
          </a:prstGeom>
          <a:solidFill>
            <a:srgbClr val="DEE0E3">
              <a:alpha val="100000"/>
            </a:srgbClr>
          </a:solidFill>
          <a:ln w="12700" cap="flat" cmpd="sng">
            <a:solidFill>
              <a:srgbClr val="F1F5F9">
                <a:alpha val="100000"/>
              </a:srgbClr>
            </a:solidFill>
            <a:prstDash val="solid"/>
            <a:round/>
            <a:headEnd type="none" w="med" len="med"/>
            <a:tailEnd type="none" w="med" len="med"/>
          </a:ln>
        </p:spPr>
      </p:cxnSp>
      <p:sp>
        <p:nvSpPr>
          <p:cNvPr id="38" name="AutoShape 38"/>
          <p:cNvSpPr/>
          <p:nvPr/>
        </p:nvSpPr>
        <p:spPr>
          <a:xfrm>
            <a:off x="6477000" y="5207000"/>
            <a:ext cx="5016500" cy="10795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475569"/>
                </a:solidFill>
                <a:latin typeface="Noto Sans SC"/>
                <a:ea typeface="Noto Sans SC"/>
                <a:cs typeface="Noto Sans SC"/>
                <a:sym typeface="Noto Sans SC"/>
              </a:rPr>
              <a:t>以3D地球仪为载体，支持多点路径自动计算与动态轨迹绘制。界面集成实时路况、距离测算及时间预估功能，路线生成过程可视化展示，支持手动拖拽节点调整路径，为跨区域行程提供精准导航方案。</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F3F4F6">
                <a:alpha val="100000"/>
              </a:srgbClr>
            </a:gs>
            <a:gs pos="100000">
              <a:srgbClr val="E5E7EB">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508000" y="381000"/>
            <a:ext cx="11176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总结与展望</a:t>
            </a:r>
            <a:endParaRPr lang="en-US" sz="1100"/>
          </a:p>
        </p:txBody>
      </p:sp>
      <p:cxnSp>
        <p:nvCxnSpPr>
          <p:cNvPr id="3" name="Connector 3"/>
          <p:cNvCxnSpPr/>
          <p:nvPr/>
        </p:nvCxnSpPr>
        <p:spPr>
          <a:xfrm rot="-3906">
            <a:off x="508004" y="1136650"/>
            <a:ext cx="111760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4" name="AutoShape 4"/>
          <p:cNvSpPr/>
          <p:nvPr/>
        </p:nvSpPr>
        <p:spPr>
          <a:xfrm>
            <a:off x="508000" y="1524000"/>
            <a:ext cx="5524500" cy="3683000"/>
          </a:xfrm>
          <a:prstGeom prst="roundRect">
            <a:avLst>
              <a:gd name="adj" fmla="val 0"/>
            </a:avLst>
          </a:prstGeom>
          <a:solidFill>
            <a:srgbClr val="DBEAFE">
              <a:alpha val="40000"/>
            </a:srgbClr>
          </a:solidFill>
          <a:ln cap="flat" cmpd="sng">
            <a:solidFill>
              <a:srgbClr val="AEC5E5">
                <a:alpha val="4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508000" y="1524000"/>
            <a:ext cx="76200" cy="36830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1714500"/>
            <a:ext cx="495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E40AF"/>
                </a:solidFill>
                <a:latin typeface="Noto Sans SC"/>
                <a:ea typeface="Noto Sans SC"/>
                <a:cs typeface="Noto Sans SC"/>
                <a:sym typeface="Noto Sans SC"/>
              </a:rPr>
              <a:t>项目核心成果回顾</a:t>
            </a:r>
            <a:endParaRPr lang="en-US" sz="1100"/>
          </a:p>
        </p:txBody>
      </p:sp>
      <p:cxnSp>
        <p:nvCxnSpPr>
          <p:cNvPr id="7" name="Connector 7"/>
          <p:cNvCxnSpPr/>
          <p:nvPr/>
        </p:nvCxnSpPr>
        <p:spPr>
          <a:xfrm rot="-8703">
            <a:off x="762008" y="2279650"/>
            <a:ext cx="5016500" cy="12700"/>
          </a:xfrm>
          <a:prstGeom prst="straightConnector1">
            <a:avLst/>
          </a:prstGeom>
          <a:solidFill>
            <a:srgbClr val="DEE0E3">
              <a:alpha val="100000"/>
            </a:srgbClr>
          </a:solidFill>
          <a:ln w="12700" cap="flat" cmpd="sng">
            <a:solidFill>
              <a:srgbClr val="2563EB">
                <a:alpha val="20000"/>
              </a:srgbClr>
            </a:solidFill>
            <a:prstDash val="dash"/>
            <a:round/>
            <a:headEnd type="none" w="med" len="med"/>
            <a:tailEnd type="none" w="med" len="med"/>
          </a:ln>
        </p:spPr>
      </p:cxn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2000" y="2540000"/>
            <a:ext cx="406400" cy="406400"/>
          </a:xfrm>
          <a:prstGeom prst="rect">
            <a:avLst/>
          </a:prstGeom>
        </p:spPr>
      </p:pic>
      <p:sp>
        <p:nvSpPr>
          <p:cNvPr id="9" name="AutoShape 9"/>
          <p:cNvSpPr/>
          <p:nvPr/>
        </p:nvSpPr>
        <p:spPr>
          <a:xfrm>
            <a:off x="1333500" y="2514600"/>
            <a:ext cx="4445000" cy="76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500" b="1" i="0" u="none" strike="noStrike">
                <a:solidFill>
                  <a:srgbClr val="1F2937"/>
                </a:solidFill>
                <a:latin typeface="Noto Sans SC"/>
                <a:ea typeface="Noto Sans SC"/>
                <a:cs typeface="Noto Sans SC"/>
                <a:sym typeface="Noto Sans SC"/>
              </a:rPr>
              <a:t>全域系统构建完成</a:t>
            </a:r>
            <a:endParaRPr lang="en-US" sz="1100"/>
          </a:p>
          <a:p>
            <a:pPr indent="0" algn="l">
              <a:lnSpc>
                <a:spcPct val="108333"/>
              </a:lnSpc>
            </a:pPr>
            <a:r>
              <a:rPr lang="en-US" sz="1300" b="0" i="0" u="none" strike="noStrike">
                <a:solidFill>
                  <a:srgbClr val="4B5563"/>
                </a:solidFill>
                <a:latin typeface="Noto Sans SC"/>
                <a:ea typeface="Noto Sans SC"/>
                <a:cs typeface="Noto Sans SC"/>
                <a:sym typeface="Noto Sans SC"/>
              </a:rPr>
              <a:t>成功开发全球旅游城市数据可视化系统，集成五大核心功能模块，实现从数据采集到展示的全流程闭环，架构稳定可扩展。</a:t>
            </a:r>
          </a:p>
        </p:txBody>
      </p:sp>
      <p:cxnSp>
        <p:nvCxnSpPr>
          <p:cNvPr id="10" name="Connector 10"/>
          <p:cNvCxnSpPr/>
          <p:nvPr/>
        </p:nvCxnSpPr>
        <p:spPr>
          <a:xfrm rot="-8703">
            <a:off x="762008" y="3549650"/>
            <a:ext cx="5016500" cy="12700"/>
          </a:xfrm>
          <a:prstGeom prst="straightConnector1">
            <a:avLst/>
          </a:prstGeom>
          <a:solidFill>
            <a:srgbClr val="DEE0E3">
              <a:alpha val="100000"/>
            </a:srgbClr>
          </a:solidFill>
          <a:ln w="12700" cap="flat" cmpd="sng">
            <a:solidFill>
              <a:srgbClr val="2563EB">
                <a:alpha val="15000"/>
              </a:srgbClr>
            </a:solidFill>
            <a:prstDash val="solid"/>
            <a:round/>
            <a:headEnd type="none" w="med" len="med"/>
            <a:tailEnd type="none" w="med" len="med"/>
          </a:ln>
        </p:spPr>
      </p:cxn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3810000"/>
            <a:ext cx="406400" cy="406400"/>
          </a:xfrm>
          <a:prstGeom prst="rect">
            <a:avLst/>
          </a:prstGeom>
        </p:spPr>
      </p:pic>
      <p:sp>
        <p:nvSpPr>
          <p:cNvPr id="12" name="AutoShape 12"/>
          <p:cNvSpPr/>
          <p:nvPr/>
        </p:nvSpPr>
        <p:spPr>
          <a:xfrm>
            <a:off x="1333500" y="3784600"/>
            <a:ext cx="4445000" cy="1143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500" b="1" i="0" u="none" strike="noStrike">
                <a:solidFill>
                  <a:srgbClr val="1F2937"/>
                </a:solidFill>
                <a:latin typeface="Noto Sans SC"/>
                <a:ea typeface="Noto Sans SC"/>
                <a:cs typeface="Noto Sans SC"/>
                <a:sym typeface="Noto Sans SC"/>
              </a:rPr>
              <a:t>前沿技术赋能决策</a:t>
            </a:r>
            <a:endParaRPr lang="en-US" sz="1100"/>
          </a:p>
          <a:p>
            <a:pPr indent="0" algn="l">
              <a:lnSpc>
                <a:spcPct val="108333"/>
              </a:lnSpc>
            </a:pPr>
            <a:r>
              <a:rPr lang="en-US" sz="1300" b="0" i="0" u="none" strike="noStrike">
                <a:solidFill>
                  <a:srgbClr val="4B5563"/>
                </a:solidFill>
                <a:latin typeface="Noto Sans SC"/>
                <a:ea typeface="Noto Sans SC"/>
                <a:cs typeface="Noto Sans SC"/>
                <a:sym typeface="Noto Sans SC"/>
              </a:rPr>
              <a:t>落地3D地理可视化与大圆弧路线规划，结合混合推荐算法精准匹配用户偏好；界面交互流畅美观，为旅行者提供科学、直观的出行数据支持。</a:t>
            </a:r>
          </a:p>
        </p:txBody>
      </p:sp>
      <p:sp>
        <p:nvSpPr>
          <p:cNvPr id="13" name="AutoShape 13"/>
          <p:cNvSpPr/>
          <p:nvPr/>
        </p:nvSpPr>
        <p:spPr>
          <a:xfrm>
            <a:off x="6286500" y="1524000"/>
            <a:ext cx="5524500" cy="3683000"/>
          </a:xfrm>
          <a:prstGeom prst="roundRect">
            <a:avLst>
              <a:gd name="adj" fmla="val 0"/>
            </a:avLst>
          </a:prstGeom>
          <a:solidFill>
            <a:srgbClr val="D1FAE5">
              <a:alpha val="40000"/>
            </a:srgbClr>
          </a:solidFill>
          <a:ln cap="flat" cmpd="sng">
            <a:solidFill>
              <a:srgbClr val="A5E1C2">
                <a:alpha val="4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286500" y="1524000"/>
            <a:ext cx="76200" cy="36830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6540500" y="1714500"/>
            <a:ext cx="495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65F46"/>
                </a:solidFill>
                <a:latin typeface="Noto Sans SC"/>
                <a:ea typeface="Noto Sans SC"/>
                <a:cs typeface="Noto Sans SC"/>
                <a:sym typeface="Noto Sans SC"/>
              </a:rPr>
              <a:t>未来功能演进规划</a:t>
            </a:r>
            <a:endParaRPr lang="en-US" sz="1100"/>
          </a:p>
        </p:txBody>
      </p:sp>
      <p:cxnSp>
        <p:nvCxnSpPr>
          <p:cNvPr id="16" name="Connector 16"/>
          <p:cNvCxnSpPr/>
          <p:nvPr/>
        </p:nvCxnSpPr>
        <p:spPr>
          <a:xfrm rot="-8703">
            <a:off x="6540508" y="2279650"/>
            <a:ext cx="5016500" cy="12700"/>
          </a:xfrm>
          <a:prstGeom prst="straightConnector1">
            <a:avLst/>
          </a:prstGeom>
          <a:solidFill>
            <a:srgbClr val="DEE0E3">
              <a:alpha val="100000"/>
            </a:srgbClr>
          </a:solidFill>
          <a:ln w="12700" cap="flat" cmpd="sng">
            <a:solidFill>
              <a:srgbClr val="10B981">
                <a:alpha val="20000"/>
              </a:srgbClr>
            </a:solidFill>
            <a:prstDash val="dash"/>
            <a:round/>
            <a:headEnd type="none" w="med" len="med"/>
            <a:tailEnd type="none" w="med" len="med"/>
          </a:ln>
        </p:spPr>
      </p:cxn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40500" y="2540000"/>
            <a:ext cx="406400" cy="406400"/>
          </a:xfrm>
          <a:prstGeom prst="rect">
            <a:avLst/>
          </a:prstGeom>
        </p:spPr>
      </p:pic>
      <p:sp>
        <p:nvSpPr>
          <p:cNvPr id="18" name="AutoShape 18"/>
          <p:cNvSpPr/>
          <p:nvPr/>
        </p:nvSpPr>
        <p:spPr>
          <a:xfrm>
            <a:off x="7112000" y="2514600"/>
            <a:ext cx="4445000" cy="76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500" b="1" i="0" u="none" strike="noStrike">
                <a:solidFill>
                  <a:srgbClr val="1F2937"/>
                </a:solidFill>
                <a:latin typeface="Noto Sans SC"/>
                <a:ea typeface="Noto Sans SC"/>
                <a:cs typeface="Noto Sans SC"/>
                <a:sym typeface="Noto Sans SC"/>
              </a:rPr>
              <a:t>完善用户交互体系</a:t>
            </a:r>
            <a:endParaRPr lang="en-US" sz="1100"/>
          </a:p>
          <a:p>
            <a:pPr indent="0" algn="l">
              <a:lnSpc>
                <a:spcPct val="108333"/>
              </a:lnSpc>
            </a:pPr>
            <a:r>
              <a:rPr lang="en-US" sz="1300" b="0" i="0" u="none" strike="noStrike">
                <a:solidFill>
                  <a:srgbClr val="4B5563"/>
                </a:solidFill>
                <a:latin typeface="Noto Sans SC"/>
                <a:ea typeface="Noto Sans SC"/>
                <a:cs typeface="Noto Sans SC"/>
                <a:sym typeface="Noto Sans SC"/>
              </a:rPr>
              <a:t>上线用户登录、注册及行程收藏功能，建立个人中心，沉淀用户行为数据，打造个性化的旅行助手体验。</a:t>
            </a:r>
          </a:p>
        </p:txBody>
      </p:sp>
      <p:cxnSp>
        <p:nvCxnSpPr>
          <p:cNvPr id="19" name="Connector 19"/>
          <p:cNvCxnSpPr/>
          <p:nvPr/>
        </p:nvCxnSpPr>
        <p:spPr>
          <a:xfrm rot="-8703">
            <a:off x="6540508" y="3549650"/>
            <a:ext cx="5016500" cy="12700"/>
          </a:xfrm>
          <a:prstGeom prst="straightConnector1">
            <a:avLst/>
          </a:prstGeom>
          <a:solidFill>
            <a:srgbClr val="DEE0E3">
              <a:alpha val="100000"/>
            </a:srgbClr>
          </a:solidFill>
          <a:ln w="12700" cap="flat" cmpd="sng">
            <a:solidFill>
              <a:srgbClr val="10B981">
                <a:alpha val="15000"/>
              </a:srgbClr>
            </a:solidFill>
            <a:prstDash val="solid"/>
            <a:round/>
            <a:headEnd type="none" w="med" len="med"/>
            <a:tailEnd type="none" w="med" len="med"/>
          </a:ln>
        </p:spPr>
      </p:cxn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40500" y="3810000"/>
            <a:ext cx="406400" cy="406400"/>
          </a:xfrm>
          <a:prstGeom prst="rect">
            <a:avLst/>
          </a:prstGeom>
        </p:spPr>
      </p:pic>
      <p:sp>
        <p:nvSpPr>
          <p:cNvPr id="21" name="AutoShape 21"/>
          <p:cNvSpPr/>
          <p:nvPr/>
        </p:nvSpPr>
        <p:spPr>
          <a:xfrm>
            <a:off x="7112000" y="3784600"/>
            <a:ext cx="4445000" cy="1143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500" b="1" i="0" u="none" strike="noStrike">
                <a:solidFill>
                  <a:srgbClr val="1F2937"/>
                </a:solidFill>
                <a:latin typeface="Noto Sans SC"/>
                <a:ea typeface="Noto Sans SC"/>
                <a:cs typeface="Noto Sans SC"/>
                <a:sym typeface="Noto Sans SC"/>
              </a:rPr>
              <a:t>数据生态与智能升级</a:t>
            </a:r>
            <a:endParaRPr lang="en-US" sz="1100"/>
          </a:p>
          <a:p>
            <a:pPr indent="0" algn="l">
              <a:lnSpc>
                <a:spcPct val="108333"/>
              </a:lnSpc>
            </a:pPr>
            <a:r>
              <a:rPr lang="en-US" sz="1300" b="0" i="0" u="none" strike="noStrike">
                <a:solidFill>
                  <a:srgbClr val="4B5563"/>
                </a:solidFill>
                <a:latin typeface="Noto Sans SC"/>
                <a:ea typeface="Noto Sans SC"/>
                <a:cs typeface="Noto Sans SC"/>
                <a:sym typeface="Noto Sans SC"/>
              </a:rPr>
              <a:t>接入实时天气、机票酒店等动态数据；引入深度学习模型优化推荐算法，增加社交分享功能，构建“查-选-订-享”的完整旅行闭环。</a:t>
            </a:r>
          </a:p>
        </p:txBody>
      </p:sp>
      <p:sp>
        <p:nvSpPr>
          <p:cNvPr id="22" name="AutoShape 22"/>
          <p:cNvSpPr/>
          <p:nvPr/>
        </p:nvSpPr>
        <p:spPr>
          <a:xfrm>
            <a:off x="508000" y="5715000"/>
            <a:ext cx="11176000" cy="762000"/>
          </a:xfrm>
          <a:prstGeom prst="roundRect">
            <a:avLst>
              <a:gd name="adj" fmla="val 0"/>
            </a:avLst>
          </a:prstGeom>
          <a:solidFill>
            <a:srgbClr val="FFFFFF">
              <a:alpha val="6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62000" y="5892800"/>
            <a:ext cx="406400" cy="406400"/>
          </a:xfrm>
          <a:prstGeom prst="rect">
            <a:avLst/>
          </a:prstGeom>
        </p:spPr>
      </p:pic>
      <p:sp>
        <p:nvSpPr>
          <p:cNvPr id="24" name="AutoShape 24"/>
          <p:cNvSpPr/>
          <p:nvPr/>
        </p:nvSpPr>
        <p:spPr>
          <a:xfrm>
            <a:off x="1397000" y="5842000"/>
            <a:ext cx="889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谢谢聆听！ 期待与您探索更多旅行数据的无限可能</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2490</Words>
  <Application>Microsoft Office PowerPoint</Application>
  <PresentationFormat>宽屏</PresentationFormat>
  <Paragraphs>345</Paragraphs>
  <Slides>17</Slides>
  <Notes>17</Notes>
  <HiddenSlides>0</HiddenSlides>
  <MMClips>0</MMClips>
  <ScaleCrop>false</ScaleCrop>
  <HeadingPairs>
    <vt:vector size="6" baseType="variant">
      <vt:variant>
        <vt:lpstr>已用的字体</vt:lpstr>
      </vt:variant>
      <vt:variant>
        <vt:i4>3</vt:i4>
      </vt:variant>
      <vt:variant>
        <vt:lpstr>主题</vt:lpstr>
      </vt:variant>
      <vt:variant>
        <vt:i4>2</vt:i4>
      </vt:variant>
      <vt:variant>
        <vt:lpstr>幻灯片标题</vt:lpstr>
      </vt:variant>
      <vt:variant>
        <vt:i4>17</vt:i4>
      </vt:variant>
    </vt:vector>
  </HeadingPairs>
  <TitlesOfParts>
    <vt:vector size="22" baseType="lpstr">
      <vt:lpstr>Noto Sans SC</vt:lpstr>
      <vt:lpstr>Arial</vt:lpstr>
      <vt:lpstr>Consolas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金东 兰</cp:lastModifiedBy>
  <cp:revision>1</cp:revision>
  <dcterms:modified xsi:type="dcterms:W3CDTF">2026-06-14T06:44:30Z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{"Label":"1","ContentProducer":"001191110102MACQD9K64010000","ProduceID":"7651137985576242157","ReservedCode1":"","ContentPropagator":"","PropagateID":"","ReservedCode2":""}</vt:lpwstr>
  </property>
</Properties>
</file>